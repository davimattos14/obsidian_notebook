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P(Perda) da Carteira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P(perda)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ρ=0</c:v>
                  </c:pt>
                  <c:pt idx="1">
                    <c:v>ρ=0.25</c:v>
                  </c:pt>
                  <c:pt idx="2">
                    <c:v>ρ=0.50</c:v>
                  </c:pt>
                  <c:pt idx="3">
                    <c:v>ρ=0.75</c:v>
                  </c:pt>
                  <c:pt idx="4">
                    <c:v>ρ=0.90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9.06</c:v>
                </c:pt>
                <c:pt idx="2">
                  <c:v>14.99</c:v>
                </c:pt>
                <c:pt idx="3">
                  <c:v>18.93</c:v>
                </c:pt>
                <c:pt idx="4">
                  <c:v>20.84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σ da Carteira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 Carteira ($M)</c:v>
                </c:pt>
              </c:strCache>
            </c:strRef>
          </c:tx>
          <c:spPr>
            <a:solidFill>
              <a:srgbClr val="0288D1"/>
            </a:solidFill>
            <a:ln w="38100" cap="flat">
              <a:solidFill>
                <a:srgbClr val="0288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1579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8D1"/>
              </a:solidFill>
              <a:ln w="9525" cap="flat">
                <a:solidFill>
                  <a:srgbClr val="0288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ρ=0</c:v>
                  </c:pt>
                  <c:pt idx="1">
                    <c:v>ρ=0.25</c:v>
                  </c:pt>
                  <c:pt idx="2">
                    <c:v>ρ=0.50</c:v>
                  </c:pt>
                  <c:pt idx="3">
                    <c:v>ρ=0.75</c:v>
                  </c:pt>
                  <c:pt idx="4">
                    <c:v>ρ=0.90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4.11</c:v>
                </c:pt>
                <c:pt idx="1">
                  <c:v>7.43</c:v>
                </c:pt>
                <c:pt idx="2">
                  <c:v>9.65</c:v>
                </c:pt>
                <c:pt idx="3">
                  <c:v>11.42</c:v>
                </c:pt>
                <c:pt idx="4">
                  <c:v>12.36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1579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dia/tarde. Meu nome é Davi, e vou apresentar a resolução da Lista 5 junto com Bruna. Temos 5 minutos, então vamos direto ao ponto: modelagem, simulação e o que os resultados nos dizem sobre diversificação de carteira.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ativo tem retorno distribuído normalmente com média $1M e desvio de $1.3M. Para 1 ativo: P(perda) = pnorm(0, 1, 1.3) ≈ 22%. Para a carteira somamos 10 ativos correlacionados. A variância cresce com ρ via V[Z] = n·σ²·(1+(n-1)·ρ). Usamos mvrnorm para gerar amostras com a matriz de correlação e repetimos para ρ = 0, 0.25, 0.5, 0.75 e 0.9.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estão os dois resultados centrais. À esquerda: P(perda) da carteira por nível de correlação. Com ρ=0, cai de 22% para 0.78%. Com ρ=0.9, voltamos a 20.84% — quase o mesmo do ativo individual. À direita: σ da carteira cresce monotonicamente com ρ, saindo de 4.11 (ρ=0) até 12.36 (ρ=0.9). A linha tracejada marca os 22.09% do ativo isolado como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pontos para fechar. Primeiro: a diversificação é real quando ρ ≈ 0 — o risco cai dramaticamente. Segundo: a eficácia decai rápido com a correlação; acima de 0.5 já perdemos boa parte do benefício. Terceiro, e mais importante: a crise de 2008 ilustra exatamente isso. Os CDOs foram precificados assumindo ρ baixo. Quando a bolha estourou, todos os imóveis caíram juntos — ρ subiu para 1 e a 'diversificação' evaporou. O modelo de simulação que fizemos reproduz esse fenômeno quantitativamente.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resumir: a resposta à pergunta do enunciado é — depende. A diversificação funciona, mas só enquanto os ativos são de fato independentes. Correlação alta anula o benefício e esse é exatamente o mecanismo que amplificou a crise de 2008.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5 — Análise de Risco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de Carteira e Correlação de Ativos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00400" cy="0"/>
          </a:xfrm>
          <a:prstGeom prst="line">
            <a:avLst/>
          </a:prstGeom>
          <a:noFill/>
          <a:ln w="254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dos Santos Mattos – 119133049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Bruna Irena da Silva – 119062418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6 · ICP 103 – Análise de Risco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0288D1">
              <a:alpha val="40000"/>
            </a:srgbClr>
          </a:solidFill>
          <a:ln w="12700">
            <a:solidFill>
              <a:srgbClr val="0288D1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Modelagem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397764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0288D1">
              <a:alpha val="40000"/>
            </a:srgbClr>
          </a:solidFill>
          <a:ln w="12700">
            <a:solidFill>
              <a:srgbClr val="0288D1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Simulação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2080" y="397764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0288D1">
              <a:alpha val="40000"/>
            </a:srgbClr>
          </a:solidFill>
          <a:ln w="12700">
            <a:solidFill>
              <a:srgbClr val="0288D1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977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Interpretação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Modelagem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103 – Lista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Individual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~  Normal(μ, σ²)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=  $1 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=  $1,3 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P(perda) = P(X &lt; 0)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Φ( (0−1) / 1,3 )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22,09%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(10 ativos)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 =  X₁ + X₂ + … + X₁₀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μ_Z  =  10 × $1M  =  $10M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σ²_Z  =  n·σ²·(1 + (n−1)·ρ)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Monte Carlo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mvrnorm() · 100.000 amostras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Resultados da Simulação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103 – Lista 5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1874520"/>
            <a:ext cx="502920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22860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22,09% — ativo individual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097280"/>
          <a:ext cx="3566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Interpretação dos Resultados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103 – Lista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23444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funciona…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ρ = 0, P(perda) cai de 22% → 0,78%. O Teorema 2 garante: V[Z] = n·σ² quando os ativos são independentes — a soma diluí o risco.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234440"/>
            <a:ext cx="685800" cy="6858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…mas depende de 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ρ = 0,9, P(perda) = 20,84% ≈ ativo individual. A covariância domina: V[Z] = n·σ²·(1+(n−1)·ρ) cresce rapidamente com ρ.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1234440"/>
            <a:ext cx="685800" cy="6858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de 2008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56032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CDOs assumiam ρ ≈ 0. Com a bolha imobiliária, ρ → 1 de repente. A diversificação desapareceu exatamente quando mais era necessária.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6949440" cy="2743200"/>
          </a:xfrm>
          <a:prstGeom prst="roundRect">
            <a:avLst>
              <a:gd name="adj" fmla="val 3333"/>
            </a:avLst>
          </a:prstGeom>
          <a:solidFill>
            <a:srgbClr val="112244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0160" y="1005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reduz risco </a:t>
            </a:r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quando ρ é baixo.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correlação entre ativos é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fator determinante </a:t>
            </a:r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não o número de ativos.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ignoram ρ </a:t>
            </a:r>
            <a:pPr algn="ctr" indent="0" marL="0">
              <a:buNone/>
            </a:pPr>
            <a:r>
              <a:rPr lang="en-US" sz="14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subestimam o risco sistêmico.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6 · ICP 103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Lista 5 – Análise de Risco de Carteira</dc:title>
  <dc:subject>PptxGenJS Presentation</dc:subject>
  <dc:creator>PptxGenJS</dc:creator>
  <cp:lastModifiedBy>PptxGenJS</cp:lastModifiedBy>
  <cp:revision>1</cp:revision>
  <dcterms:created xsi:type="dcterms:W3CDTF">2026-06-09T01:07:30Z</dcterms:created>
  <dcterms:modified xsi:type="dcterms:W3CDTF">2026-06-09T01:07:30Z</dcterms:modified>
</cp:coreProperties>
</file>
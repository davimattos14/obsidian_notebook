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259" r:id="rId4"/>
    <p:sldId id="258" r:id="rId5"/>
    <p:sldId id="321" r:id="rId6"/>
    <p:sldId id="360" r:id="rId7"/>
    <p:sldId id="359" r:id="rId8"/>
    <p:sldId id="392" r:id="rId9"/>
    <p:sldId id="396" r:id="rId10"/>
    <p:sldId id="362" r:id="rId11"/>
    <p:sldId id="393" r:id="rId12"/>
    <p:sldId id="430" r:id="rId13"/>
    <p:sldId id="397" r:id="rId14"/>
    <p:sldId id="391" r:id="rId15"/>
    <p:sldId id="429" r:id="rId16"/>
    <p:sldId id="394" r:id="rId17"/>
    <p:sldId id="398" r:id="rId18"/>
    <p:sldId id="399" r:id="rId19"/>
    <p:sldId id="400" r:id="rId20"/>
    <p:sldId id="401" r:id="rId21"/>
    <p:sldId id="402" r:id="rId22"/>
    <p:sldId id="403" r:id="rId23"/>
    <p:sldId id="404" r:id="rId24"/>
    <p:sldId id="413" r:id="rId25"/>
    <p:sldId id="417" r:id="rId26"/>
    <p:sldId id="418" r:id="rId27"/>
    <p:sldId id="407" r:id="rId28"/>
    <p:sldId id="408" r:id="rId29"/>
    <p:sldId id="409" r:id="rId30"/>
    <p:sldId id="415" r:id="rId31"/>
    <p:sldId id="426" r:id="rId32"/>
    <p:sldId id="414" r:id="rId33"/>
    <p:sldId id="416" r:id="rId34"/>
    <p:sldId id="421" r:id="rId35"/>
    <p:sldId id="420" r:id="rId36"/>
    <p:sldId id="406" r:id="rId37"/>
    <p:sldId id="423" r:id="rId38"/>
    <p:sldId id="422" r:id="rId39"/>
    <p:sldId id="424" r:id="rId40"/>
    <p:sldId id="427" r:id="rId41"/>
    <p:sldId id="411" r:id="rId42"/>
    <p:sldId id="419" r:id="rId43"/>
    <p:sldId id="261" r:id="rId44"/>
    <p:sldId id="260" r:id="rId45"/>
    <p:sldId id="405" r:id="rId46"/>
    <p:sldId id="431" r:id="rId47"/>
    <p:sldId id="432" r:id="rId48"/>
    <p:sldId id="433" r:id="rId49"/>
    <p:sldId id="435" r:id="rId50"/>
    <p:sldId id="436" r:id="rId51"/>
    <p:sldId id="437" r:id="rId52"/>
    <p:sldId id="438" r:id="rId53"/>
    <p:sldId id="353" r:id="rId5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F4EA"/>
    <a:srgbClr val="75C7EC"/>
    <a:srgbClr val="FF9400"/>
    <a:srgbClr val="76D5FF"/>
    <a:srgbClr val="92D050"/>
    <a:srgbClr val="00B0F0"/>
    <a:srgbClr val="FFE0CC"/>
    <a:srgbClr val="E4FFB5"/>
    <a:srgbClr val="772F28"/>
    <a:srgbClr val="287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464" autoAdjust="0"/>
  </p:normalViewPr>
  <p:slideViewPr>
    <p:cSldViewPr snapToGrid="0">
      <p:cViewPr varScale="1">
        <p:scale>
          <a:sx n="100" d="100"/>
          <a:sy n="100" d="100"/>
        </p:scale>
        <p:origin x="91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3F80AD-FBB5-4030-BA19-27B9114893D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12FD97-4619-4197-949F-92F4869CCF5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789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CURSO SPARQL UFES </a:t>
            </a:r>
            <a:r>
              <a:rPr lang="pt-BR" dirty="0">
                <a:sym typeface="Wingdings" panose="05000000000000000000" pitchFamily="2" charset="2"/>
              </a:rPr>
              <a:t> https://www.youtube.com/watch?v=sRdE_pO-mRM</a:t>
            </a:r>
            <a:endParaRPr lang="pt-BR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i="0" dirty="0" err="1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Linked</a:t>
            </a:r>
            <a:r>
              <a:rPr lang="pt-BR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 Data - Introdução e princípios de dados interligados -- https://www.youtube.com/watch?v=VURxCgrIVTs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b="1" i="0" dirty="0">
              <a:solidFill>
                <a:srgbClr val="0F0F0F"/>
              </a:solidFill>
              <a:effectLst/>
              <a:latin typeface="Roboto" panose="02000000000000000000" pitchFamily="2" charset="0"/>
            </a:endParaRPr>
          </a:p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12FD97-4619-4197-949F-92F4869CCF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247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12FD97-4619-4197-949F-92F4869CCF5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680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arquitetura é apenas conceitual. Isto significa que os componentes do sistema são identificados, a função de cada componente é especificada e são definidas as inter-relações e interações entre esses componentes.  Em geral a especificação da arquitetura de um SGBD  requer a identificação dos vários módulos, com suas interfaces e inter-relacionamentos, em termos de dados e controle fluir através do sistema.</a:t>
            </a:r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12FD97-4619-4197-949F-92F4869CCF5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092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Uma árvore T é uma estrutura de dados de árvore de índice balanceada otimizada para casos em que tanto o índice quanto os dados reais são totalmente mantidos na memória, assim como uma árvore B é uma estrutura de índice otimizada para armazenamento em dispositivos de armazenamento secundário orientados a blocos, como discos rígidos. . As árvores T buscam obter os benefícios de desempenho das estruturas de árvore na memória, como as árvores AVL, evitando a grande sobrecarga de espaço de armazenamento que é comum a elas.</a:t>
            </a:r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12FD97-4619-4197-949F-92F4869CCF5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391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43B9CA-D88B-B050-A1C5-BB9A2F9A50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F4C6E5-574B-A5D2-A919-B64A7E7A12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4A8B00-42ED-6E10-E259-E84DACFAF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68D87-05C8-4F8B-A348-FC0B5309DE5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BEF6E2-1503-A94F-0965-5A0CD9F30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2098E3-B901-12A0-973D-D3E4162E0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F844-346A-431A-B6D5-5004120140E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540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CD360-1DF1-C99C-1EEF-0FD68E30B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A4EAF4-CF54-9AAF-FCD7-BBF89CEA5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80AE95-20CC-D01C-07F5-CA6F3AD80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68D87-05C8-4F8B-A348-FC0B5309DE5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256D68-BA88-11B2-196E-3970561FD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DF5D88-081E-2CE8-2CDC-6BF75266C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F844-346A-431A-B6D5-5004120140E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590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C2306E-F544-E47B-36D0-9FFE8AFEB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8E8167A-BF77-3E01-7411-D9DCC4F61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654DE0-DFE9-6F7E-4EC9-43893E66D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68D87-05C8-4F8B-A348-FC0B5309DE5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8EFA87-A371-61BA-3632-293785974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773AF2-FDC6-7971-279E-2B4D78603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F844-346A-431A-B6D5-5004120140E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11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56C2A3-AC31-02D8-C3CB-3340DD2E7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79738B-5676-44F1-5868-729921340F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33A80B7-5EB8-468F-36AB-EE072BEEF1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AA6F3A-D84B-BB8A-2A25-AE05739CE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68D87-05C8-4F8B-A348-FC0B5309DE5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082C3CF-E6DF-664F-10CE-12A60B753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FE1640-E065-219A-D48E-D3EA611C2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F844-346A-431A-B6D5-5004120140E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265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4CC869-4C10-3C04-A37F-C6AE1DCCC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1D63B1-D34B-1E26-D730-BF203FC18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8AC753F-1A41-7E40-E688-BD67FCE46C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39C765B-E6F1-F477-7AB5-6D69AC877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201AC8E-0FE5-90E9-A1F8-4D4DE03AC6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ECBEAFD-DF7C-1469-CF54-54C148E2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68D87-05C8-4F8B-A348-FC0B5309DE5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F888586-4C00-E54F-7240-15CE0DE91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4C41696-5601-F2F4-3CF6-A3D005406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F844-346A-431A-B6D5-5004120140E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894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2CF5D-206F-89F9-F9FE-D37AAC548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CA0F945-2463-7E9D-78F9-8A49E8808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68D87-05C8-4F8B-A348-FC0B5309DE5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8C64C17-CA7F-8216-9004-E7041FD8F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71ADC16-716D-2A9F-399A-C67BA65CC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F844-346A-431A-B6D5-5004120140E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11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023F60D-01E8-1960-B4A3-F78FB7066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68D87-05C8-4F8B-A348-FC0B5309DE5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0E82F3E-5249-43C3-62C6-FDB5F54F8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1DEBA6F-3D76-1F7F-909D-054B6A84A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F844-346A-431A-B6D5-5004120140E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050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11933A-7459-0730-CF7F-E2676149B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8BCBCA-6DD0-EDB8-F335-D0E4DAE3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37EDAAA-F63F-8B31-0EAE-BAE8B8A108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2BDC0C1-282F-F117-F497-081125C24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68D87-05C8-4F8B-A348-FC0B5309DE5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E464D91-2E6D-7904-4098-02C047A1B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8201A8F-6D46-7DB1-99DF-B6D1E11EA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F844-346A-431A-B6D5-5004120140E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594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28C1DC-91A4-01E0-32EF-22BB071A1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C2CA93B-C929-0FC0-EAF0-657C2F462C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699DE16-0154-62E3-ED19-5A80787758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D6EC6E-AD09-5094-8AB7-09B00E003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68D87-05C8-4F8B-A348-FC0B5309DE5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5EF695-DBCA-69B5-4507-92D42BBDF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AF8B1D-1569-595B-8764-20539DBC2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F844-346A-431A-B6D5-5004120140E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776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42F39B-A745-8E53-E85E-F6EBE19AD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7F331BC-0566-3F12-D46E-9CC4B5CB9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D21679-940C-2106-7DDE-1EEDE8F74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68D87-05C8-4F8B-A348-FC0B5309DE5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DF8C21-82C2-48F9-95E7-0815023CD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416CD1-ED7C-8D6C-AFCD-BB7BD884C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F844-346A-431A-B6D5-5004120140E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850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AF7FA98-DC8B-4786-D9F3-3C2B6B4959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331FC9F-93DA-A03D-5DD5-2E35715E30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1E25F5-4A6C-C467-D12E-41E507B9E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68D87-05C8-4F8B-A348-FC0B5309DE5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043B1B-1166-AFBA-457B-D5266D2D1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9D3D18-CB2F-E177-5C5B-6A5687382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F844-346A-431A-B6D5-5004120140E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460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9FEBC70-2E4C-54C1-B8A8-7434AED13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F40481-32E9-26C4-CE25-E97F9A438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E03039-5D74-E061-71C1-942D5A0598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68D87-05C8-4F8B-A348-FC0B5309DE5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A0EEEF-77DE-5C61-F2F7-0F40238AB3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466A0A-F3A7-8AE8-3D45-CEE2F77C67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6F844-346A-431A-B6D5-5004120140E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774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B124D-3B68-3B78-E35A-72C0FD194E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Bancos de dados </a:t>
            </a:r>
            <a:r>
              <a:rPr lang="pt-BR" b="1" dirty="0" err="1"/>
              <a:t>NewSQL</a:t>
            </a:r>
            <a:r>
              <a:rPr lang="pt-BR" b="1" dirty="0"/>
              <a:t> e em Memória</a:t>
            </a:r>
            <a:endParaRPr lang="en-US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D13E9AD-A584-14F6-EAF6-6E079656B7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Prof. Sergio Serra</a:t>
            </a:r>
          </a:p>
          <a:p>
            <a:r>
              <a:rPr lang="en-US" dirty="0"/>
              <a:t>serra@ppgi.ufrj.br</a:t>
            </a:r>
          </a:p>
          <a:p>
            <a:r>
              <a:rPr lang="en-US" dirty="0"/>
              <a:t>https://github.com/SergioMSerra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CBA3D8AA-B85F-44FD-BC8B-583EB2800CFA}"/>
              </a:ext>
            </a:extLst>
          </p:cNvPr>
          <p:cNvSpPr txBox="1">
            <a:spLocks/>
          </p:cNvSpPr>
          <p:nvPr/>
        </p:nvSpPr>
        <p:spPr>
          <a:xfrm>
            <a:off x="1401192" y="5507407"/>
            <a:ext cx="9144000" cy="456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BD II – 2026/1</a:t>
            </a:r>
          </a:p>
        </p:txBody>
      </p:sp>
    </p:spTree>
    <p:extLst>
      <p:ext uri="{BB962C8B-B14F-4D97-AF65-F5344CB8AC3E}">
        <p14:creationId xmlns:p14="http://schemas.microsoft.com/office/powerpoint/2010/main" val="3300906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3485B-12BD-62B3-6C6A-B72AD64AD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Objetivos</a:t>
            </a:r>
            <a:r>
              <a:rPr lang="en-US" b="1" dirty="0"/>
              <a:t> da aula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625219-EAB1-B863-F963-28B35D873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Apresentar os principais conceitos de Bancos de Dados </a:t>
            </a:r>
            <a:r>
              <a:rPr lang="pt-BR" dirty="0" err="1"/>
              <a:t>NewSQL</a:t>
            </a:r>
            <a:r>
              <a:rPr lang="pt-BR" dirty="0"/>
              <a:t> e </a:t>
            </a:r>
            <a:r>
              <a:rPr lang="pt-BR" i="1" dirty="0"/>
              <a:t>in </a:t>
            </a:r>
            <a:r>
              <a:rPr lang="pt-BR" i="1" dirty="0" err="1"/>
              <a:t>Memory</a:t>
            </a:r>
            <a:r>
              <a:rPr lang="pt-BR" dirty="0"/>
              <a:t> e conectar com exemplos práticos da implementação nas organizações.</a:t>
            </a:r>
          </a:p>
          <a:p>
            <a:pPr marL="514350" indent="-514350">
              <a:buFont typeface="+mj-lt"/>
              <a:buAutoNum type="arabicPeriod"/>
            </a:pP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Discutir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principais</a:t>
            </a:r>
            <a:r>
              <a:rPr lang="en-US" dirty="0"/>
              <a:t> </a:t>
            </a:r>
            <a:r>
              <a:rPr lang="en-US" dirty="0" err="1"/>
              <a:t>aspectos</a:t>
            </a:r>
            <a:r>
              <a:rPr lang="en-US" dirty="0"/>
              <a:t> dos </a:t>
            </a:r>
            <a:r>
              <a:rPr lang="pt-BR" dirty="0"/>
              <a:t>modelos e arquiteturas de Big Data na ótica da Engenharia de Dados.</a:t>
            </a:r>
          </a:p>
          <a:p>
            <a:pPr marL="514350" indent="-514350">
              <a:buFont typeface="+mj-lt"/>
              <a:buAutoNum type="arabicPeriod"/>
            </a:pP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Apresentar exemplos e casos de uso no cenário brasileiro</a:t>
            </a:r>
          </a:p>
          <a:p>
            <a:pPr marL="514350" indent="-514350">
              <a:buFont typeface="+mj-lt"/>
              <a:buAutoNum type="arabicPeriod"/>
            </a:pP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759E2FD-EA02-FC22-D4AC-4E77ECC18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8351" y="6216611"/>
            <a:ext cx="1590897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852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F77E52-8A1A-8400-394E-DFBFDAFFF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Referências</a:t>
            </a:r>
            <a:r>
              <a:rPr lang="en-US" b="1" dirty="0"/>
              <a:t> </a:t>
            </a:r>
            <a:r>
              <a:rPr lang="en-US" b="1" dirty="0" err="1"/>
              <a:t>Bibliográficas</a:t>
            </a:r>
            <a:r>
              <a:rPr lang="en-US" b="1" dirty="0"/>
              <a:t> da Aula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8277C5D-45B4-0946-0F03-C34B6881CD34}"/>
              </a:ext>
            </a:extLst>
          </p:cNvPr>
          <p:cNvSpPr txBox="1"/>
          <p:nvPr/>
        </p:nvSpPr>
        <p:spPr>
          <a:xfrm>
            <a:off x="979621" y="1619820"/>
            <a:ext cx="17944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/>
              <a:t>Livro</a:t>
            </a:r>
            <a:r>
              <a:rPr lang="en-US" sz="2800" b="1" dirty="0"/>
              <a:t> </a:t>
            </a:r>
            <a:r>
              <a:rPr lang="en-US" sz="2800" b="1" dirty="0" err="1"/>
              <a:t>Texto</a:t>
            </a:r>
            <a:endParaRPr lang="en-US" sz="2800" b="1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059C31C-961F-9B42-F981-D0D5B34842C2}"/>
              </a:ext>
            </a:extLst>
          </p:cNvPr>
          <p:cNvSpPr txBox="1"/>
          <p:nvPr/>
        </p:nvSpPr>
        <p:spPr>
          <a:xfrm>
            <a:off x="5208609" y="1575889"/>
            <a:ext cx="27305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/>
              <a:t>Complementares</a:t>
            </a:r>
            <a:endParaRPr lang="en-US" sz="2800" b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D328E75-6E3B-8A53-99F5-2E8D03DBDA8C}"/>
              </a:ext>
            </a:extLst>
          </p:cNvPr>
          <p:cNvSpPr txBox="1"/>
          <p:nvPr/>
        </p:nvSpPr>
        <p:spPr>
          <a:xfrm>
            <a:off x="838200" y="5238180"/>
            <a:ext cx="41034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ArialMT"/>
              </a:rPr>
              <a:t>R. </a:t>
            </a:r>
            <a:r>
              <a:rPr lang="en-US" sz="1800" b="0" i="0" u="none" strike="noStrike" baseline="0" dirty="0" err="1">
                <a:latin typeface="ArialMT"/>
              </a:rPr>
              <a:t>Elmasri</a:t>
            </a:r>
            <a:r>
              <a:rPr lang="en-US" dirty="0">
                <a:latin typeface="ArialMT"/>
              </a:rPr>
              <a:t> </a:t>
            </a:r>
            <a:r>
              <a:rPr lang="en-US" sz="1800" b="0" i="0" u="none" strike="noStrike" baseline="0" dirty="0">
                <a:latin typeface="ArialMT"/>
              </a:rPr>
              <a:t>e  S. Navathe</a:t>
            </a:r>
          </a:p>
          <a:p>
            <a:pPr algn="l"/>
            <a:r>
              <a:rPr lang="pt-BR" sz="1800" b="0" i="0" u="none" strike="noStrike" baseline="0" dirty="0">
                <a:latin typeface="ArialMT"/>
              </a:rPr>
              <a:t>Sistemas de Banco de Dados. Ed Pearson  2019.</a:t>
            </a:r>
          </a:p>
          <a:p>
            <a:pPr algn="l"/>
            <a:r>
              <a:rPr lang="en-US" sz="1800" b="0" i="0" u="none" strike="noStrike" baseline="0" dirty="0">
                <a:latin typeface="ArialMT"/>
              </a:rPr>
              <a:t>ISBN 8543025001</a:t>
            </a:r>
            <a:endParaRPr lang="pt-BR" sz="1800" b="0" i="0" u="none" strike="noStrike" baseline="0" dirty="0">
              <a:latin typeface="ArialM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C1076E0-DF6A-B407-0203-C448F541556B}"/>
              </a:ext>
            </a:extLst>
          </p:cNvPr>
          <p:cNvSpPr txBox="1"/>
          <p:nvPr/>
        </p:nvSpPr>
        <p:spPr>
          <a:xfrm>
            <a:off x="5172750" y="4404948"/>
            <a:ext cx="516575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DE" dirty="0">
                <a:latin typeface="ArialMT"/>
              </a:rPr>
              <a:t>Kaufmann, M. e  Meier, A.</a:t>
            </a:r>
          </a:p>
          <a:p>
            <a:pPr algn="l"/>
            <a:r>
              <a:rPr lang="en-US" dirty="0">
                <a:latin typeface="ArialMT"/>
              </a:rPr>
              <a:t>SQL and </a:t>
            </a:r>
            <a:r>
              <a:rPr lang="en-US" dirty="0" err="1">
                <a:latin typeface="ArialMT"/>
              </a:rPr>
              <a:t>Nosql</a:t>
            </a:r>
            <a:r>
              <a:rPr lang="en-US" dirty="0">
                <a:latin typeface="ArialMT"/>
              </a:rPr>
              <a:t> Databases: Modeling, Languages, Security and Architectures for Big Data Management </a:t>
            </a:r>
            <a:br>
              <a:rPr lang="en-US" dirty="0">
                <a:latin typeface="ArialMT"/>
              </a:rPr>
            </a:br>
            <a:r>
              <a:rPr lang="pt-BR" dirty="0">
                <a:latin typeface="ArialMT"/>
              </a:rPr>
              <a:t>Ed. Springer, 2023.</a:t>
            </a:r>
          </a:p>
          <a:p>
            <a:pPr algn="l"/>
            <a:r>
              <a:rPr lang="en-US" dirty="0">
                <a:latin typeface="ArialMT"/>
              </a:rPr>
              <a:t>ISBN </a:t>
            </a:r>
            <a:r>
              <a:rPr lang="pt-BR" dirty="0">
                <a:latin typeface="ArialMT"/>
              </a:rPr>
              <a:t>978-3031279072</a:t>
            </a:r>
            <a:endParaRPr lang="en-US" dirty="0">
              <a:latin typeface="ArialMT"/>
            </a:endParaRPr>
          </a:p>
        </p:txBody>
      </p:sp>
      <p:pic>
        <p:nvPicPr>
          <p:cNvPr id="4102" name="Picture 6" descr="SQL and Nosql Databases: Modeling, Languages, Security and Architectures for Big Data Management">
            <a:extLst>
              <a:ext uri="{FF2B5EF4-FFF2-40B4-BE49-F238E27FC236}">
                <a16:creationId xmlns:a16="http://schemas.microsoft.com/office/drawing/2014/main" id="{D164142F-EC1A-100B-21E3-6FB0DD24A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235769"/>
            <a:ext cx="1371600" cy="20764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mazon.com: Principles of Distributed Database Systems: 9783030262525:  Özsu, M. Tamer, Valduriez, Patrick: Books">
            <a:extLst>
              <a:ext uri="{FF2B5EF4-FFF2-40B4-BE49-F238E27FC236}">
                <a16:creationId xmlns:a16="http://schemas.microsoft.com/office/drawing/2014/main" id="{05EE5805-50C3-C746-15B8-8B069092D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2604" y="231225"/>
            <a:ext cx="1727757" cy="26024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E3F468A-A004-A786-9519-EE88E79A09A4}"/>
              </a:ext>
            </a:extLst>
          </p:cNvPr>
          <p:cNvSpPr txBox="1"/>
          <p:nvPr/>
        </p:nvSpPr>
        <p:spPr>
          <a:xfrm>
            <a:off x="8088563" y="3019161"/>
            <a:ext cx="41034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 err="1">
                <a:latin typeface="ArialMT"/>
              </a:rPr>
              <a:t>Özsu</a:t>
            </a:r>
            <a:r>
              <a:rPr lang="en-US" sz="1800" b="0" i="0" u="none" strike="noStrike" baseline="0" dirty="0">
                <a:latin typeface="ArialMT"/>
              </a:rPr>
              <a:t>, M. T. e  </a:t>
            </a:r>
            <a:r>
              <a:rPr lang="en-US" sz="1800" b="0" i="0" u="none" strike="noStrike" baseline="0" dirty="0" err="1">
                <a:latin typeface="ArialMT"/>
              </a:rPr>
              <a:t>Valduriez</a:t>
            </a:r>
            <a:r>
              <a:rPr lang="en-US" sz="1800" b="0" i="0" u="none" strike="noStrike" baseline="0" dirty="0">
                <a:latin typeface="ArialMT"/>
              </a:rPr>
              <a:t> P.</a:t>
            </a:r>
          </a:p>
          <a:p>
            <a:pPr algn="l"/>
            <a:r>
              <a:rPr lang="en-US" sz="1800" b="0" i="0" u="none" strike="noStrike" baseline="0" dirty="0">
                <a:latin typeface="ArialMT"/>
              </a:rPr>
              <a:t>Distributed Database Systems</a:t>
            </a:r>
          </a:p>
          <a:p>
            <a:pPr algn="l"/>
            <a:r>
              <a:rPr lang="pt-BR" sz="1800" b="0" i="0" u="none" strike="noStrike" baseline="0" dirty="0">
                <a:latin typeface="ArialMT"/>
              </a:rPr>
              <a:t>Ed. Springer, 2020.</a:t>
            </a:r>
          </a:p>
          <a:p>
            <a:pPr algn="l"/>
            <a:r>
              <a:rPr lang="en-US" sz="1800" b="0" i="0" u="none" strike="noStrike" baseline="0" dirty="0">
                <a:latin typeface="ArialMT"/>
              </a:rPr>
              <a:t>ISBN 9783030262525</a:t>
            </a:r>
            <a:endParaRPr lang="pt-BR" sz="1800" b="0" i="0" u="none" strike="noStrike" baseline="0" dirty="0">
              <a:latin typeface="ArialMT"/>
            </a:endParaRPr>
          </a:p>
        </p:txBody>
      </p:sp>
      <p:pic>
        <p:nvPicPr>
          <p:cNvPr id="1026" name="Picture 2" descr="Sistemas de Banco de Dados">
            <a:extLst>
              <a:ext uri="{FF2B5EF4-FFF2-40B4-BE49-F238E27FC236}">
                <a16:creationId xmlns:a16="http://schemas.microsoft.com/office/drawing/2014/main" id="{FB0FFC7F-8C17-BD5E-BD35-159FED345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621" y="2200032"/>
            <a:ext cx="2202850" cy="29643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5696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5D57D-8302-0145-4763-AAF96D98A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Conteúdos</a:t>
            </a:r>
            <a:r>
              <a:rPr lang="en-US" b="1" dirty="0"/>
              <a:t> da aula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5158E1-DA5F-65EB-4A10-A4B8041BC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Motivação</a:t>
            </a:r>
            <a:r>
              <a:rPr lang="en-US" dirty="0"/>
              <a:t> para NewSQL e IMDB</a:t>
            </a:r>
          </a:p>
          <a:p>
            <a:r>
              <a:rPr lang="en-US" dirty="0" err="1"/>
              <a:t>Conceitos</a:t>
            </a:r>
            <a:r>
              <a:rPr lang="en-US" dirty="0"/>
              <a:t> </a:t>
            </a:r>
            <a:r>
              <a:rPr lang="en-US" dirty="0" err="1"/>
              <a:t>básicos</a:t>
            </a:r>
            <a:r>
              <a:rPr lang="en-US" dirty="0"/>
              <a:t> para o NewSQL</a:t>
            </a:r>
          </a:p>
          <a:p>
            <a:r>
              <a:rPr lang="en-US" dirty="0" err="1"/>
              <a:t>Arquiteturas</a:t>
            </a:r>
            <a:r>
              <a:rPr lang="en-US" dirty="0"/>
              <a:t> NewSQL</a:t>
            </a:r>
          </a:p>
          <a:p>
            <a:pPr lvl="1"/>
            <a:r>
              <a:rPr lang="en-US" dirty="0" err="1"/>
              <a:t>Processamento</a:t>
            </a:r>
            <a:r>
              <a:rPr lang="en-US" dirty="0"/>
              <a:t> HTAP</a:t>
            </a:r>
          </a:p>
          <a:p>
            <a:r>
              <a:rPr lang="en-US" dirty="0" err="1"/>
              <a:t>Visão</a:t>
            </a:r>
            <a:r>
              <a:rPr lang="en-US" dirty="0"/>
              <a:t> </a:t>
            </a:r>
            <a:r>
              <a:rPr lang="en-US" dirty="0" err="1"/>
              <a:t>geral</a:t>
            </a:r>
            <a:r>
              <a:rPr lang="en-US" dirty="0"/>
              <a:t> dos NewSQL e In Memory</a:t>
            </a:r>
          </a:p>
          <a:p>
            <a:r>
              <a:rPr lang="en-US" dirty="0" err="1"/>
              <a:t>Arquiteturas</a:t>
            </a:r>
            <a:r>
              <a:rPr lang="en-US" dirty="0"/>
              <a:t> NewSQL e In Memory</a:t>
            </a:r>
          </a:p>
          <a:p>
            <a:pPr lvl="1"/>
            <a:r>
              <a:rPr lang="en-US" dirty="0" err="1"/>
              <a:t>Exemplos</a:t>
            </a:r>
            <a:endParaRPr lang="en-US" dirty="0"/>
          </a:p>
          <a:p>
            <a:r>
              <a:rPr lang="en-US" dirty="0" err="1"/>
              <a:t>Exercícios</a:t>
            </a:r>
            <a:r>
              <a:rPr lang="en-US" dirty="0"/>
              <a:t> e </a:t>
            </a:r>
            <a:r>
              <a:rPr lang="en-US" dirty="0" err="1"/>
              <a:t>Leituras</a:t>
            </a:r>
            <a:r>
              <a:rPr lang="en-US" dirty="0"/>
              <a:t> </a:t>
            </a:r>
            <a:r>
              <a:rPr lang="en-US" dirty="0" err="1"/>
              <a:t>Complementares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719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61060A-2835-7FA4-3D22-1E2C0BCB0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Motivação</a:t>
            </a:r>
            <a:endParaRPr lang="en-US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FF0BD5-0BBB-3585-BF43-4F81F63B9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b="1" dirty="0" err="1"/>
              <a:t>SBGDs</a:t>
            </a:r>
            <a:r>
              <a:rPr lang="pt-BR" b="1" dirty="0"/>
              <a:t> evoluem para acompanhar os novos cenários de computação e seus novos desafios (Big Data, IOT, </a:t>
            </a:r>
            <a:r>
              <a:rPr lang="pt-BR" b="1" dirty="0" err="1"/>
              <a:t>xIA</a:t>
            </a:r>
            <a:r>
              <a:rPr lang="pt-BR" b="1" dirty="0"/>
              <a:t>, </a:t>
            </a:r>
            <a:r>
              <a:rPr lang="pt-BR" b="1" dirty="0" err="1"/>
              <a:t>Wearables</a:t>
            </a:r>
            <a:r>
              <a:rPr lang="pt-BR" b="1" dirty="0"/>
              <a:t>, Web de Dados, etc..)</a:t>
            </a:r>
          </a:p>
          <a:p>
            <a:r>
              <a:rPr lang="pt-BR" b="1" dirty="0"/>
              <a:t>Máquinas evoluem..</a:t>
            </a:r>
          </a:p>
          <a:p>
            <a:pPr lvl="1"/>
            <a:r>
              <a:rPr lang="pt-BR" b="1" dirty="0"/>
              <a:t>Tipos de memória RAM</a:t>
            </a:r>
            <a:r>
              <a:rPr lang="pt-BR" dirty="0"/>
              <a:t> </a:t>
            </a:r>
            <a:r>
              <a:rPr lang="pt-BR" b="1" dirty="0"/>
              <a:t>: </a:t>
            </a:r>
            <a:r>
              <a:rPr lang="pt-BR" dirty="0"/>
              <a:t>256KB (1980)  </a:t>
            </a:r>
            <a:r>
              <a:rPr lang="pt-BR" dirty="0">
                <a:sym typeface="Wingdings" panose="05000000000000000000" pitchFamily="2" charset="2"/>
              </a:rPr>
              <a:t>  </a:t>
            </a:r>
            <a:r>
              <a:rPr lang="pt-BR" dirty="0" err="1">
                <a:sym typeface="Wingdings" panose="05000000000000000000" pitchFamily="2" charset="2"/>
              </a:rPr>
              <a:t>Terabytes</a:t>
            </a:r>
            <a:r>
              <a:rPr lang="pt-BR" dirty="0">
                <a:sym typeface="Wingdings" panose="05000000000000000000" pitchFamily="2" charset="2"/>
              </a:rPr>
              <a:t> de</a:t>
            </a:r>
            <a:r>
              <a:rPr lang="pt-BR" dirty="0"/>
              <a:t> DDR5</a:t>
            </a:r>
          </a:p>
          <a:p>
            <a:pPr lvl="1"/>
            <a:r>
              <a:rPr lang="pt-BR" b="1" dirty="0"/>
              <a:t>Tipos de disco:  </a:t>
            </a:r>
            <a:r>
              <a:rPr lang="pt-BR" dirty="0"/>
              <a:t>HD </a:t>
            </a:r>
            <a:r>
              <a:rPr lang="pt-BR" dirty="0">
                <a:sym typeface="Wingdings" panose="05000000000000000000" pitchFamily="2" charset="2"/>
              </a:rPr>
              <a:t> SSD</a:t>
            </a:r>
          </a:p>
          <a:p>
            <a:pPr lvl="1"/>
            <a:r>
              <a:rPr lang="pt-BR" b="1" dirty="0">
                <a:sym typeface="Wingdings" panose="05000000000000000000" pitchFamily="2" charset="2"/>
              </a:rPr>
              <a:t>Tipos de Processadores:  </a:t>
            </a:r>
            <a:r>
              <a:rPr lang="pt-BR" dirty="0">
                <a:sym typeface="Wingdings" panose="05000000000000000000" pitchFamily="2" charset="2"/>
              </a:rPr>
              <a:t>386  Pentium  Core I9</a:t>
            </a:r>
            <a:endParaRPr lang="pt-BR" dirty="0"/>
          </a:p>
          <a:p>
            <a:r>
              <a:rPr lang="pt-BR" b="1" dirty="0"/>
              <a:t>Ambientes evoluem...</a:t>
            </a:r>
          </a:p>
          <a:p>
            <a:pPr lvl="1"/>
            <a:r>
              <a:rPr lang="pt-BR" b="1" dirty="0"/>
              <a:t>Arquitetura de Sistemas: </a:t>
            </a:r>
            <a:r>
              <a:rPr lang="pt-BR" dirty="0"/>
              <a:t>Centralizado </a:t>
            </a:r>
            <a:r>
              <a:rPr lang="pt-BR" dirty="0">
                <a:sym typeface="Wingdings" panose="05000000000000000000" pitchFamily="2" charset="2"/>
              </a:rPr>
              <a:t> Distribuído ( C/S, P2P, Clusters, HPC, Cloud)</a:t>
            </a:r>
          </a:p>
          <a:p>
            <a:pPr lvl="1"/>
            <a:r>
              <a:rPr lang="pt-BR" b="1" dirty="0"/>
              <a:t>Tipos de processadores </a:t>
            </a:r>
            <a:r>
              <a:rPr lang="pt-BR" dirty="0"/>
              <a:t>: CPU Z80 </a:t>
            </a:r>
            <a:r>
              <a:rPr lang="pt-BR" dirty="0">
                <a:sym typeface="Wingdings" panose="05000000000000000000" pitchFamily="2" charset="2"/>
              </a:rPr>
              <a:t> Intel I9  GPU Nvidia</a:t>
            </a:r>
          </a:p>
          <a:p>
            <a:pPr lvl="1"/>
            <a:r>
              <a:rPr lang="pt-BR" b="1" dirty="0" err="1">
                <a:sym typeface="Wingdings" panose="05000000000000000000" pitchFamily="2" charset="2"/>
              </a:rPr>
              <a:t>Workload</a:t>
            </a:r>
            <a:r>
              <a:rPr lang="pt-BR" dirty="0">
                <a:sym typeface="Wingdings" panose="05000000000000000000" pitchFamily="2" charset="2"/>
              </a:rPr>
              <a:t>: OLTP  OLAP  HTAP</a:t>
            </a:r>
          </a:p>
          <a:p>
            <a:pPr lvl="1"/>
            <a:r>
              <a:rPr lang="pt-BR" b="1" dirty="0">
                <a:sym typeface="Wingdings" panose="05000000000000000000" pitchFamily="2" charset="2"/>
              </a:rPr>
              <a:t>Redes E celulares </a:t>
            </a:r>
            <a:r>
              <a:rPr lang="pt-BR" dirty="0">
                <a:sym typeface="Wingdings" panose="05000000000000000000" pitchFamily="2" charset="2"/>
              </a:rPr>
              <a:t>: LAN  Internet  5G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C33A034-B0FC-8AF8-5B78-0D82146FDC0E}"/>
              </a:ext>
            </a:extLst>
          </p:cNvPr>
          <p:cNvSpPr txBox="1"/>
          <p:nvPr/>
        </p:nvSpPr>
        <p:spPr>
          <a:xfrm>
            <a:off x="0" y="6657945"/>
            <a:ext cx="524448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>
                <a:solidFill>
                  <a:srgbClr val="FF0000"/>
                </a:solidFill>
              </a:rPr>
              <a:t>FONTE: DAVENPORT, T. H.; PATIL, D. J. Data Scientist: The Sexiest Job of the 21st Century. Harvard Business Review , v.1, p. 70-77, 2012.</a:t>
            </a:r>
          </a:p>
        </p:txBody>
      </p:sp>
    </p:spTree>
    <p:extLst>
      <p:ext uri="{BB962C8B-B14F-4D97-AF65-F5344CB8AC3E}">
        <p14:creationId xmlns:p14="http://schemas.microsoft.com/office/powerpoint/2010/main" val="1315590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61060A-2835-7FA4-3D22-1E2C0BCB0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Motivação</a:t>
            </a:r>
            <a:endParaRPr lang="en-US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FF0BD5-0BBB-3585-BF43-4F81F63B9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pt-BR" b="1" dirty="0"/>
              <a:t>Bancos também evoluem (alguns até “morrem” no caminho!)</a:t>
            </a:r>
          </a:p>
          <a:p>
            <a:pPr lvl="2"/>
            <a:r>
              <a:rPr lang="pt-BR" dirty="0"/>
              <a:t>Rede &gt; </a:t>
            </a:r>
            <a:r>
              <a:rPr lang="pt-BR" dirty="0" err="1"/>
              <a:t>Hieráquico</a:t>
            </a:r>
            <a:r>
              <a:rPr lang="pt-BR" dirty="0"/>
              <a:t> &gt; Relacional &gt; OOR &gt; Multidimensional&gt; </a:t>
            </a:r>
            <a:r>
              <a:rPr lang="pt-BR" dirty="0" err="1"/>
              <a:t>NoSQL</a:t>
            </a:r>
            <a:r>
              <a:rPr lang="pt-BR" dirty="0"/>
              <a:t> &gt; </a:t>
            </a:r>
            <a:r>
              <a:rPr lang="pt-BR" dirty="0" err="1"/>
              <a:t>NewSQL</a:t>
            </a:r>
            <a:endParaRPr lang="pt-BR" dirty="0"/>
          </a:p>
        </p:txBody>
      </p:sp>
      <p:grpSp>
        <p:nvGrpSpPr>
          <p:cNvPr id="5120" name="Agrupar 5119">
            <a:extLst>
              <a:ext uri="{FF2B5EF4-FFF2-40B4-BE49-F238E27FC236}">
                <a16:creationId xmlns:a16="http://schemas.microsoft.com/office/drawing/2014/main" id="{83A775AD-28A9-8AE5-4366-2B6589C0D112}"/>
              </a:ext>
            </a:extLst>
          </p:cNvPr>
          <p:cNvGrpSpPr/>
          <p:nvPr/>
        </p:nvGrpSpPr>
        <p:grpSpPr>
          <a:xfrm>
            <a:off x="131897" y="0"/>
            <a:ext cx="11907630" cy="7607573"/>
            <a:chOff x="131897" y="0"/>
            <a:chExt cx="11907630" cy="7607573"/>
          </a:xfrm>
        </p:grpSpPr>
        <p:grpSp>
          <p:nvGrpSpPr>
            <p:cNvPr id="31" name="Agrupar 30">
              <a:extLst>
                <a:ext uri="{FF2B5EF4-FFF2-40B4-BE49-F238E27FC236}">
                  <a16:creationId xmlns:a16="http://schemas.microsoft.com/office/drawing/2014/main" id="{7821CAB9-7409-5D32-6DD0-894360E5F9E7}"/>
                </a:ext>
              </a:extLst>
            </p:cNvPr>
            <p:cNvGrpSpPr/>
            <p:nvPr/>
          </p:nvGrpSpPr>
          <p:grpSpPr>
            <a:xfrm>
              <a:off x="131897" y="0"/>
              <a:ext cx="11907630" cy="7607573"/>
              <a:chOff x="131897" y="0"/>
              <a:chExt cx="11907630" cy="7607573"/>
            </a:xfrm>
          </p:grpSpPr>
          <p:pic>
            <p:nvPicPr>
              <p:cNvPr id="5" name="Imagem 4">
                <a:extLst>
                  <a:ext uri="{FF2B5EF4-FFF2-40B4-BE49-F238E27FC236}">
                    <a16:creationId xmlns:a16="http://schemas.microsoft.com/office/drawing/2014/main" id="{7EFB2110-85CD-6BAC-FF50-281173039E6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3886"/>
              <a:stretch/>
            </p:blipFill>
            <p:spPr>
              <a:xfrm>
                <a:off x="282674" y="0"/>
                <a:ext cx="11756853" cy="6858000"/>
              </a:xfrm>
              <a:prstGeom prst="rect">
                <a:avLst/>
              </a:prstGeom>
            </p:spPr>
          </p:pic>
          <p:grpSp>
            <p:nvGrpSpPr>
              <p:cNvPr id="30" name="Agrupar 29">
                <a:extLst>
                  <a:ext uri="{FF2B5EF4-FFF2-40B4-BE49-F238E27FC236}">
                    <a16:creationId xmlns:a16="http://schemas.microsoft.com/office/drawing/2014/main" id="{66F93DD1-D856-04C5-AA23-B6D8F74B187A}"/>
                  </a:ext>
                </a:extLst>
              </p:cNvPr>
              <p:cNvGrpSpPr/>
              <p:nvPr/>
            </p:nvGrpSpPr>
            <p:grpSpPr>
              <a:xfrm>
                <a:off x="131897" y="1431348"/>
                <a:ext cx="7553708" cy="6176225"/>
                <a:chOff x="131897" y="1431348"/>
                <a:chExt cx="7553708" cy="6176225"/>
              </a:xfrm>
            </p:grpSpPr>
            <p:sp>
              <p:nvSpPr>
                <p:cNvPr id="6" name="Retângulo 5">
                  <a:extLst>
                    <a:ext uri="{FF2B5EF4-FFF2-40B4-BE49-F238E27FC236}">
                      <a16:creationId xmlns:a16="http://schemas.microsoft.com/office/drawing/2014/main" id="{5A9E9A0F-2FB6-861C-5014-EC6D1183B922}"/>
                    </a:ext>
                  </a:extLst>
                </p:cNvPr>
                <p:cNvSpPr/>
                <p:nvPr/>
              </p:nvSpPr>
              <p:spPr>
                <a:xfrm>
                  <a:off x="131897" y="1431348"/>
                  <a:ext cx="2372780" cy="534092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" name="Retângulo 6">
                  <a:extLst>
                    <a:ext uri="{FF2B5EF4-FFF2-40B4-BE49-F238E27FC236}">
                      <a16:creationId xmlns:a16="http://schemas.microsoft.com/office/drawing/2014/main" id="{605FD008-934B-8F1A-8425-AF0ABA75DC7D}"/>
                    </a:ext>
                  </a:extLst>
                </p:cNvPr>
                <p:cNvSpPr/>
                <p:nvPr/>
              </p:nvSpPr>
              <p:spPr>
                <a:xfrm>
                  <a:off x="2387633" y="3382009"/>
                  <a:ext cx="2372780" cy="35664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" name="Retângulo 8">
                  <a:extLst>
                    <a:ext uri="{FF2B5EF4-FFF2-40B4-BE49-F238E27FC236}">
                      <a16:creationId xmlns:a16="http://schemas.microsoft.com/office/drawing/2014/main" id="{BFE4ADF0-AD24-563F-13FF-1CCBEB7ADD81}"/>
                    </a:ext>
                  </a:extLst>
                </p:cNvPr>
                <p:cNvSpPr/>
                <p:nvPr/>
              </p:nvSpPr>
              <p:spPr>
                <a:xfrm>
                  <a:off x="4758629" y="3336773"/>
                  <a:ext cx="659931" cy="35664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Retângulo 9">
                  <a:extLst>
                    <a:ext uri="{FF2B5EF4-FFF2-40B4-BE49-F238E27FC236}">
                      <a16:creationId xmlns:a16="http://schemas.microsoft.com/office/drawing/2014/main" id="{69441473-E6A4-00A2-6CB4-BF19ED978665}"/>
                    </a:ext>
                  </a:extLst>
                </p:cNvPr>
                <p:cNvSpPr/>
                <p:nvPr/>
              </p:nvSpPr>
              <p:spPr>
                <a:xfrm>
                  <a:off x="5312825" y="6406915"/>
                  <a:ext cx="2372780" cy="120065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Retângulo 10">
                  <a:extLst>
                    <a:ext uri="{FF2B5EF4-FFF2-40B4-BE49-F238E27FC236}">
                      <a16:creationId xmlns:a16="http://schemas.microsoft.com/office/drawing/2014/main" id="{551A4742-FEF4-1F07-FB62-AC18375D635A}"/>
                    </a:ext>
                  </a:extLst>
                </p:cNvPr>
                <p:cNvSpPr/>
                <p:nvPr/>
              </p:nvSpPr>
              <p:spPr>
                <a:xfrm>
                  <a:off x="5312825" y="3291536"/>
                  <a:ext cx="526458" cy="319021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582524B9-0AC2-24FA-9639-4150B721F196}"/>
                </a:ext>
              </a:extLst>
            </p:cNvPr>
            <p:cNvSpPr/>
            <p:nvPr/>
          </p:nvSpPr>
          <p:spPr>
            <a:xfrm rot="16200000">
              <a:off x="9114810" y="-560901"/>
              <a:ext cx="928522" cy="27111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A106F65-DBAD-7486-868F-674ED237FE12}"/>
              </a:ext>
            </a:extLst>
          </p:cNvPr>
          <p:cNvSpPr txBox="1"/>
          <p:nvPr/>
        </p:nvSpPr>
        <p:spPr>
          <a:xfrm>
            <a:off x="8897521" y="421140"/>
            <a:ext cx="17263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85EA6"/>
                </a:solidFill>
              </a:rPr>
              <a:t>Mundo do </a:t>
            </a:r>
          </a:p>
          <a:p>
            <a:pPr algn="ctr"/>
            <a:r>
              <a:rPr lang="en-US" sz="2400" b="1" dirty="0">
                <a:solidFill>
                  <a:srgbClr val="285EA6"/>
                </a:solidFill>
              </a:rPr>
              <a:t>Mainframes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932F59A-2FCA-29B6-47C7-616001A6F681}"/>
              </a:ext>
            </a:extLst>
          </p:cNvPr>
          <p:cNvSpPr/>
          <p:nvPr/>
        </p:nvSpPr>
        <p:spPr>
          <a:xfrm rot="16200000">
            <a:off x="6284503" y="4781663"/>
            <a:ext cx="1041450" cy="2711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AE3F5CC-3882-7FF6-D3FD-801AF0B3F04B}"/>
              </a:ext>
            </a:extLst>
          </p:cNvPr>
          <p:cNvSpPr/>
          <p:nvPr/>
        </p:nvSpPr>
        <p:spPr>
          <a:xfrm>
            <a:off x="5296274" y="4179449"/>
            <a:ext cx="789438" cy="15636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5801994-2CA8-AD12-EA08-975ADC197498}"/>
              </a:ext>
            </a:extLst>
          </p:cNvPr>
          <p:cNvSpPr txBox="1"/>
          <p:nvPr/>
        </p:nvSpPr>
        <p:spPr>
          <a:xfrm>
            <a:off x="375859" y="5589432"/>
            <a:ext cx="745140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 err="1">
                <a:solidFill>
                  <a:srgbClr val="D9680D"/>
                </a:solidFill>
              </a:rPr>
              <a:t>Ampliação</a:t>
            </a:r>
            <a:r>
              <a:rPr lang="en-US" sz="3200" b="1" dirty="0">
                <a:solidFill>
                  <a:srgbClr val="D9680D"/>
                </a:solidFill>
              </a:rPr>
              <a:t> dos BDs </a:t>
            </a:r>
            <a:r>
              <a:rPr lang="en-US" sz="3200" b="1" dirty="0" err="1">
                <a:solidFill>
                  <a:srgbClr val="D9680D"/>
                </a:solidFill>
              </a:rPr>
              <a:t>distribuídos</a:t>
            </a:r>
            <a:r>
              <a:rPr lang="en-US" sz="3200" b="1" dirty="0">
                <a:solidFill>
                  <a:srgbClr val="D9680D"/>
                </a:solidFill>
              </a:rPr>
              <a:t>, IOT, Cloud</a:t>
            </a:r>
            <a:br>
              <a:rPr lang="en-US" sz="3200" b="1" dirty="0">
                <a:solidFill>
                  <a:srgbClr val="D9680D"/>
                </a:solidFill>
              </a:rPr>
            </a:br>
            <a:r>
              <a:rPr lang="en-US" sz="3200" b="1" dirty="0" err="1">
                <a:solidFill>
                  <a:srgbClr val="D9680D"/>
                </a:solidFill>
              </a:rPr>
              <a:t>nos</a:t>
            </a:r>
            <a:r>
              <a:rPr lang="en-US" sz="3200" b="1" dirty="0">
                <a:solidFill>
                  <a:srgbClr val="D9680D"/>
                </a:solidFill>
              </a:rPr>
              <a:t> </a:t>
            </a:r>
            <a:r>
              <a:rPr lang="en-US" sz="3200" b="1" dirty="0" err="1">
                <a:solidFill>
                  <a:srgbClr val="D9680D"/>
                </a:solidFill>
              </a:rPr>
              <a:t>novos</a:t>
            </a:r>
            <a:r>
              <a:rPr lang="en-US" sz="3200" b="1" dirty="0">
                <a:solidFill>
                  <a:srgbClr val="D9680D"/>
                </a:solidFill>
              </a:rPr>
              <a:t> </a:t>
            </a:r>
            <a:r>
              <a:rPr lang="en-US" sz="3200" b="1" dirty="0" err="1">
                <a:solidFill>
                  <a:srgbClr val="D9680D"/>
                </a:solidFill>
              </a:rPr>
              <a:t>paradigmas</a:t>
            </a:r>
            <a:r>
              <a:rPr lang="en-US" sz="3200" b="1" dirty="0">
                <a:solidFill>
                  <a:srgbClr val="D9680D"/>
                </a:solidFill>
              </a:rPr>
              <a:t>...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7A167B1E-4D2D-88B0-9A2A-99873BABF53F}"/>
              </a:ext>
            </a:extLst>
          </p:cNvPr>
          <p:cNvSpPr/>
          <p:nvPr/>
        </p:nvSpPr>
        <p:spPr>
          <a:xfrm>
            <a:off x="2765160" y="1306331"/>
            <a:ext cx="8169468" cy="1936491"/>
          </a:xfrm>
          <a:prstGeom prst="rect">
            <a:avLst/>
          </a:prstGeom>
          <a:noFill/>
          <a:ln>
            <a:solidFill>
              <a:srgbClr val="287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23904FE-6D45-53A0-994C-D5B8A0674BA5}"/>
              </a:ext>
            </a:extLst>
          </p:cNvPr>
          <p:cNvSpPr txBox="1"/>
          <p:nvPr/>
        </p:nvSpPr>
        <p:spPr>
          <a:xfrm>
            <a:off x="28186" y="1686834"/>
            <a:ext cx="27755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 err="1">
                <a:solidFill>
                  <a:srgbClr val="287082"/>
                </a:solidFill>
              </a:rPr>
              <a:t>Aqui</a:t>
            </a:r>
            <a:r>
              <a:rPr lang="en-US" sz="3200" b="1" dirty="0">
                <a:solidFill>
                  <a:srgbClr val="287082"/>
                </a:solidFill>
              </a:rPr>
              <a:t> </a:t>
            </a:r>
            <a:r>
              <a:rPr lang="en-US" sz="3200" b="1" dirty="0" err="1">
                <a:solidFill>
                  <a:srgbClr val="287082"/>
                </a:solidFill>
              </a:rPr>
              <a:t>começa</a:t>
            </a:r>
            <a:r>
              <a:rPr lang="en-US" sz="3200" b="1" dirty="0">
                <a:solidFill>
                  <a:srgbClr val="287082"/>
                </a:solidFill>
              </a:rPr>
              <a:t> o </a:t>
            </a:r>
            <a:br>
              <a:rPr lang="en-US" sz="3200" b="1" dirty="0">
                <a:solidFill>
                  <a:srgbClr val="287082"/>
                </a:solidFill>
              </a:rPr>
            </a:br>
            <a:r>
              <a:rPr lang="en-US" sz="3200" b="1" dirty="0" err="1">
                <a:solidFill>
                  <a:srgbClr val="287082"/>
                </a:solidFill>
              </a:rPr>
              <a:t>reinado</a:t>
            </a:r>
            <a:r>
              <a:rPr lang="en-US" sz="3200" b="1" dirty="0">
                <a:solidFill>
                  <a:srgbClr val="287082"/>
                </a:solidFill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287082"/>
                </a:solidFill>
              </a:rPr>
              <a:t>relacional</a:t>
            </a:r>
            <a:r>
              <a:rPr lang="en-US" sz="3200" b="1" dirty="0">
                <a:solidFill>
                  <a:srgbClr val="287082"/>
                </a:solidFill>
              </a:rPr>
              <a:t> !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DE81D16A-1F5C-9FD8-983E-210622CCA570}"/>
              </a:ext>
            </a:extLst>
          </p:cNvPr>
          <p:cNvSpPr/>
          <p:nvPr/>
        </p:nvSpPr>
        <p:spPr>
          <a:xfrm>
            <a:off x="6421582" y="3649364"/>
            <a:ext cx="4533700" cy="1833082"/>
          </a:xfrm>
          <a:prstGeom prst="rect">
            <a:avLst/>
          </a:prstGeom>
          <a:noFill/>
          <a:ln>
            <a:solidFill>
              <a:srgbClr val="772F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CEAA555C-191B-9AF0-31F4-E68AA6C3F3AA}"/>
              </a:ext>
            </a:extLst>
          </p:cNvPr>
          <p:cNvSpPr/>
          <p:nvPr/>
        </p:nvSpPr>
        <p:spPr>
          <a:xfrm>
            <a:off x="8250931" y="5616494"/>
            <a:ext cx="2704351" cy="1141478"/>
          </a:xfrm>
          <a:prstGeom prst="rect">
            <a:avLst/>
          </a:prstGeom>
          <a:noFill/>
          <a:ln>
            <a:solidFill>
              <a:srgbClr val="D968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350DBDE-7B25-A226-EB76-EED7EDAF9835}"/>
              </a:ext>
            </a:extLst>
          </p:cNvPr>
          <p:cNvSpPr txBox="1"/>
          <p:nvPr/>
        </p:nvSpPr>
        <p:spPr>
          <a:xfrm>
            <a:off x="-5541" y="3991763"/>
            <a:ext cx="613642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772F28"/>
                </a:solidFill>
              </a:rPr>
              <a:t>Internet, Redes </a:t>
            </a:r>
            <a:r>
              <a:rPr lang="en-US" sz="3200" b="1" dirty="0" err="1">
                <a:solidFill>
                  <a:srgbClr val="772F28"/>
                </a:solidFill>
              </a:rPr>
              <a:t>sociais</a:t>
            </a:r>
            <a:r>
              <a:rPr lang="en-US" sz="3200" b="1" dirty="0">
                <a:solidFill>
                  <a:srgbClr val="772F28"/>
                </a:solidFill>
              </a:rPr>
              <a:t>, Web 2.0, </a:t>
            </a:r>
          </a:p>
          <a:p>
            <a:pPr algn="ctr"/>
            <a:r>
              <a:rPr lang="en-US" sz="3200" b="1" i="1" dirty="0">
                <a:solidFill>
                  <a:srgbClr val="772F28"/>
                </a:solidFill>
              </a:rPr>
              <a:t>Cloud, Data Deluge, Big Data</a:t>
            </a:r>
            <a:r>
              <a:rPr lang="en-US" sz="3200" b="1" dirty="0">
                <a:solidFill>
                  <a:srgbClr val="772F28"/>
                </a:solidFill>
              </a:rPr>
              <a:t>, </a:t>
            </a:r>
            <a:r>
              <a:rPr lang="en-US" sz="3200" b="1" dirty="0" err="1">
                <a:solidFill>
                  <a:srgbClr val="772F28"/>
                </a:solidFill>
              </a:rPr>
              <a:t>etc</a:t>
            </a:r>
            <a:r>
              <a:rPr lang="en-US" sz="3200" b="1" dirty="0">
                <a:solidFill>
                  <a:srgbClr val="772F28"/>
                </a:solidFill>
              </a:rPr>
              <a:t>…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C33A034-B0FC-8AF8-5B78-0D82146FDC0E}"/>
              </a:ext>
            </a:extLst>
          </p:cNvPr>
          <p:cNvSpPr txBox="1"/>
          <p:nvPr/>
        </p:nvSpPr>
        <p:spPr>
          <a:xfrm>
            <a:off x="0" y="6657945"/>
            <a:ext cx="642158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/>
              <a:t>ADAPTADO de: https://peterjamesthomas.com/wp-content/uploads/2018/02/a-brief-history-of-databases.pdfCentury. Harvard Business Review , v.1, p. 70-77, 2012.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19CD03DF-F285-2683-B799-E5F535C56674}"/>
              </a:ext>
            </a:extLst>
          </p:cNvPr>
          <p:cNvSpPr/>
          <p:nvPr/>
        </p:nvSpPr>
        <p:spPr>
          <a:xfrm>
            <a:off x="11108557" y="1471172"/>
            <a:ext cx="245243" cy="938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AD211A1-70C9-4B79-0B13-280E9325E3C4}"/>
              </a:ext>
            </a:extLst>
          </p:cNvPr>
          <p:cNvSpPr txBox="1"/>
          <p:nvPr/>
        </p:nvSpPr>
        <p:spPr>
          <a:xfrm rot="16200000">
            <a:off x="10675259" y="5962321"/>
            <a:ext cx="122196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D9680D"/>
                </a:solidFill>
              </a:rPr>
              <a:t>NewSQL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5A4D55D-870B-8F1F-77AC-A60DBB3E882E}"/>
              </a:ext>
            </a:extLst>
          </p:cNvPr>
          <p:cNvSpPr txBox="1"/>
          <p:nvPr/>
        </p:nvSpPr>
        <p:spPr>
          <a:xfrm rot="16200000">
            <a:off x="10229378" y="4271056"/>
            <a:ext cx="205344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72F28"/>
                </a:solidFill>
              </a:rPr>
              <a:t>NoSQL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60E7D2F-FF99-0719-DE2D-33631795156C}"/>
              </a:ext>
            </a:extLst>
          </p:cNvPr>
          <p:cNvSpPr txBox="1"/>
          <p:nvPr/>
        </p:nvSpPr>
        <p:spPr>
          <a:xfrm rot="16200000">
            <a:off x="10167668" y="2155902"/>
            <a:ext cx="21768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287082"/>
                </a:solidFill>
              </a:rPr>
              <a:t>SQL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EC5F61C-88DA-3B44-2332-5B05C9FBBE31}"/>
              </a:ext>
            </a:extLst>
          </p:cNvPr>
          <p:cNvSpPr txBox="1"/>
          <p:nvPr/>
        </p:nvSpPr>
        <p:spPr>
          <a:xfrm rot="16200000">
            <a:off x="10834060" y="605469"/>
            <a:ext cx="8635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285EA6"/>
                </a:solidFill>
              </a:rPr>
              <a:t>Legado</a:t>
            </a:r>
          </a:p>
        </p:txBody>
      </p:sp>
    </p:spTree>
    <p:extLst>
      <p:ext uri="{BB962C8B-B14F-4D97-AF65-F5344CB8AC3E}">
        <p14:creationId xmlns:p14="http://schemas.microsoft.com/office/powerpoint/2010/main" val="27852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EE6E9450-F938-E86F-29A6-3C7992C572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783" t="6073" r="2542" b="4028"/>
          <a:stretch/>
        </p:blipFill>
        <p:spPr>
          <a:xfrm>
            <a:off x="7282274" y="1492450"/>
            <a:ext cx="4593347" cy="43074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F6E29FD-7818-D592-7633-1CD14AC7F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Revisão</a:t>
            </a:r>
            <a:r>
              <a:rPr lang="en-US" b="1" dirty="0"/>
              <a:t>…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813206-5546-82D3-81C4-013519F9C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 fontScale="92500" lnSpcReduction="10000"/>
          </a:bodyPr>
          <a:lstStyle/>
          <a:p>
            <a:r>
              <a:rPr lang="pt-BR" b="1" dirty="0"/>
              <a:t>SGBDR relacionais são maduros e oferecem:</a:t>
            </a:r>
          </a:p>
          <a:p>
            <a:pPr lvl="1"/>
            <a:r>
              <a:rPr lang="pt-BR" dirty="0"/>
              <a:t>Confiabilidade e robustez.</a:t>
            </a:r>
          </a:p>
          <a:p>
            <a:pPr lvl="1"/>
            <a:r>
              <a:rPr lang="pt-BR" dirty="0"/>
              <a:t>Armazenamento e acesso seguros para grandes </a:t>
            </a:r>
            <a:br>
              <a:rPr lang="pt-BR" dirty="0"/>
            </a:br>
            <a:r>
              <a:rPr lang="pt-BR" dirty="0"/>
              <a:t>massas de dados. </a:t>
            </a:r>
          </a:p>
          <a:p>
            <a:pPr lvl="1"/>
            <a:r>
              <a:rPr lang="pt-BR" dirty="0"/>
              <a:t>Modelo relacional, álgebra consistente e linguagem SQL.</a:t>
            </a:r>
          </a:p>
          <a:p>
            <a:pPr lvl="1"/>
            <a:r>
              <a:rPr lang="pt-BR" dirty="0"/>
              <a:t>Garantias transacionais, concorrência, propriedades ACID.</a:t>
            </a:r>
          </a:p>
          <a:p>
            <a:r>
              <a:rPr lang="pt-BR" b="1" dirty="0" err="1"/>
              <a:t>NoSQL</a:t>
            </a:r>
            <a:r>
              <a:rPr lang="pt-BR" b="1" dirty="0"/>
              <a:t> são escaláveis, tem ótimo desempenho:</a:t>
            </a:r>
            <a:r>
              <a:rPr lang="pt-BR" dirty="0"/>
              <a:t> </a:t>
            </a:r>
          </a:p>
          <a:p>
            <a:pPr lvl="1"/>
            <a:r>
              <a:rPr lang="pt-BR" dirty="0"/>
              <a:t>Bom para ambientes distribuídos, Big Data e web apps;</a:t>
            </a:r>
          </a:p>
          <a:p>
            <a:pPr lvl="1"/>
            <a:r>
              <a:rPr lang="pt-BR" dirty="0"/>
              <a:t>Não demandam </a:t>
            </a:r>
            <a:r>
              <a:rPr lang="pt-BR" i="1" dirty="0" err="1"/>
              <a:t>schemas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Simples de usar e de programar (API). </a:t>
            </a:r>
          </a:p>
          <a:p>
            <a:r>
              <a:rPr lang="pt-BR" b="1" dirty="0"/>
              <a:t>Problemas em ambos</a:t>
            </a:r>
          </a:p>
          <a:p>
            <a:pPr lvl="1"/>
            <a:r>
              <a:rPr lang="pt-BR" dirty="0" err="1"/>
              <a:t>SGBDr</a:t>
            </a:r>
            <a:r>
              <a:rPr lang="pt-BR" dirty="0"/>
              <a:t> tem problemas de escalabilidade e distribuição </a:t>
            </a:r>
            <a:br>
              <a:rPr lang="pt-BR" dirty="0"/>
            </a:br>
            <a:r>
              <a:rPr lang="pt-BR" dirty="0"/>
              <a:t>de dados.</a:t>
            </a:r>
          </a:p>
          <a:p>
            <a:pPr lvl="1"/>
            <a:r>
              <a:rPr lang="pt-BR" dirty="0" err="1"/>
              <a:t>NoSQL</a:t>
            </a:r>
            <a:r>
              <a:rPr lang="pt-BR" dirty="0"/>
              <a:t> tem problemas de consistência de dados.</a:t>
            </a:r>
          </a:p>
          <a:p>
            <a:pPr lvl="1"/>
            <a:endParaRPr lang="pt-BR" b="1" dirty="0"/>
          </a:p>
          <a:p>
            <a:pPr lvl="1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E12E22B-15C2-F41D-4B94-F5CB445D194E}"/>
              </a:ext>
            </a:extLst>
          </p:cNvPr>
          <p:cNvSpPr txBox="1"/>
          <p:nvPr/>
        </p:nvSpPr>
        <p:spPr>
          <a:xfrm>
            <a:off x="6854882" y="6492875"/>
            <a:ext cx="4850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dirty="0"/>
              <a:t>ADAPTADO DE “OLTP </a:t>
            </a:r>
            <a:r>
              <a:rPr lang="pt-BR" sz="900" dirty="0" err="1"/>
              <a:t>Through</a:t>
            </a:r>
            <a:r>
              <a:rPr lang="pt-BR" sz="900" dirty="0"/>
              <a:t> </a:t>
            </a:r>
            <a:r>
              <a:rPr lang="pt-BR" sz="900" dirty="0" err="1"/>
              <a:t>the</a:t>
            </a:r>
            <a:r>
              <a:rPr lang="pt-BR" sz="900" dirty="0"/>
              <a:t> Looking Glass, </a:t>
            </a:r>
            <a:r>
              <a:rPr lang="pt-BR" sz="900" dirty="0" err="1"/>
              <a:t>and</a:t>
            </a:r>
            <a:r>
              <a:rPr lang="pt-BR" sz="900" dirty="0"/>
              <a:t> </a:t>
            </a:r>
            <a:r>
              <a:rPr lang="pt-BR" sz="900" dirty="0" err="1"/>
              <a:t>What</a:t>
            </a:r>
            <a:r>
              <a:rPr lang="pt-BR" sz="900" dirty="0"/>
              <a:t> </a:t>
            </a:r>
            <a:r>
              <a:rPr lang="pt-BR" sz="900" dirty="0" err="1"/>
              <a:t>We</a:t>
            </a:r>
            <a:r>
              <a:rPr lang="pt-BR" sz="900" dirty="0"/>
              <a:t> </a:t>
            </a:r>
            <a:r>
              <a:rPr lang="pt-BR" sz="900" dirty="0" err="1"/>
              <a:t>Found</a:t>
            </a:r>
            <a:r>
              <a:rPr lang="pt-BR" sz="900" dirty="0"/>
              <a:t> </a:t>
            </a:r>
            <a:r>
              <a:rPr lang="pt-BR" sz="900" dirty="0" err="1"/>
              <a:t>There</a:t>
            </a:r>
            <a:r>
              <a:rPr lang="pt-BR" sz="900" dirty="0"/>
              <a:t> “</a:t>
            </a:r>
          </a:p>
          <a:p>
            <a:r>
              <a:rPr lang="pt-BR" sz="900" dirty="0" err="1"/>
              <a:t>Stavros</a:t>
            </a:r>
            <a:r>
              <a:rPr lang="pt-BR" sz="900" dirty="0"/>
              <a:t> </a:t>
            </a:r>
            <a:r>
              <a:rPr lang="pt-BR" sz="900" dirty="0" err="1"/>
              <a:t>Harizopoulos</a:t>
            </a:r>
            <a:r>
              <a:rPr lang="pt-BR" sz="900" dirty="0"/>
              <a:t>, Daniel </a:t>
            </a:r>
            <a:r>
              <a:rPr lang="pt-BR" sz="900" dirty="0" err="1"/>
              <a:t>Abadi</a:t>
            </a:r>
            <a:r>
              <a:rPr lang="pt-BR" sz="900" dirty="0"/>
              <a:t>, Samuel Madden, </a:t>
            </a:r>
            <a:r>
              <a:rPr lang="pt-BR" sz="900" dirty="0" err="1"/>
              <a:t>and</a:t>
            </a:r>
            <a:r>
              <a:rPr lang="pt-BR" sz="900" dirty="0"/>
              <a:t> Michael </a:t>
            </a:r>
            <a:r>
              <a:rPr lang="pt-BR" sz="900" dirty="0" err="1"/>
              <a:t>Stonebraker</a:t>
            </a:r>
            <a:r>
              <a:rPr lang="pt-BR" sz="900" dirty="0"/>
              <a:t> ACM SIGMOD 2008.</a:t>
            </a:r>
            <a:endParaRPr lang="en-US" sz="900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7EC00EBA-DED2-9C81-7E5D-BF7D291300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44" t="6073" r="57522" b="4028"/>
          <a:stretch/>
        </p:blipFill>
        <p:spPr>
          <a:xfrm>
            <a:off x="10744037" y="5011562"/>
            <a:ext cx="1292772" cy="15765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54A0AB5C-87AE-D14A-BBD9-BD1A23345CE8}"/>
              </a:ext>
            </a:extLst>
          </p:cNvPr>
          <p:cNvCxnSpPr/>
          <p:nvPr/>
        </p:nvCxnSpPr>
        <p:spPr>
          <a:xfrm flipV="1">
            <a:off x="7637904" y="4004441"/>
            <a:ext cx="1789875" cy="746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FE475EB6-FB96-530F-51F8-D6F2A3B6AC70}"/>
              </a:ext>
            </a:extLst>
          </p:cNvPr>
          <p:cNvCxnSpPr>
            <a:cxnSpLocks/>
          </p:cNvCxnSpPr>
          <p:nvPr/>
        </p:nvCxnSpPr>
        <p:spPr>
          <a:xfrm flipV="1">
            <a:off x="6917945" y="3949995"/>
            <a:ext cx="2509834" cy="1024580"/>
          </a:xfrm>
          <a:prstGeom prst="line">
            <a:avLst/>
          </a:prstGeom>
          <a:ln w="3492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154C9B52-89C2-CDDD-6BAD-0E3F8612F4CB}"/>
              </a:ext>
            </a:extLst>
          </p:cNvPr>
          <p:cNvCxnSpPr>
            <a:cxnSpLocks/>
          </p:cNvCxnSpPr>
          <p:nvPr/>
        </p:nvCxnSpPr>
        <p:spPr>
          <a:xfrm flipV="1">
            <a:off x="8189389" y="3972790"/>
            <a:ext cx="1186148" cy="2353498"/>
          </a:xfrm>
          <a:prstGeom prst="line">
            <a:avLst/>
          </a:prstGeom>
          <a:ln w="3492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613832F2-67C0-6526-3014-31A55CB18473}"/>
              </a:ext>
            </a:extLst>
          </p:cNvPr>
          <p:cNvSpPr txBox="1"/>
          <p:nvPr/>
        </p:nvSpPr>
        <p:spPr>
          <a:xfrm>
            <a:off x="7303714" y="5109511"/>
            <a:ext cx="8334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Useful 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work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E81A243-B175-150A-9E8D-EBEF13BA7474}"/>
              </a:ext>
            </a:extLst>
          </p:cNvPr>
          <p:cNvSpPr txBox="1"/>
          <p:nvPr/>
        </p:nvSpPr>
        <p:spPr>
          <a:xfrm>
            <a:off x="9279916" y="5831508"/>
            <a:ext cx="128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TPC-C benchmark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3F51AC-C3EB-D30D-BCF6-4E7135106E1C}"/>
              </a:ext>
            </a:extLst>
          </p:cNvPr>
          <p:cNvSpPr txBox="1"/>
          <p:nvPr/>
        </p:nvSpPr>
        <p:spPr>
          <a:xfrm>
            <a:off x="7974469" y="436335"/>
            <a:ext cx="37165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chemeClr val="accent2">
                    <a:lumMod val="75000"/>
                  </a:schemeClr>
                </a:solidFill>
              </a:rPr>
              <a:t>Novos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2">
                    <a:lumMod val="75000"/>
                  </a:schemeClr>
                </a:solidFill>
              </a:rPr>
              <a:t>tipos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 de SGBD ??</a:t>
            </a:r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11CB4098-BA87-16C9-4A12-18E70FA16618}"/>
              </a:ext>
            </a:extLst>
          </p:cNvPr>
          <p:cNvSpPr/>
          <p:nvPr/>
        </p:nvSpPr>
        <p:spPr>
          <a:xfrm rot="16200000">
            <a:off x="9439263" y="948072"/>
            <a:ext cx="461665" cy="484632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656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852339-6B10-4384-8B66-E7113C941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NewSQL = SQL + NoSQL ! </a:t>
            </a:r>
          </a:p>
        </p:txBody>
      </p:sp>
      <p:graphicFrame>
        <p:nvGraphicFramePr>
          <p:cNvPr id="9" name="Espaço Reservado para Conteúdo 8">
            <a:extLst>
              <a:ext uri="{FF2B5EF4-FFF2-40B4-BE49-F238E27FC236}">
                <a16:creationId xmlns:a16="http://schemas.microsoft.com/office/drawing/2014/main" id="{C496F22A-21F4-FCCC-8DFC-F7B5E52E26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9933840"/>
              </p:ext>
            </p:extLst>
          </p:nvPr>
        </p:nvGraphicFramePr>
        <p:xfrm>
          <a:off x="152400" y="1690688"/>
          <a:ext cx="11824447" cy="4413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079">
                  <a:extLst>
                    <a:ext uri="{9D8B030D-6E8A-4147-A177-3AD203B41FA5}">
                      <a16:colId xmlns:a16="http://schemas.microsoft.com/office/drawing/2014/main" val="1042534478"/>
                    </a:ext>
                  </a:extLst>
                </a:gridCol>
                <a:gridCol w="2443696">
                  <a:extLst>
                    <a:ext uri="{9D8B030D-6E8A-4147-A177-3AD203B41FA5}">
                      <a16:colId xmlns:a16="http://schemas.microsoft.com/office/drawing/2014/main" val="3005902449"/>
                    </a:ext>
                  </a:extLst>
                </a:gridCol>
                <a:gridCol w="2664066">
                  <a:extLst>
                    <a:ext uri="{9D8B030D-6E8A-4147-A177-3AD203B41FA5}">
                      <a16:colId xmlns:a16="http://schemas.microsoft.com/office/drawing/2014/main" val="275591685"/>
                    </a:ext>
                  </a:extLst>
                </a:gridCol>
                <a:gridCol w="3672606">
                  <a:extLst>
                    <a:ext uri="{9D8B030D-6E8A-4147-A177-3AD203B41FA5}">
                      <a16:colId xmlns:a16="http://schemas.microsoft.com/office/drawing/2014/main" val="1040768299"/>
                    </a:ext>
                  </a:extLst>
                </a:gridCol>
              </a:tblGrid>
              <a:tr h="354633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Característica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SQL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NewSQL</a:t>
                      </a: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1881436"/>
                  </a:ext>
                </a:extLst>
              </a:tr>
              <a:tr h="319471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Modelo</a:t>
                      </a:r>
                      <a:r>
                        <a:rPr lang="en-US" dirty="0"/>
                        <a:t> de dados </a:t>
                      </a:r>
                      <a:r>
                        <a:rPr lang="en-US" dirty="0" err="1"/>
                        <a:t>relacional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Não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Sim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4920"/>
                  </a:ext>
                </a:extLst>
              </a:tr>
              <a:tr h="312299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Suporta</a:t>
                      </a:r>
                      <a:r>
                        <a:rPr lang="en-US" dirty="0"/>
                        <a:t> </a:t>
                      </a:r>
                      <a:r>
                        <a:rPr lang="en-US" i="1" dirty="0"/>
                        <a:t>schema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dinâmico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Não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Não</a:t>
                      </a:r>
                      <a:r>
                        <a:rPr lang="en-US" dirty="0"/>
                        <a:t>/Sim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249256"/>
                  </a:ext>
                </a:extLst>
              </a:tr>
              <a:tr h="612106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Propriedades</a:t>
                      </a:r>
                      <a:r>
                        <a:rPr lang="en-US" dirty="0"/>
                        <a:t> ACID (</a:t>
                      </a:r>
                      <a:r>
                        <a:rPr lang="en-US" dirty="0" err="1"/>
                        <a:t>consistência</a:t>
                      </a:r>
                      <a:r>
                        <a:rPr lang="en-US" dirty="0"/>
                        <a:t> forte)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Não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Teorema</a:t>
                      </a:r>
                      <a:r>
                        <a:rPr lang="en-US" dirty="0"/>
                        <a:t> 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Sim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002706"/>
                  </a:ext>
                </a:extLst>
              </a:tr>
              <a:tr h="155944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Linguagem</a:t>
                      </a:r>
                      <a:r>
                        <a:rPr lang="en-US" dirty="0"/>
                        <a:t> de consulta 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Não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Sim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719341"/>
                  </a:ext>
                </a:extLst>
              </a:tr>
              <a:tr h="354633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Escalabilidade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Vertical (high-end)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Horizontal (cluster)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Vertical + Horizontal (by design)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575035"/>
                  </a:ext>
                </a:extLst>
              </a:tr>
              <a:tr h="354633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Distribuição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Sim (</a:t>
                      </a:r>
                      <a:r>
                        <a:rPr lang="en-US" dirty="0" err="1"/>
                        <a:t>BDDr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Sim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697863"/>
                  </a:ext>
                </a:extLst>
              </a:tr>
              <a:tr h="288991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Suporta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consultas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complexas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Sim, </a:t>
                      </a:r>
                      <a:r>
                        <a:rPr lang="en-US" dirty="0" err="1"/>
                        <a:t>Não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tão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bom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Sim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827073"/>
                  </a:ext>
                </a:extLst>
              </a:tr>
              <a:tr h="406245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Suporta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ecosistema</a:t>
                      </a:r>
                      <a:r>
                        <a:rPr lang="en-US" dirty="0"/>
                        <a:t> Big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Tabelas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externas</a:t>
                      </a:r>
                      <a:r>
                        <a:rPr lang="en-US" dirty="0"/>
                        <a:t>(HDFS)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Integração</a:t>
                      </a:r>
                      <a:r>
                        <a:rPr lang="en-US" dirty="0"/>
                        <a:t> com Hadoop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Integração</a:t>
                      </a:r>
                      <a:r>
                        <a:rPr lang="en-US" dirty="0"/>
                        <a:t> com Hadoop 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503555"/>
                  </a:ext>
                </a:extLst>
              </a:tr>
              <a:tr h="3058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Workload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OLTP </a:t>
                      </a:r>
                      <a:r>
                        <a:rPr lang="en-US" dirty="0" err="1"/>
                        <a:t>ou</a:t>
                      </a:r>
                      <a:r>
                        <a:rPr lang="en-US" dirty="0"/>
                        <a:t> OLAP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OLTP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OLTP + OLAP + </a:t>
                      </a:r>
                      <a:r>
                        <a:rPr lang="en-US" b="1" dirty="0">
                          <a:solidFill>
                            <a:srgbClr val="772F28"/>
                          </a:solidFill>
                        </a:rPr>
                        <a:t>HTAP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4614591"/>
                  </a:ext>
                </a:extLst>
              </a:tr>
              <a:tr h="44059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NewSQL </a:t>
                      </a:r>
                      <a:r>
                        <a:rPr lang="en-US" sz="1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oferece</a:t>
                      </a:r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a </a:t>
                      </a:r>
                      <a:r>
                        <a:rPr lang="en-US" sz="1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escalabilidade</a:t>
                      </a:r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e </a:t>
                      </a:r>
                      <a:r>
                        <a:rPr lang="en-US" sz="1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desempenho</a:t>
                      </a:r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do NoSQL e </a:t>
                      </a:r>
                      <a:r>
                        <a:rPr lang="en-US" sz="1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mantém</a:t>
                      </a:r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as </a:t>
                      </a:r>
                      <a:r>
                        <a:rPr lang="en-US" sz="1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transações</a:t>
                      </a:r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consistência</a:t>
                      </a:r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e </a:t>
                      </a:r>
                      <a:r>
                        <a:rPr lang="en-US" sz="1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confiabilidade</a:t>
                      </a:r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 do SQL</a:t>
                      </a: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>
                          <a:solidFill>
                            <a:srgbClr val="772F28"/>
                          </a:solidFill>
                        </a:rPr>
                        <a:t>Temos</a:t>
                      </a:r>
                      <a:r>
                        <a:rPr lang="en-US" b="1" dirty="0">
                          <a:solidFill>
                            <a:srgbClr val="772F28"/>
                          </a:solidFill>
                        </a:rPr>
                        <a:t> a </a:t>
                      </a:r>
                      <a:r>
                        <a:rPr lang="en-US" b="1" dirty="0" err="1">
                          <a:solidFill>
                            <a:srgbClr val="772F28"/>
                          </a:solidFill>
                        </a:rPr>
                        <a:t>escalabilidade</a:t>
                      </a:r>
                      <a:r>
                        <a:rPr lang="en-US" b="1" dirty="0">
                          <a:solidFill>
                            <a:srgbClr val="772F28"/>
                          </a:solidFill>
                        </a:rPr>
                        <a:t> e </a:t>
                      </a:r>
                      <a:r>
                        <a:rPr lang="en-US" b="1" dirty="0" err="1">
                          <a:solidFill>
                            <a:srgbClr val="772F28"/>
                          </a:solidFill>
                        </a:rPr>
                        <a:t>desempenho</a:t>
                      </a:r>
                      <a:r>
                        <a:rPr lang="en-US" b="1" dirty="0">
                          <a:solidFill>
                            <a:srgbClr val="772F28"/>
                          </a:solidFill>
                        </a:rPr>
                        <a:t> do NoSQL com a </a:t>
                      </a:r>
                      <a:r>
                        <a:rPr lang="en-US" b="1" dirty="0" err="1">
                          <a:solidFill>
                            <a:srgbClr val="772F28"/>
                          </a:solidFill>
                        </a:rPr>
                        <a:t>transções</a:t>
                      </a:r>
                      <a:r>
                        <a:rPr lang="en-US" b="1" dirty="0">
                          <a:solidFill>
                            <a:srgbClr val="772F28"/>
                          </a:solidFill>
                        </a:rPr>
                        <a:t> e </a:t>
                      </a:r>
                      <a:r>
                        <a:rPr lang="en-US" b="1" dirty="0" err="1">
                          <a:solidFill>
                            <a:srgbClr val="772F28"/>
                          </a:solidFill>
                        </a:rPr>
                        <a:t>confiabilidade</a:t>
                      </a:r>
                      <a:r>
                        <a:rPr lang="en-US" b="1" dirty="0">
                          <a:solidFill>
                            <a:srgbClr val="772F28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263986"/>
                  </a:ext>
                </a:extLst>
              </a:tr>
            </a:tbl>
          </a:graphicData>
        </a:graphic>
      </p:graphicFrame>
      <p:sp>
        <p:nvSpPr>
          <p:cNvPr id="30" name="CaixaDeTexto 29">
            <a:extLst>
              <a:ext uri="{FF2B5EF4-FFF2-40B4-BE49-F238E27FC236}">
                <a16:creationId xmlns:a16="http://schemas.microsoft.com/office/drawing/2014/main" id="{DE568E7A-A716-FF56-3646-0DC319782C1F}"/>
              </a:ext>
            </a:extLst>
          </p:cNvPr>
          <p:cNvSpPr txBox="1"/>
          <p:nvPr/>
        </p:nvSpPr>
        <p:spPr>
          <a:xfrm>
            <a:off x="6858000" y="6627168"/>
            <a:ext cx="534991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ADAPTADO de </a:t>
            </a:r>
            <a:r>
              <a:rPr lang="en-US" sz="900" dirty="0" err="1"/>
              <a:t>Valduriez</a:t>
            </a:r>
            <a:r>
              <a:rPr lang="en-US" sz="900" dirty="0"/>
              <a:t>, P. (2020),, SBBD “Principles of Distributed Database Systems: spotlight on NewSQL”, </a:t>
            </a:r>
          </a:p>
        </p:txBody>
      </p:sp>
    </p:spTree>
    <p:extLst>
      <p:ext uri="{BB962C8B-B14F-4D97-AF65-F5344CB8AC3E}">
        <p14:creationId xmlns:p14="http://schemas.microsoft.com/office/powerpoint/2010/main" val="1225050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2797DC-BE6F-1C9C-F220-2D057EFC7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Principais</a:t>
            </a:r>
            <a:r>
              <a:rPr lang="en-US" b="1" dirty="0"/>
              <a:t> </a:t>
            </a:r>
            <a:r>
              <a:rPr lang="en-US" b="1" dirty="0" err="1"/>
              <a:t>técnicas</a:t>
            </a:r>
            <a:r>
              <a:rPr lang="en-US" b="1" dirty="0"/>
              <a:t> de BD </a:t>
            </a:r>
            <a:r>
              <a:rPr lang="en-US" b="1" dirty="0" err="1"/>
              <a:t>presentes</a:t>
            </a:r>
            <a:r>
              <a:rPr lang="en-US" b="1" dirty="0"/>
              <a:t> </a:t>
            </a:r>
            <a:r>
              <a:rPr lang="en-US" b="1" dirty="0" err="1"/>
              <a:t>nos</a:t>
            </a:r>
            <a:r>
              <a:rPr lang="en-US" b="1" dirty="0"/>
              <a:t> </a:t>
            </a:r>
            <a:r>
              <a:rPr lang="en-US" b="1" dirty="0" err="1"/>
              <a:t>sistemas</a:t>
            </a:r>
            <a:r>
              <a:rPr lang="en-US" b="1" dirty="0"/>
              <a:t> NewSQL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EB5076-88D0-C72C-3175-DE4BDBC2B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b="1" dirty="0"/>
              <a:t>Técnicas oriundas do </a:t>
            </a:r>
            <a:r>
              <a:rPr lang="pt-BR" b="1" dirty="0" err="1"/>
              <a:t>SGBDr</a:t>
            </a:r>
            <a:endParaRPr lang="pt-BR" b="1" dirty="0"/>
          </a:p>
          <a:p>
            <a:pPr lvl="1"/>
            <a:r>
              <a:rPr lang="pt-BR" dirty="0"/>
              <a:t>Processamento de consultas em paralelo, </a:t>
            </a:r>
            <a:r>
              <a:rPr lang="pt-BR" i="1" dirty="0" err="1"/>
              <a:t>in-memory</a:t>
            </a:r>
            <a:r>
              <a:rPr lang="pt-BR" dirty="0"/>
              <a:t> e distribuídas</a:t>
            </a:r>
          </a:p>
          <a:p>
            <a:pPr lvl="1"/>
            <a:r>
              <a:rPr lang="pt-BR" dirty="0"/>
              <a:t>Suporte nativo à tolerância a falhas, </a:t>
            </a:r>
            <a:r>
              <a:rPr lang="pt-BR" i="1" dirty="0"/>
              <a:t>cluster </a:t>
            </a:r>
            <a:r>
              <a:rPr lang="pt-BR" i="1" dirty="0" err="1"/>
              <a:t>failover</a:t>
            </a:r>
            <a:r>
              <a:rPr lang="pt-BR" i="1" dirty="0"/>
              <a:t> </a:t>
            </a:r>
            <a:r>
              <a:rPr lang="pt-BR" dirty="0"/>
              <a:t>e replicação síncrona de dados</a:t>
            </a:r>
          </a:p>
          <a:p>
            <a:pPr lvl="1"/>
            <a:r>
              <a:rPr lang="pt-BR" dirty="0"/>
              <a:t>Suporte a </a:t>
            </a:r>
            <a:r>
              <a:rPr lang="pt-BR" i="1" dirty="0"/>
              <a:t>streaming</a:t>
            </a:r>
            <a:r>
              <a:rPr lang="pt-BR" dirty="0"/>
              <a:t> de dados</a:t>
            </a:r>
          </a:p>
          <a:p>
            <a:r>
              <a:rPr lang="pt-BR" b="1" dirty="0"/>
              <a:t>Técnicas oriundas do </a:t>
            </a:r>
            <a:r>
              <a:rPr lang="pt-BR" b="1" dirty="0" err="1"/>
              <a:t>NoSQL</a:t>
            </a:r>
            <a:r>
              <a:rPr lang="pt-BR" b="1" dirty="0"/>
              <a:t> </a:t>
            </a:r>
          </a:p>
          <a:p>
            <a:pPr lvl="1"/>
            <a:r>
              <a:rPr lang="pt-BR" dirty="0"/>
              <a:t>Armazenamento e acesso chave-valor  </a:t>
            </a:r>
          </a:p>
          <a:p>
            <a:pPr lvl="1"/>
            <a:r>
              <a:rPr lang="pt-BR" dirty="0"/>
              <a:t>“Persistência poliglota”, </a:t>
            </a:r>
            <a:r>
              <a:rPr lang="pt-BR" dirty="0" err="1"/>
              <a:t>ex</a:t>
            </a:r>
            <a:r>
              <a:rPr lang="pt-BR" dirty="0"/>
              <a:t>: suporte nativo a JSON </a:t>
            </a:r>
          </a:p>
          <a:p>
            <a:pPr lvl="1"/>
            <a:r>
              <a:rPr lang="pt-BR" dirty="0"/>
              <a:t>Particionamento de dados Horizontal (</a:t>
            </a:r>
            <a:r>
              <a:rPr lang="pt-BR" i="1" dirty="0" err="1"/>
              <a:t>sharding</a:t>
            </a:r>
            <a:r>
              <a:rPr lang="pt-BR" dirty="0"/>
              <a:t>) e Vertical</a:t>
            </a:r>
          </a:p>
          <a:p>
            <a:r>
              <a:rPr lang="pt-BR" b="1" dirty="0">
                <a:solidFill>
                  <a:schemeClr val="accent2">
                    <a:lumMod val="75000"/>
                  </a:schemeClr>
                </a:solidFill>
              </a:rPr>
              <a:t>Novidades do </a:t>
            </a:r>
            <a:r>
              <a:rPr lang="pt-BR" b="1" dirty="0" err="1">
                <a:solidFill>
                  <a:schemeClr val="accent2">
                    <a:lumMod val="75000"/>
                  </a:schemeClr>
                </a:solidFill>
              </a:rPr>
              <a:t>NewSQL</a:t>
            </a:r>
            <a:endParaRPr lang="pt-BR" b="1" dirty="0">
              <a:solidFill>
                <a:schemeClr val="accent2">
                  <a:lumMod val="75000"/>
                </a:schemeClr>
              </a:solidFill>
            </a:endParaRPr>
          </a:p>
          <a:p>
            <a:pPr lvl="1"/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Gerenciamento escalável de transações</a:t>
            </a:r>
          </a:p>
          <a:p>
            <a:pPr lvl="1"/>
            <a:r>
              <a:rPr lang="pt-BR" i="1" dirty="0" err="1">
                <a:solidFill>
                  <a:schemeClr val="accent2">
                    <a:lumMod val="75000"/>
                  </a:schemeClr>
                </a:solidFill>
              </a:rPr>
              <a:t>Polystores</a:t>
            </a:r>
            <a:r>
              <a:rPr lang="pt-BR" i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e</a:t>
            </a:r>
            <a:r>
              <a:rPr lang="pt-BR" i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pt-BR" i="1" dirty="0" err="1">
                <a:solidFill>
                  <a:schemeClr val="accent2">
                    <a:lumMod val="75000"/>
                  </a:schemeClr>
                </a:solidFill>
              </a:rPr>
              <a:t>in-memory</a:t>
            </a:r>
            <a:r>
              <a:rPr lang="pt-BR" i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pt-BR" i="1" dirty="0" err="1">
                <a:solidFill>
                  <a:schemeClr val="accent2">
                    <a:lumMod val="75000"/>
                  </a:schemeClr>
                </a:solidFill>
              </a:rPr>
              <a:t>databases</a:t>
            </a:r>
            <a:endParaRPr lang="pt-BR" i="1" dirty="0">
              <a:solidFill>
                <a:schemeClr val="accent2">
                  <a:lumMod val="75000"/>
                </a:schemeClr>
              </a:solidFill>
            </a:endParaRPr>
          </a:p>
          <a:p>
            <a:pPr lvl="1"/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Acesso aos dados via SQL, </a:t>
            </a:r>
            <a:r>
              <a:rPr lang="pt-BR" dirty="0" err="1">
                <a:solidFill>
                  <a:schemeClr val="accent2">
                    <a:lumMod val="75000"/>
                  </a:schemeClr>
                </a:solidFill>
              </a:rPr>
              <a:t>NoSQL</a:t>
            </a: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 e HDFS</a:t>
            </a:r>
          </a:p>
          <a:p>
            <a:pPr lvl="1"/>
            <a:r>
              <a:rPr lang="pt-BR" b="1" dirty="0">
                <a:solidFill>
                  <a:schemeClr val="accent2">
                    <a:lumMod val="75000"/>
                  </a:schemeClr>
                </a:solidFill>
              </a:rPr>
              <a:t>Processamento HTAP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18EE923A-42EC-B9A6-278B-2EA4544FDD83}"/>
              </a:ext>
            </a:extLst>
          </p:cNvPr>
          <p:cNvGrpSpPr/>
          <p:nvPr/>
        </p:nvGrpSpPr>
        <p:grpSpPr>
          <a:xfrm>
            <a:off x="8238565" y="3358011"/>
            <a:ext cx="3778819" cy="2953889"/>
            <a:chOff x="7339630" y="2791140"/>
            <a:chExt cx="4758435" cy="3620685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0438C40D-0C8B-BE19-6B1B-FF48D074CF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39630" y="2791140"/>
              <a:ext cx="4758435" cy="362068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cxnSp>
          <p:nvCxnSpPr>
            <p:cNvPr id="6" name="Conector de Seta Reta 5">
              <a:extLst>
                <a:ext uri="{FF2B5EF4-FFF2-40B4-BE49-F238E27FC236}">
                  <a16:creationId xmlns:a16="http://schemas.microsoft.com/office/drawing/2014/main" id="{758CC527-8298-F850-2382-D4B8AF3F689C}"/>
                </a:ext>
              </a:extLst>
            </p:cNvPr>
            <p:cNvCxnSpPr>
              <a:cxnSpLocks/>
            </p:cNvCxnSpPr>
            <p:nvPr/>
          </p:nvCxnSpPr>
          <p:spPr>
            <a:xfrm>
              <a:off x="8901953" y="5208494"/>
              <a:ext cx="2115671" cy="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de Seta Reta 6">
              <a:extLst>
                <a:ext uri="{FF2B5EF4-FFF2-40B4-BE49-F238E27FC236}">
                  <a16:creationId xmlns:a16="http://schemas.microsoft.com/office/drawing/2014/main" id="{71F34AC6-1BC0-550D-B5BF-0E0D9097E6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45821" y="5208494"/>
              <a:ext cx="956132" cy="982099"/>
            </a:xfrm>
            <a:prstGeom prst="straightConnector1">
              <a:avLst/>
            </a:prstGeom>
            <a:ln w="317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de Seta Reta 7">
              <a:extLst>
                <a:ext uri="{FF2B5EF4-FFF2-40B4-BE49-F238E27FC236}">
                  <a16:creationId xmlns:a16="http://schemas.microsoft.com/office/drawing/2014/main" id="{AD6A8F6E-5399-D191-8F75-3E506BECB6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12463" y="3121572"/>
              <a:ext cx="0" cy="2086921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CaixaDeTexto 8">
            <a:extLst>
              <a:ext uri="{FF2B5EF4-FFF2-40B4-BE49-F238E27FC236}">
                <a16:creationId xmlns:a16="http://schemas.microsoft.com/office/drawing/2014/main" id="{1AE2BE5A-10F2-3563-9340-654C87BC4BB2}"/>
              </a:ext>
            </a:extLst>
          </p:cNvPr>
          <p:cNvSpPr txBox="1"/>
          <p:nvPr/>
        </p:nvSpPr>
        <p:spPr>
          <a:xfrm>
            <a:off x="6858000" y="6627168"/>
            <a:ext cx="534991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ADAPTADO de </a:t>
            </a:r>
            <a:r>
              <a:rPr lang="en-US" sz="900" dirty="0" err="1"/>
              <a:t>Valduriez</a:t>
            </a:r>
            <a:r>
              <a:rPr lang="en-US" sz="900" dirty="0"/>
              <a:t>, P. (2020),, SBBD “Principles of Distributed Database Systems: spotlight on NewSQL”, </a:t>
            </a:r>
          </a:p>
        </p:txBody>
      </p:sp>
    </p:spTree>
    <p:extLst>
      <p:ext uri="{BB962C8B-B14F-4D97-AF65-F5344CB8AC3E}">
        <p14:creationId xmlns:p14="http://schemas.microsoft.com/office/powerpoint/2010/main" val="2598737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5C49B2-92F4-161C-5F17-4CB55B328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OLTP x OLAP – </a:t>
            </a:r>
            <a:r>
              <a:rPr lang="en-US" b="1" dirty="0" err="1"/>
              <a:t>Arquiteturas</a:t>
            </a:r>
            <a:r>
              <a:rPr lang="en-US" b="1" dirty="0"/>
              <a:t> </a:t>
            </a:r>
            <a:r>
              <a:rPr lang="en-US" b="1" dirty="0" err="1"/>
              <a:t>Tradicionais</a:t>
            </a:r>
            <a:endParaRPr lang="en-US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AA5A18-D24A-224F-4684-B7C3042C8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b="1" dirty="0"/>
              <a:t>Problemas</a:t>
            </a:r>
          </a:p>
          <a:p>
            <a:pPr lvl="1"/>
            <a:r>
              <a:rPr lang="pt-BR" b="1" dirty="0"/>
              <a:t>Engenharia de dados é caro! </a:t>
            </a:r>
            <a:r>
              <a:rPr lang="pt-BR" dirty="0"/>
              <a:t>Manutenção dos ambientes e o desenvolvimento de pipelines/soluções ETL/ELT custam ~75% do processo de </a:t>
            </a:r>
            <a:r>
              <a:rPr lang="pt-BR" i="1" dirty="0"/>
              <a:t>data </a:t>
            </a:r>
            <a:r>
              <a:rPr lang="pt-BR" i="1" dirty="0" err="1"/>
              <a:t>analytics</a:t>
            </a:r>
            <a:r>
              <a:rPr lang="pt-BR" dirty="0"/>
              <a:t>.</a:t>
            </a:r>
          </a:p>
          <a:p>
            <a:pPr lvl="1"/>
            <a:r>
              <a:rPr lang="pt-BR" b="1" dirty="0"/>
              <a:t>Consultas OLAP sobre dados legados podem ser um risco para negócios que demandam tomada de decisão em tempo real </a:t>
            </a:r>
            <a:r>
              <a:rPr lang="pt-BR" dirty="0"/>
              <a:t>(</a:t>
            </a:r>
            <a:r>
              <a:rPr lang="pt-BR" dirty="0" err="1"/>
              <a:t>Ex</a:t>
            </a:r>
            <a:r>
              <a:rPr lang="pt-BR" dirty="0"/>
              <a:t>: seguros, fraudes em cartão, petróleo, telemedicina, etc..)</a:t>
            </a:r>
          </a:p>
          <a:p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7AD40D2-705D-AE04-38B5-D463371F9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798" y="1348130"/>
            <a:ext cx="7953815" cy="283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167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A9A4A5-A60A-F2CD-FD4C-088C01BF9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Gartner* (2014) </a:t>
            </a:r>
            <a:r>
              <a:rPr lang="en-US" b="1" dirty="0" err="1"/>
              <a:t>definiu</a:t>
            </a:r>
            <a:r>
              <a:rPr lang="en-US" b="1" dirty="0"/>
              <a:t> HTAP. “</a:t>
            </a:r>
            <a:r>
              <a:rPr lang="en-US" dirty="0"/>
              <a:t>HTAP  </a:t>
            </a:r>
            <a:r>
              <a:rPr lang="pt-BR" dirty="0"/>
              <a:t>é uma arquitetura que </a:t>
            </a:r>
            <a:r>
              <a:rPr lang="pt-BR" b="1" dirty="0"/>
              <a:t>utiliza tecnologias de computação em memória </a:t>
            </a:r>
            <a:r>
              <a:rPr lang="pt-BR" dirty="0"/>
              <a:t>para permitir o </a:t>
            </a:r>
            <a:r>
              <a:rPr lang="pt-BR" b="1" dirty="0"/>
              <a:t>processamento analítico e transacional simultâneos </a:t>
            </a:r>
            <a:r>
              <a:rPr lang="pt-BR" dirty="0"/>
              <a:t>no mesmo armazenamento de dados em memória”.</a:t>
            </a:r>
          </a:p>
          <a:p>
            <a:r>
              <a:rPr lang="pt-BR" b="1" dirty="0"/>
              <a:t>Gartner** (2018) estendeu </a:t>
            </a:r>
            <a:r>
              <a:rPr lang="pt-BR" dirty="0"/>
              <a:t>o conceito para "</a:t>
            </a:r>
            <a:r>
              <a:rPr lang="pt-BR" b="1" dirty="0" err="1"/>
              <a:t>In-Process</a:t>
            </a:r>
            <a:r>
              <a:rPr lang="pt-BR" b="1" dirty="0"/>
              <a:t> HTAP</a:t>
            </a:r>
            <a:r>
              <a:rPr lang="pt-BR" dirty="0"/>
              <a:t>", uma arquitetura que suporta a combinação de técnicas analíticas e transacionais para apoiar as tarefas de negócios. </a:t>
            </a:r>
          </a:p>
          <a:p>
            <a:pPr lvl="1"/>
            <a:r>
              <a:rPr lang="pt-BR" dirty="0"/>
              <a:t>Na nova definição o </a:t>
            </a:r>
            <a:r>
              <a:rPr lang="pt-BR" b="1" dirty="0"/>
              <a:t>HTAP não está mais limitado às técnicas de computação em memória.</a:t>
            </a:r>
            <a:endParaRPr lang="en-US" b="1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48810E-735B-64BF-5E02-1CACBF719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HTAP (hybrid transactional and analytical processing) = OLTP + OLAP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52D6679-33A7-7048-64C9-26B81A06739C}"/>
              </a:ext>
            </a:extLst>
          </p:cNvPr>
          <p:cNvSpPr txBox="1"/>
          <p:nvPr/>
        </p:nvSpPr>
        <p:spPr>
          <a:xfrm>
            <a:off x="277906" y="6492875"/>
            <a:ext cx="92157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* GARTNER (2014) – Hybrid Transaction/Analytical Processing Will Foster Opportunities For Dramatic Business Innovation. Gartner (2014, January 28), pages 4–20, 2014</a:t>
            </a:r>
          </a:p>
          <a:p>
            <a:r>
              <a:rPr lang="en-US" sz="800" dirty="0"/>
              <a:t>** D. Feinberg. Setting the Record Straight – HTAP OPDBMS, 2018</a:t>
            </a:r>
          </a:p>
        </p:txBody>
      </p:sp>
    </p:spTree>
    <p:extLst>
      <p:ext uri="{BB962C8B-B14F-4D97-AF65-F5344CB8AC3E}">
        <p14:creationId xmlns:p14="http://schemas.microsoft.com/office/powerpoint/2010/main" val="193847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A9A4A5-A60A-F2CD-FD4C-088C01BF9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5624"/>
            <a:ext cx="10515600" cy="4351338"/>
          </a:xfrm>
        </p:spPr>
        <p:txBody>
          <a:bodyPr>
            <a:normAutofit fontScale="92500" lnSpcReduction="10000"/>
          </a:bodyPr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pt-BR" b="1" dirty="0"/>
              <a:t>HTAP elimina a necessidade do ETL e ELT, acelera a análise de dados.</a:t>
            </a:r>
          </a:p>
          <a:p>
            <a:r>
              <a:rPr lang="en-US" b="1" dirty="0" err="1"/>
              <a:t>Vantagens</a:t>
            </a:r>
            <a:r>
              <a:rPr lang="en-US" b="1" dirty="0"/>
              <a:t> HTAP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Armazenar</a:t>
            </a:r>
            <a:r>
              <a:rPr lang="en-US" dirty="0"/>
              <a:t> dados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vários</a:t>
            </a:r>
            <a:r>
              <a:rPr lang="en-US" dirty="0"/>
              <a:t> </a:t>
            </a:r>
            <a:r>
              <a:rPr lang="en-US" dirty="0" err="1"/>
              <a:t>formatos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Redução</a:t>
            </a:r>
            <a:r>
              <a:rPr lang="en-US" dirty="0"/>
              <a:t> de custos </a:t>
            </a:r>
            <a:r>
              <a:rPr lang="en-US" dirty="0" err="1"/>
              <a:t>em</a:t>
            </a:r>
            <a:r>
              <a:rPr lang="en-US" dirty="0"/>
              <a:t> Eng. Dados e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consultas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ambientes </a:t>
            </a:r>
            <a:r>
              <a:rPr lang="en-US" dirty="0" err="1"/>
              <a:t>distintos</a:t>
            </a:r>
            <a:r>
              <a:rPr lang="en-US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Atualização de dados (</a:t>
            </a:r>
            <a:r>
              <a:rPr lang="en-US" b="1" i="1" dirty="0"/>
              <a:t>data freshness)</a:t>
            </a:r>
            <a:r>
              <a:rPr lang="en-US" dirty="0"/>
              <a:t>: </a:t>
            </a:r>
            <a:r>
              <a:rPr lang="en-US" dirty="0" err="1"/>
              <a:t>consultas</a:t>
            </a:r>
            <a:r>
              <a:rPr lang="en-US" dirty="0"/>
              <a:t> de tempo real </a:t>
            </a:r>
            <a:r>
              <a:rPr lang="en-US" dirty="0" err="1"/>
              <a:t>em</a:t>
            </a:r>
            <a:r>
              <a:rPr lang="en-US" dirty="0"/>
              <a:t> “dados </a:t>
            </a:r>
            <a:r>
              <a:rPr lang="en-US" dirty="0" err="1"/>
              <a:t>quentes</a:t>
            </a:r>
            <a:r>
              <a:rPr lang="en-US" dirty="0"/>
              <a:t>”.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48810E-735B-64BF-5E02-1CACBF719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HTAP = OLTP + OLAP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52D6679-33A7-7048-64C9-26B81A06739C}"/>
              </a:ext>
            </a:extLst>
          </p:cNvPr>
          <p:cNvSpPr txBox="1"/>
          <p:nvPr/>
        </p:nvSpPr>
        <p:spPr>
          <a:xfrm>
            <a:off x="277906" y="6492875"/>
            <a:ext cx="92157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* GARTNER (2014) – Hybrid Transaction/Analytical Processing Will Foster Opportunities For Dramatic Business Innovation. Gartner (2014, January 28), pages 4–20, 2014</a:t>
            </a:r>
          </a:p>
          <a:p>
            <a:r>
              <a:rPr lang="en-US" sz="800" dirty="0"/>
              <a:t>** D. Feinberg. Setting the Record Straight – HTAP OPDBMS, 2018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FEC9FA58-5908-A10C-26FA-8BF5F5E94539}"/>
              </a:ext>
            </a:extLst>
          </p:cNvPr>
          <p:cNvGrpSpPr/>
          <p:nvPr/>
        </p:nvGrpSpPr>
        <p:grpSpPr>
          <a:xfrm>
            <a:off x="1891919" y="863171"/>
            <a:ext cx="8525056" cy="3012779"/>
            <a:chOff x="1923450" y="755782"/>
            <a:chExt cx="8525056" cy="3012779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5E51FEB1-E004-1EE4-6285-C20194E8C9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32073" y="1386979"/>
              <a:ext cx="8116433" cy="238158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DC79EE80-2B6A-9ACB-4C8A-879B0E94041E}"/>
                </a:ext>
              </a:extLst>
            </p:cNvPr>
            <p:cNvSpPr txBox="1"/>
            <p:nvPr/>
          </p:nvSpPr>
          <p:spPr>
            <a:xfrm>
              <a:off x="1923450" y="2278953"/>
              <a:ext cx="3266087" cy="369332"/>
            </a:xfrm>
            <a:prstGeom prst="rect">
              <a:avLst/>
            </a:prstGeom>
            <a:ln w="2857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5C7EC"/>
                  </a:solidFill>
                </a:rPr>
                <a:t>SQL </a:t>
              </a:r>
              <a:r>
                <a:rPr lang="en-US" b="1" dirty="0" err="1">
                  <a:solidFill>
                    <a:srgbClr val="75C7EC"/>
                  </a:solidFill>
                </a:rPr>
                <a:t>nas</a:t>
              </a:r>
              <a:r>
                <a:rPr lang="en-US" b="1" dirty="0">
                  <a:solidFill>
                    <a:srgbClr val="75C7EC"/>
                  </a:solidFill>
                </a:rPr>
                <a:t> </a:t>
              </a:r>
              <a:r>
                <a:rPr lang="en-US" b="1" dirty="0" err="1">
                  <a:solidFill>
                    <a:srgbClr val="75C7EC"/>
                  </a:solidFill>
                </a:rPr>
                <a:t>tuplas</a:t>
              </a:r>
              <a:r>
                <a:rPr lang="en-US" b="1" dirty="0">
                  <a:solidFill>
                    <a:srgbClr val="75C7EC"/>
                  </a:solidFill>
                </a:rPr>
                <a:t> é ideal para OLTP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3AFDE7CF-ED57-4FE2-DFB9-7DF1BF88957E}"/>
                </a:ext>
              </a:extLst>
            </p:cNvPr>
            <p:cNvSpPr txBox="1"/>
            <p:nvPr/>
          </p:nvSpPr>
          <p:spPr>
            <a:xfrm>
              <a:off x="7706842" y="755782"/>
              <a:ext cx="2647071" cy="646331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b="1" dirty="0" err="1">
                  <a:solidFill>
                    <a:srgbClr val="FF0000"/>
                  </a:solidFill>
                </a:rPr>
                <a:t>Armazenamento</a:t>
              </a:r>
              <a:r>
                <a:rPr lang="en-US" b="1" dirty="0">
                  <a:solidFill>
                    <a:srgbClr val="FF0000"/>
                  </a:solidFill>
                </a:rPr>
                <a:t> </a:t>
              </a:r>
              <a:r>
                <a:rPr lang="en-US" b="1" dirty="0" err="1">
                  <a:solidFill>
                    <a:srgbClr val="FF0000"/>
                  </a:solidFill>
                </a:rPr>
                <a:t>em</a:t>
              </a:r>
              <a:r>
                <a:rPr lang="en-US" b="1" dirty="0">
                  <a:solidFill>
                    <a:srgbClr val="FF0000"/>
                  </a:solidFill>
                </a:rPr>
                <a:t> </a:t>
              </a:r>
            </a:p>
            <a:p>
              <a:r>
                <a:rPr lang="en-US" b="1" dirty="0" err="1">
                  <a:solidFill>
                    <a:srgbClr val="FF0000"/>
                  </a:solidFill>
                </a:rPr>
                <a:t>colunas</a:t>
              </a:r>
              <a:r>
                <a:rPr lang="en-US" b="1" dirty="0">
                  <a:solidFill>
                    <a:srgbClr val="FF0000"/>
                  </a:solidFill>
                </a:rPr>
                <a:t> é ideal para OLAP</a:t>
              </a:r>
            </a:p>
          </p:txBody>
        </p:sp>
      </p:grpSp>
      <p:sp>
        <p:nvSpPr>
          <p:cNvPr id="4" name="Retângulo 3">
            <a:extLst>
              <a:ext uri="{FF2B5EF4-FFF2-40B4-BE49-F238E27FC236}">
                <a16:creationId xmlns:a16="http://schemas.microsoft.com/office/drawing/2014/main" id="{D6DA4354-DC52-DC4C-1F09-0A65703B8E6F}"/>
              </a:ext>
            </a:extLst>
          </p:cNvPr>
          <p:cNvSpPr/>
          <p:nvPr/>
        </p:nvSpPr>
        <p:spPr>
          <a:xfrm>
            <a:off x="8387256" y="2932386"/>
            <a:ext cx="168165" cy="13705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FDE49A6-BE47-51C1-8ED7-EF1BE0477812}"/>
              </a:ext>
            </a:extLst>
          </p:cNvPr>
          <p:cNvSpPr/>
          <p:nvPr/>
        </p:nvSpPr>
        <p:spPr>
          <a:xfrm>
            <a:off x="8660525" y="2943107"/>
            <a:ext cx="168165" cy="13705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0A44AC7-A2CE-EFA1-CFF5-6F5155A6E864}"/>
              </a:ext>
            </a:extLst>
          </p:cNvPr>
          <p:cNvSpPr/>
          <p:nvPr/>
        </p:nvSpPr>
        <p:spPr>
          <a:xfrm>
            <a:off x="8914763" y="2943107"/>
            <a:ext cx="168165" cy="13705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5BA1D3E-F6FE-EE27-05E0-E69907E06BDD}"/>
              </a:ext>
            </a:extLst>
          </p:cNvPr>
          <p:cNvSpPr/>
          <p:nvPr/>
        </p:nvSpPr>
        <p:spPr>
          <a:xfrm>
            <a:off x="9182394" y="2941592"/>
            <a:ext cx="168165" cy="13705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AFD6F53-C49C-124E-5267-7B4B571A6EE6}"/>
              </a:ext>
            </a:extLst>
          </p:cNvPr>
          <p:cNvSpPr/>
          <p:nvPr/>
        </p:nvSpPr>
        <p:spPr>
          <a:xfrm>
            <a:off x="8914763" y="3088064"/>
            <a:ext cx="168165" cy="516983"/>
          </a:xfrm>
          <a:prstGeom prst="rect">
            <a:avLst/>
          </a:prstGeom>
          <a:solidFill>
            <a:srgbClr val="FF0000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007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779321-C0AD-0DC5-F993-0B373DEBD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Arquitetura</a:t>
            </a:r>
            <a:r>
              <a:rPr lang="en-US" b="1" dirty="0"/>
              <a:t> </a:t>
            </a:r>
            <a:r>
              <a:rPr lang="en-US" b="1" dirty="0" err="1"/>
              <a:t>conceitual</a:t>
            </a:r>
            <a:r>
              <a:rPr lang="en-US" b="1" dirty="0"/>
              <a:t> do NewSQL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619870A-0095-F50F-9E50-25B7E1A9A1BB}"/>
              </a:ext>
            </a:extLst>
          </p:cNvPr>
          <p:cNvSpPr txBox="1"/>
          <p:nvPr/>
        </p:nvSpPr>
        <p:spPr>
          <a:xfrm rot="16200000">
            <a:off x="9043578" y="3614791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ADAPTADO de </a:t>
            </a:r>
            <a:r>
              <a:rPr lang="en-US" sz="1000" dirty="0" err="1"/>
              <a:t>Valdiries</a:t>
            </a:r>
            <a:r>
              <a:rPr lang="en-US" sz="1000" dirty="0"/>
              <a:t>. P (2020) “Principles of Distributed Database Systems: spotlight on NewSQL”, 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2501E959-7154-4A4C-6432-FB637A33CC1B}"/>
              </a:ext>
            </a:extLst>
          </p:cNvPr>
          <p:cNvGrpSpPr/>
          <p:nvPr/>
        </p:nvGrpSpPr>
        <p:grpSpPr>
          <a:xfrm>
            <a:off x="394723" y="1319716"/>
            <a:ext cx="11470646" cy="5261902"/>
            <a:chOff x="394723" y="1319716"/>
            <a:chExt cx="11470646" cy="5261902"/>
          </a:xfrm>
        </p:grpSpPr>
        <p:sp>
          <p:nvSpPr>
            <p:cNvPr id="7" name="Seta: para a Esquerda 6">
              <a:extLst>
                <a:ext uri="{FF2B5EF4-FFF2-40B4-BE49-F238E27FC236}">
                  <a16:creationId xmlns:a16="http://schemas.microsoft.com/office/drawing/2014/main" id="{4231CEC3-F041-3529-2474-503AB976E890}"/>
                </a:ext>
              </a:extLst>
            </p:cNvPr>
            <p:cNvSpPr/>
            <p:nvPr/>
          </p:nvSpPr>
          <p:spPr>
            <a:xfrm>
              <a:off x="9109080" y="2860401"/>
              <a:ext cx="2240458" cy="1040202"/>
            </a:xfrm>
            <a:prstGeom prst="leftArrow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Query Engine</a:t>
              </a:r>
            </a:p>
          </p:txBody>
        </p:sp>
        <p:sp>
          <p:nvSpPr>
            <p:cNvPr id="8" name="Seta: para a Esquerda 7">
              <a:extLst>
                <a:ext uri="{FF2B5EF4-FFF2-40B4-BE49-F238E27FC236}">
                  <a16:creationId xmlns:a16="http://schemas.microsoft.com/office/drawing/2014/main" id="{88D97FAA-49F0-B41B-1FC6-600C807AA4AA}"/>
                </a:ext>
              </a:extLst>
            </p:cNvPr>
            <p:cNvSpPr/>
            <p:nvPr/>
          </p:nvSpPr>
          <p:spPr>
            <a:xfrm>
              <a:off x="9166382" y="4990868"/>
              <a:ext cx="2206330" cy="1590749"/>
            </a:xfrm>
            <a:prstGeom prst="leftArrow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Armazenamento</a:t>
              </a:r>
              <a:r>
                <a:rPr lang="en-US" dirty="0"/>
                <a:t>  </a:t>
              </a:r>
              <a:r>
                <a:rPr lang="en-US" dirty="0" err="1"/>
                <a:t>Múltiplo</a:t>
              </a:r>
              <a:r>
                <a:rPr lang="en-US" dirty="0"/>
                <a:t> (</a:t>
              </a:r>
              <a:r>
                <a:rPr lang="en-US" dirty="0" err="1"/>
                <a:t>Polystore</a:t>
              </a:r>
              <a:r>
                <a:rPr lang="en-US" dirty="0"/>
                <a:t>)</a:t>
              </a:r>
            </a:p>
          </p:txBody>
        </p:sp>
        <p:sp>
          <p:nvSpPr>
            <p:cNvPr id="9" name="Seta: para a Esquerda 8">
              <a:extLst>
                <a:ext uri="{FF2B5EF4-FFF2-40B4-BE49-F238E27FC236}">
                  <a16:creationId xmlns:a16="http://schemas.microsoft.com/office/drawing/2014/main" id="{D6C3D8D2-B984-1D8D-91EE-6D9CB878407E}"/>
                </a:ext>
              </a:extLst>
            </p:cNvPr>
            <p:cNvSpPr/>
            <p:nvPr/>
          </p:nvSpPr>
          <p:spPr>
            <a:xfrm>
              <a:off x="9624911" y="1917196"/>
              <a:ext cx="2240458" cy="1040202"/>
            </a:xfrm>
            <a:prstGeom prst="lef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Conexão</a:t>
              </a:r>
              <a:endParaRPr lang="en-US" dirty="0"/>
            </a:p>
          </p:txBody>
        </p:sp>
        <p:sp>
          <p:nvSpPr>
            <p:cNvPr id="10" name="Seta: para a Esquerda 9">
              <a:extLst>
                <a:ext uri="{FF2B5EF4-FFF2-40B4-BE49-F238E27FC236}">
                  <a16:creationId xmlns:a16="http://schemas.microsoft.com/office/drawing/2014/main" id="{8E91C50B-6B8D-6A80-60B5-60C8275C7AE3}"/>
                </a:ext>
              </a:extLst>
            </p:cNvPr>
            <p:cNvSpPr/>
            <p:nvPr/>
          </p:nvSpPr>
          <p:spPr>
            <a:xfrm>
              <a:off x="9132254" y="3950667"/>
              <a:ext cx="2240458" cy="1040202"/>
            </a:xfrm>
            <a:prstGeom prst="leftArrow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Transaction Engine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980F0D7A-F843-B125-D578-2F0A25EB13DC}"/>
                </a:ext>
              </a:extLst>
            </p:cNvPr>
            <p:cNvSpPr txBox="1"/>
            <p:nvPr/>
          </p:nvSpPr>
          <p:spPr>
            <a:xfrm>
              <a:off x="394723" y="4188640"/>
              <a:ext cx="1586588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Cluster </a:t>
              </a:r>
            </a:p>
            <a:p>
              <a:pPr algn="ctr"/>
              <a:r>
                <a:rPr lang="en-US" b="1" dirty="0"/>
                <a:t>( </a:t>
              </a:r>
              <a:r>
                <a:rPr lang="en-US" b="1" dirty="0" err="1"/>
                <a:t>Baixo</a:t>
              </a:r>
              <a:r>
                <a:rPr lang="en-US" b="1" dirty="0"/>
                <a:t> </a:t>
              </a:r>
            </a:p>
            <a:p>
              <a:pPr algn="ctr"/>
              <a:r>
                <a:rPr lang="en-US" b="1" dirty="0" err="1"/>
                <a:t>Acoplamento</a:t>
              </a:r>
              <a:r>
                <a:rPr lang="en-US" b="1" dirty="0"/>
                <a:t> )</a:t>
              </a:r>
            </a:p>
          </p:txBody>
        </p:sp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53DACF64-2773-691E-6F20-C36C93CEE909}"/>
                </a:ext>
              </a:extLst>
            </p:cNvPr>
            <p:cNvGrpSpPr/>
            <p:nvPr/>
          </p:nvGrpSpPr>
          <p:grpSpPr>
            <a:xfrm>
              <a:off x="2032860" y="1319716"/>
              <a:ext cx="6973122" cy="5261902"/>
              <a:chOff x="1935632" y="1362635"/>
              <a:chExt cx="7173448" cy="5423267"/>
            </a:xfrm>
          </p:grpSpPr>
          <p:pic>
            <p:nvPicPr>
              <p:cNvPr id="5" name="Imagem 4">
                <a:extLst>
                  <a:ext uri="{FF2B5EF4-FFF2-40B4-BE49-F238E27FC236}">
                    <a16:creationId xmlns:a16="http://schemas.microsoft.com/office/drawing/2014/main" id="{6AA54A70-2C2F-C489-BB1F-1EF7A62FA5C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5188" r="3570" b="4919"/>
              <a:stretch/>
            </p:blipFill>
            <p:spPr>
              <a:xfrm>
                <a:off x="2474260" y="1362635"/>
                <a:ext cx="6634820" cy="5423267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11" name="Retângulo: Cantos Arredondados 10">
                <a:extLst>
                  <a:ext uri="{FF2B5EF4-FFF2-40B4-BE49-F238E27FC236}">
                    <a16:creationId xmlns:a16="http://schemas.microsoft.com/office/drawing/2014/main" id="{2DAD8208-BFE4-9621-96C6-6BE08EF92B01}"/>
                  </a:ext>
                </a:extLst>
              </p:cNvPr>
              <p:cNvSpPr/>
              <p:nvPr/>
            </p:nvSpPr>
            <p:spPr>
              <a:xfrm>
                <a:off x="2554940" y="2796841"/>
                <a:ext cx="6474215" cy="1237278"/>
              </a:xfrm>
              <a:prstGeom prst="roundRect">
                <a:avLst>
                  <a:gd name="adj" fmla="val 9228"/>
                </a:avLst>
              </a:prstGeom>
              <a:noFill/>
              <a:ln w="41275">
                <a:solidFill>
                  <a:schemeClr val="accent4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tângulo: Cantos Arredondados 11">
                <a:extLst>
                  <a:ext uri="{FF2B5EF4-FFF2-40B4-BE49-F238E27FC236}">
                    <a16:creationId xmlns:a16="http://schemas.microsoft.com/office/drawing/2014/main" id="{ED5BF20C-2BA0-319F-F36F-00DE561650EF}"/>
                  </a:ext>
                </a:extLst>
              </p:cNvPr>
              <p:cNvSpPr/>
              <p:nvPr/>
            </p:nvSpPr>
            <p:spPr>
              <a:xfrm>
                <a:off x="2554562" y="4074268"/>
                <a:ext cx="6474215" cy="641167"/>
              </a:xfrm>
              <a:prstGeom prst="roundRect">
                <a:avLst>
                  <a:gd name="adj" fmla="val 9228"/>
                </a:avLst>
              </a:prstGeom>
              <a:noFill/>
              <a:ln w="41275">
                <a:solidFill>
                  <a:schemeClr val="accent2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tângulo: Cantos Arredondados 12">
                <a:extLst>
                  <a:ext uri="{FF2B5EF4-FFF2-40B4-BE49-F238E27FC236}">
                    <a16:creationId xmlns:a16="http://schemas.microsoft.com/office/drawing/2014/main" id="{8E05C477-FCA9-9480-ED3D-B7F80E3B1603}"/>
                  </a:ext>
                </a:extLst>
              </p:cNvPr>
              <p:cNvSpPr/>
              <p:nvPr/>
            </p:nvSpPr>
            <p:spPr>
              <a:xfrm>
                <a:off x="2554561" y="4795362"/>
                <a:ext cx="6474215" cy="1910238"/>
              </a:xfrm>
              <a:prstGeom prst="roundRect">
                <a:avLst>
                  <a:gd name="adj" fmla="val 9228"/>
                </a:avLst>
              </a:prstGeom>
              <a:noFill/>
              <a:ln w="41275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Chave Esquerda 13">
                <a:extLst>
                  <a:ext uri="{FF2B5EF4-FFF2-40B4-BE49-F238E27FC236}">
                    <a16:creationId xmlns:a16="http://schemas.microsoft.com/office/drawing/2014/main" id="{9927B5E7-F8B5-8A22-F3F4-655ED9CABC29}"/>
                  </a:ext>
                </a:extLst>
              </p:cNvPr>
              <p:cNvSpPr/>
              <p:nvPr/>
            </p:nvSpPr>
            <p:spPr>
              <a:xfrm>
                <a:off x="1935632" y="2702956"/>
                <a:ext cx="523363" cy="4002644"/>
              </a:xfrm>
              <a:prstGeom prst="leftBrace">
                <a:avLst>
                  <a:gd name="adj1" fmla="val 56531"/>
                  <a:gd name="adj2" fmla="val 50000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Chave Esquerda 15">
                <a:extLst>
                  <a:ext uri="{FF2B5EF4-FFF2-40B4-BE49-F238E27FC236}">
                    <a16:creationId xmlns:a16="http://schemas.microsoft.com/office/drawing/2014/main" id="{4A320BC3-9453-A765-7419-A5E50EB1D51C}"/>
                  </a:ext>
                </a:extLst>
              </p:cNvPr>
              <p:cNvSpPr/>
              <p:nvPr/>
            </p:nvSpPr>
            <p:spPr>
              <a:xfrm>
                <a:off x="1950896" y="1385655"/>
                <a:ext cx="523363" cy="1128834"/>
              </a:xfrm>
              <a:prstGeom prst="leftBrace">
                <a:avLst>
                  <a:gd name="adj1" fmla="val 56531"/>
                  <a:gd name="adj2" fmla="val 50000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22F35D94-318D-75CD-5B39-444B587546F1}"/>
                </a:ext>
              </a:extLst>
            </p:cNvPr>
            <p:cNvSpPr txBox="1"/>
            <p:nvPr/>
          </p:nvSpPr>
          <p:spPr>
            <a:xfrm>
              <a:off x="973173" y="1646970"/>
              <a:ext cx="9395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 err="1"/>
                <a:t>Clientes</a:t>
              </a:r>
              <a:endParaRPr lang="en-US" b="1" dirty="0"/>
            </a:p>
          </p:txBody>
        </p:sp>
        <p:cxnSp>
          <p:nvCxnSpPr>
            <p:cNvPr id="26" name="Conector de Seta Reta 25">
              <a:extLst>
                <a:ext uri="{FF2B5EF4-FFF2-40B4-BE49-F238E27FC236}">
                  <a16:creationId xmlns:a16="http://schemas.microsoft.com/office/drawing/2014/main" id="{37A47F25-CB19-377B-F6B0-12A37FAC0554}"/>
                </a:ext>
              </a:extLst>
            </p:cNvPr>
            <p:cNvCxnSpPr>
              <a:cxnSpLocks/>
            </p:cNvCxnSpPr>
            <p:nvPr/>
          </p:nvCxnSpPr>
          <p:spPr>
            <a:xfrm>
              <a:off x="5171090" y="3900603"/>
              <a:ext cx="693682" cy="1211367"/>
            </a:xfrm>
            <a:prstGeom prst="straightConnector1">
              <a:avLst/>
            </a:prstGeom>
            <a:ln w="47625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>
              <a:extLst>
                <a:ext uri="{FF2B5EF4-FFF2-40B4-BE49-F238E27FC236}">
                  <a16:creationId xmlns:a16="http://schemas.microsoft.com/office/drawing/2014/main" id="{783D361F-8C56-0279-13D0-750C5D4BE543}"/>
                </a:ext>
              </a:extLst>
            </p:cNvPr>
            <p:cNvCxnSpPr>
              <a:cxnSpLocks/>
            </p:cNvCxnSpPr>
            <p:nvPr/>
          </p:nvCxnSpPr>
          <p:spPr>
            <a:xfrm>
              <a:off x="6783474" y="3863468"/>
              <a:ext cx="715985" cy="1248502"/>
            </a:xfrm>
            <a:prstGeom prst="straightConnector1">
              <a:avLst/>
            </a:prstGeom>
            <a:ln w="47625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de Seta Reta 31">
              <a:extLst>
                <a:ext uri="{FF2B5EF4-FFF2-40B4-BE49-F238E27FC236}">
                  <a16:creationId xmlns:a16="http://schemas.microsoft.com/office/drawing/2014/main" id="{C41EFBC4-4697-0C18-5F67-10894D02A627}"/>
                </a:ext>
              </a:extLst>
            </p:cNvPr>
            <p:cNvCxnSpPr>
              <a:cxnSpLocks/>
            </p:cNvCxnSpPr>
            <p:nvPr/>
          </p:nvCxnSpPr>
          <p:spPr>
            <a:xfrm>
              <a:off x="3742260" y="3863468"/>
              <a:ext cx="0" cy="1248502"/>
            </a:xfrm>
            <a:prstGeom prst="straightConnector1">
              <a:avLst/>
            </a:prstGeom>
            <a:ln w="47625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de Seta Reta 33">
              <a:extLst>
                <a:ext uri="{FF2B5EF4-FFF2-40B4-BE49-F238E27FC236}">
                  <a16:creationId xmlns:a16="http://schemas.microsoft.com/office/drawing/2014/main" id="{E379FA68-7D78-ED84-A1F6-8393E2DA22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1511" y="3950667"/>
              <a:ext cx="359350" cy="1161303"/>
            </a:xfrm>
            <a:prstGeom prst="straightConnector1">
              <a:avLst/>
            </a:prstGeom>
            <a:ln w="47625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de Seta Reta 36">
              <a:extLst>
                <a:ext uri="{FF2B5EF4-FFF2-40B4-BE49-F238E27FC236}">
                  <a16:creationId xmlns:a16="http://schemas.microsoft.com/office/drawing/2014/main" id="{29A698C7-7B52-3356-7A83-FDFE6798DC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09545" y="3863468"/>
              <a:ext cx="983484" cy="1248502"/>
            </a:xfrm>
            <a:prstGeom prst="straightConnector1">
              <a:avLst/>
            </a:prstGeom>
            <a:ln w="47625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de Seta Reta 40">
              <a:extLst>
                <a:ext uri="{FF2B5EF4-FFF2-40B4-BE49-F238E27FC236}">
                  <a16:creationId xmlns:a16="http://schemas.microsoft.com/office/drawing/2014/main" id="{5CA766AB-2421-D359-24ED-D4A3D3BDE606}"/>
                </a:ext>
              </a:extLst>
            </p:cNvPr>
            <p:cNvCxnSpPr>
              <a:cxnSpLocks/>
            </p:cNvCxnSpPr>
            <p:nvPr/>
          </p:nvCxnSpPr>
          <p:spPr>
            <a:xfrm>
              <a:off x="4195892" y="3838231"/>
              <a:ext cx="0" cy="339899"/>
            </a:xfrm>
            <a:prstGeom prst="straightConnector1">
              <a:avLst/>
            </a:prstGeom>
            <a:ln w="47625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>
              <a:extLst>
                <a:ext uri="{FF2B5EF4-FFF2-40B4-BE49-F238E27FC236}">
                  <a16:creationId xmlns:a16="http://schemas.microsoft.com/office/drawing/2014/main" id="{4CFC9EF7-BF47-FF77-702E-749993224477}"/>
                </a:ext>
              </a:extLst>
            </p:cNvPr>
            <p:cNvCxnSpPr>
              <a:cxnSpLocks/>
            </p:cNvCxnSpPr>
            <p:nvPr/>
          </p:nvCxnSpPr>
          <p:spPr>
            <a:xfrm>
              <a:off x="5310518" y="3817211"/>
              <a:ext cx="711910" cy="423481"/>
            </a:xfrm>
            <a:prstGeom prst="straightConnector1">
              <a:avLst/>
            </a:prstGeom>
            <a:ln w="47625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de Seta Reta 46">
              <a:extLst>
                <a:ext uri="{FF2B5EF4-FFF2-40B4-BE49-F238E27FC236}">
                  <a16:creationId xmlns:a16="http://schemas.microsoft.com/office/drawing/2014/main" id="{16BFDCEF-0F2B-7E76-950C-D1F12E42A9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92035" y="3817211"/>
              <a:ext cx="27333" cy="360919"/>
            </a:xfrm>
            <a:prstGeom prst="straightConnector1">
              <a:avLst/>
            </a:prstGeom>
            <a:ln w="47625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de Seta Reta 49">
              <a:extLst>
                <a:ext uri="{FF2B5EF4-FFF2-40B4-BE49-F238E27FC236}">
                  <a16:creationId xmlns:a16="http://schemas.microsoft.com/office/drawing/2014/main" id="{E48EF20D-CD2C-F152-2DDC-CA79FBE973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32635" y="3817211"/>
              <a:ext cx="272111" cy="314679"/>
            </a:xfrm>
            <a:prstGeom prst="straightConnector1">
              <a:avLst/>
            </a:prstGeom>
            <a:ln w="47625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47258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lipse 15">
            <a:extLst>
              <a:ext uri="{FF2B5EF4-FFF2-40B4-BE49-F238E27FC236}">
                <a16:creationId xmlns:a16="http://schemas.microsoft.com/office/drawing/2014/main" id="{565043FB-30BD-EFF2-1EC0-5A16C35F281E}"/>
              </a:ext>
            </a:extLst>
          </p:cNvPr>
          <p:cNvSpPr/>
          <p:nvPr/>
        </p:nvSpPr>
        <p:spPr>
          <a:xfrm>
            <a:off x="8306355" y="4233234"/>
            <a:ext cx="3711616" cy="172831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1E477A-11D0-CE49-D38D-439D26A37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Polystores</a:t>
            </a:r>
            <a:r>
              <a:rPr lang="en-US" b="1" dirty="0"/>
              <a:t> (</a:t>
            </a:r>
            <a:r>
              <a:rPr lang="pt-BR" b="1" dirty="0" err="1"/>
              <a:t>Stonebraker</a:t>
            </a:r>
            <a:r>
              <a:rPr lang="pt-BR" b="1" dirty="0"/>
              <a:t>*</a:t>
            </a:r>
            <a:r>
              <a:rPr lang="en-US" b="1" dirty="0"/>
              <a:t>)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885B0630-358D-71F3-F15D-05E0A55008CD}"/>
              </a:ext>
            </a:extLst>
          </p:cNvPr>
          <p:cNvSpPr/>
          <p:nvPr/>
        </p:nvSpPr>
        <p:spPr>
          <a:xfrm>
            <a:off x="9207121" y="767048"/>
            <a:ext cx="1906504" cy="3897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Aplicação</a:t>
            </a:r>
            <a:r>
              <a:rPr lang="en-US" dirty="0"/>
              <a:t> Web</a:t>
            </a:r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8A09D675-98D5-9828-5931-99344767F536}"/>
              </a:ext>
            </a:extLst>
          </p:cNvPr>
          <p:cNvSpPr/>
          <p:nvPr/>
        </p:nvSpPr>
        <p:spPr>
          <a:xfrm>
            <a:off x="10047708" y="1183670"/>
            <a:ext cx="286871" cy="339245"/>
          </a:xfrm>
          <a:prstGeom prst="downArrow">
            <a:avLst/>
          </a:prstGeom>
          <a:solidFill>
            <a:srgbClr val="8CF4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0E18D68-5A9C-8436-40A0-1FC05FABA776}"/>
              </a:ext>
            </a:extLst>
          </p:cNvPr>
          <p:cNvSpPr txBox="1"/>
          <p:nvPr/>
        </p:nvSpPr>
        <p:spPr>
          <a:xfrm>
            <a:off x="115612" y="6470143"/>
            <a:ext cx="108046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* </a:t>
            </a:r>
            <a:r>
              <a:rPr lang="pt-BR" dirty="0" err="1"/>
              <a:t>Stonebraker</a:t>
            </a:r>
            <a:r>
              <a:rPr lang="pt-BR" dirty="0"/>
              <a:t>, M. (2015) The Case for </a:t>
            </a:r>
            <a:r>
              <a:rPr lang="pt-BR" dirty="0" err="1"/>
              <a:t>Polystores</a:t>
            </a:r>
            <a:r>
              <a:rPr lang="pt-BR" dirty="0"/>
              <a:t>. ACM blog - https://wp.sigmod.org/?p=1629</a:t>
            </a:r>
            <a:endParaRPr lang="en-US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016CAE5-96FA-B13E-065C-DB1F9EDE91F8}"/>
              </a:ext>
            </a:extLst>
          </p:cNvPr>
          <p:cNvSpPr txBox="1"/>
          <p:nvPr/>
        </p:nvSpPr>
        <p:spPr>
          <a:xfrm>
            <a:off x="10653912" y="4852027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Apache </a:t>
            </a:r>
            <a:r>
              <a:rPr lang="en-US" dirty="0" err="1"/>
              <a:t>Solr</a:t>
            </a:r>
            <a:endParaRPr lang="en-US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ACA28B8-E4F4-33D1-51B6-645777816843}"/>
              </a:ext>
            </a:extLst>
          </p:cNvPr>
          <p:cNvSpPr txBox="1"/>
          <p:nvPr/>
        </p:nvSpPr>
        <p:spPr>
          <a:xfrm>
            <a:off x="9805427" y="4941210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QoX</a:t>
            </a:r>
            <a:endParaRPr lang="en-US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A98A417-A3E2-90B0-EC30-F10360435220}"/>
              </a:ext>
            </a:extLst>
          </p:cNvPr>
          <p:cNvSpPr txBox="1"/>
          <p:nvPr/>
        </p:nvSpPr>
        <p:spPr>
          <a:xfrm>
            <a:off x="8306355" y="4903668"/>
            <a:ext cx="1018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PolyBase</a:t>
            </a:r>
            <a:endParaRPr lang="en-US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BE70153-0441-8543-06B1-1BFE9049C5A3}"/>
              </a:ext>
            </a:extLst>
          </p:cNvPr>
          <p:cNvSpPr txBox="1"/>
          <p:nvPr/>
        </p:nvSpPr>
        <p:spPr>
          <a:xfrm>
            <a:off x="8725867" y="4590686"/>
            <a:ext cx="962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Forward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CBA896ED-F1A5-8EB7-FE51-D6C1B0000E2D}"/>
              </a:ext>
            </a:extLst>
          </p:cNvPr>
          <p:cNvSpPr/>
          <p:nvPr/>
        </p:nvSpPr>
        <p:spPr>
          <a:xfrm>
            <a:off x="9495892" y="4099831"/>
            <a:ext cx="1332543" cy="4213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BE1F337-628F-3D2B-342C-A69FDCD85777}"/>
              </a:ext>
            </a:extLst>
          </p:cNvPr>
          <p:cNvSpPr txBox="1"/>
          <p:nvPr/>
        </p:nvSpPr>
        <p:spPr>
          <a:xfrm>
            <a:off x="9613821" y="4134866"/>
            <a:ext cx="1096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Wrappers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B28ABB5-DB22-6EC5-916E-D87240F1097F}"/>
              </a:ext>
            </a:extLst>
          </p:cNvPr>
          <p:cNvSpPr txBox="1"/>
          <p:nvPr/>
        </p:nvSpPr>
        <p:spPr>
          <a:xfrm>
            <a:off x="8616916" y="5240866"/>
            <a:ext cx="1194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HadoopDB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6ADDCE-3DE9-8A67-505D-74C356FBB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612" y="1825625"/>
            <a:ext cx="8492328" cy="4351338"/>
          </a:xfrm>
        </p:spPr>
        <p:txBody>
          <a:bodyPr>
            <a:normAutofit fontScale="92500" lnSpcReduction="10000"/>
          </a:bodyPr>
          <a:lstStyle/>
          <a:p>
            <a:r>
              <a:rPr lang="pt-BR" dirty="0" err="1"/>
              <a:t>SGBDs</a:t>
            </a:r>
            <a:r>
              <a:rPr lang="pt-BR" dirty="0"/>
              <a:t> </a:t>
            </a:r>
            <a:r>
              <a:rPr lang="pt-BR" dirty="0" err="1"/>
              <a:t>Polystore</a:t>
            </a:r>
            <a:r>
              <a:rPr lang="pt-BR" dirty="0"/>
              <a:t> são projetados para resolver diferentes problemas. Integração, ETL, movimentação e curadoria de dados são caros! </a:t>
            </a:r>
            <a:r>
              <a:rPr lang="pt-BR" b="1" dirty="0"/>
              <a:t>Não existe o “esperanto” nos </a:t>
            </a:r>
            <a:r>
              <a:rPr lang="pt-BR" b="1" dirty="0" err="1"/>
              <a:t>SGBDs</a:t>
            </a:r>
            <a:r>
              <a:rPr lang="pt-BR" b="1" dirty="0"/>
              <a:t>!</a:t>
            </a:r>
          </a:p>
          <a:p>
            <a:r>
              <a:rPr lang="pt-BR" dirty="0"/>
              <a:t>Necessidade de acesso integrado aos dados heterogêneos em vários formatos em sistemas de armazenamento distintos</a:t>
            </a:r>
          </a:p>
          <a:p>
            <a:pPr lvl="1"/>
            <a:r>
              <a:rPr lang="pt-BR" dirty="0" err="1"/>
              <a:t>NoSQL</a:t>
            </a:r>
            <a:r>
              <a:rPr lang="pt-BR" dirty="0"/>
              <a:t>, HDFS, </a:t>
            </a:r>
            <a:r>
              <a:rPr lang="pt-BR" dirty="0" err="1"/>
              <a:t>SGBDr</a:t>
            </a:r>
            <a:r>
              <a:rPr lang="pt-BR" dirty="0"/>
              <a:t>, SGBDD, </a:t>
            </a:r>
            <a:r>
              <a:rPr lang="pt-BR" dirty="0" err="1"/>
              <a:t>Linked</a:t>
            </a:r>
            <a:r>
              <a:rPr lang="pt-BR" dirty="0"/>
              <a:t> Data, etc...</a:t>
            </a:r>
          </a:p>
          <a:p>
            <a:r>
              <a:rPr lang="pt-BR" b="1" dirty="0"/>
              <a:t>Query </a:t>
            </a:r>
            <a:r>
              <a:rPr lang="pt-BR" b="1" dirty="0" err="1"/>
              <a:t>Engine</a:t>
            </a:r>
            <a:r>
              <a:rPr lang="pt-BR" b="1" dirty="0"/>
              <a:t> </a:t>
            </a:r>
            <a:r>
              <a:rPr lang="pt-BR" dirty="0"/>
              <a:t>transforma a query </a:t>
            </a:r>
            <a:r>
              <a:rPr lang="pt-BR" b="1" dirty="0"/>
              <a:t>(Q) </a:t>
            </a:r>
            <a:r>
              <a:rPr lang="pt-BR" dirty="0"/>
              <a:t>em </a:t>
            </a:r>
            <a:r>
              <a:rPr lang="pt-BR" dirty="0" err="1"/>
              <a:t>subqueries</a:t>
            </a:r>
            <a:r>
              <a:rPr lang="pt-BR" dirty="0"/>
              <a:t> </a:t>
            </a:r>
            <a:r>
              <a:rPr lang="pt-BR" b="1" dirty="0"/>
              <a:t>(SQ) </a:t>
            </a:r>
            <a:r>
              <a:rPr lang="pt-BR" dirty="0"/>
              <a:t>e integra os resultados</a:t>
            </a:r>
          </a:p>
          <a:p>
            <a:r>
              <a:rPr lang="pt-BR" b="1" dirty="0" err="1"/>
              <a:t>Wrapper</a:t>
            </a:r>
            <a:r>
              <a:rPr lang="pt-BR" b="1" dirty="0"/>
              <a:t>, </a:t>
            </a:r>
            <a:r>
              <a:rPr lang="pt-BR" dirty="0"/>
              <a:t>transforma as </a:t>
            </a:r>
            <a:r>
              <a:rPr lang="pt-BR" dirty="0" err="1"/>
              <a:t>subqueries</a:t>
            </a:r>
            <a:r>
              <a:rPr lang="pt-BR" dirty="0"/>
              <a:t> </a:t>
            </a:r>
            <a:r>
              <a:rPr lang="pt-BR" b="1" dirty="0"/>
              <a:t>(SQ) </a:t>
            </a:r>
            <a:r>
              <a:rPr lang="pt-BR" dirty="0"/>
              <a:t>em consultas na linguagens nativas </a:t>
            </a:r>
            <a:r>
              <a:rPr lang="pt-BR" b="1" dirty="0"/>
              <a:t>(Q´). </a:t>
            </a:r>
            <a:r>
              <a:rPr lang="pt-BR" dirty="0"/>
              <a:t>Ótimo para integrar DE, DNE, DSE e Big Data.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C4A1D8D-8943-235D-AC3D-CD19EFE96DB7}"/>
              </a:ext>
            </a:extLst>
          </p:cNvPr>
          <p:cNvSpPr txBox="1"/>
          <p:nvPr/>
        </p:nvSpPr>
        <p:spPr>
          <a:xfrm>
            <a:off x="10495139" y="5157908"/>
            <a:ext cx="1408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BigIntegrator</a:t>
            </a:r>
            <a:endParaRPr lang="en-US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3BB059D-1B52-56D2-AA6C-F41346F47308}"/>
              </a:ext>
            </a:extLst>
          </p:cNvPr>
          <p:cNvSpPr txBox="1"/>
          <p:nvPr/>
        </p:nvSpPr>
        <p:spPr>
          <a:xfrm>
            <a:off x="9146835" y="5544392"/>
            <a:ext cx="1019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Estocada</a:t>
            </a:r>
            <a:endParaRPr lang="en-US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345A32F-3D4E-6A6B-E0A8-A159DA8FD2DB}"/>
              </a:ext>
            </a:extLst>
          </p:cNvPr>
          <p:cNvSpPr txBox="1"/>
          <p:nvPr/>
        </p:nvSpPr>
        <p:spPr>
          <a:xfrm>
            <a:off x="10287482" y="5514539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SparkSQL</a:t>
            </a:r>
            <a:endParaRPr lang="en-US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0B5C3A4-6248-442B-2E15-A689A08C9CAB}"/>
              </a:ext>
            </a:extLst>
          </p:cNvPr>
          <p:cNvSpPr txBox="1"/>
          <p:nvPr/>
        </p:nvSpPr>
        <p:spPr>
          <a:xfrm>
            <a:off x="10207552" y="4538646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CloudMDSQL</a:t>
            </a:r>
            <a:endParaRPr lang="en-US" dirty="0"/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34C80442-BD54-CAA9-D781-31084CAB7D2E}"/>
              </a:ext>
            </a:extLst>
          </p:cNvPr>
          <p:cNvGrpSpPr/>
          <p:nvPr/>
        </p:nvGrpSpPr>
        <p:grpSpPr>
          <a:xfrm>
            <a:off x="8397745" y="1531673"/>
            <a:ext cx="3678643" cy="2386739"/>
            <a:chOff x="8397745" y="1531673"/>
            <a:chExt cx="3678643" cy="2386739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B3BDD284-D2CF-71A7-B349-F5726A0467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97745" y="1531673"/>
              <a:ext cx="3678643" cy="238673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337496A7-2064-4004-10B8-5D78442F10E7}"/>
                </a:ext>
              </a:extLst>
            </p:cNvPr>
            <p:cNvSpPr txBox="1"/>
            <p:nvPr/>
          </p:nvSpPr>
          <p:spPr>
            <a:xfrm>
              <a:off x="9123570" y="2361122"/>
              <a:ext cx="266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S</a:t>
              </a: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9103CE62-7BD8-537C-F274-552AA8CDAD81}"/>
                </a:ext>
              </a:extLst>
            </p:cNvPr>
            <p:cNvSpPr txBox="1"/>
            <p:nvPr/>
          </p:nvSpPr>
          <p:spPr>
            <a:xfrm>
              <a:off x="10047708" y="2365202"/>
              <a:ext cx="266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S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B268C464-5A74-2BC2-3A32-ED8754156A9C}"/>
                </a:ext>
              </a:extLst>
            </p:cNvPr>
            <p:cNvSpPr txBox="1"/>
            <p:nvPr/>
          </p:nvSpPr>
          <p:spPr>
            <a:xfrm>
              <a:off x="10782017" y="2360640"/>
              <a:ext cx="266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1859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096C7D-EEEE-7EE2-4A4A-629C0C3A1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Exemplo</a:t>
            </a:r>
            <a:r>
              <a:rPr lang="en-US" b="1" dirty="0"/>
              <a:t> de </a:t>
            </a:r>
            <a:r>
              <a:rPr lang="en-US" b="1" dirty="0" err="1"/>
              <a:t>subconsultas</a:t>
            </a:r>
            <a:r>
              <a:rPr lang="en-US" b="1" dirty="0"/>
              <a:t> </a:t>
            </a:r>
            <a:r>
              <a:rPr lang="en-US" b="1" dirty="0" err="1"/>
              <a:t>em</a:t>
            </a:r>
            <a:r>
              <a:rPr lang="en-US" b="1" dirty="0"/>
              <a:t> </a:t>
            </a:r>
            <a:r>
              <a:rPr lang="en-US" b="1" dirty="0" err="1"/>
              <a:t>Polystores</a:t>
            </a:r>
            <a:endParaRPr lang="en-US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9B062F-A71E-ACD7-1D08-0DAB5D8CB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95B69459-2F97-315B-F252-C9C0D8C0974F}"/>
              </a:ext>
            </a:extLst>
          </p:cNvPr>
          <p:cNvGrpSpPr/>
          <p:nvPr/>
        </p:nvGrpSpPr>
        <p:grpSpPr>
          <a:xfrm>
            <a:off x="1369733" y="1306796"/>
            <a:ext cx="8907412" cy="5459184"/>
            <a:chOff x="838200" y="1306796"/>
            <a:chExt cx="8907412" cy="5459184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40146A46-AFE8-4E09-92AB-29D2D509673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6549"/>
            <a:stretch/>
          </p:blipFill>
          <p:spPr>
            <a:xfrm>
              <a:off x="838200" y="1306796"/>
              <a:ext cx="8907412" cy="545918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C3DAF5CC-5BC9-0673-679F-803CBB1FB09E}"/>
                </a:ext>
              </a:extLst>
            </p:cNvPr>
            <p:cNvSpPr/>
            <p:nvPr/>
          </p:nvSpPr>
          <p:spPr>
            <a:xfrm>
              <a:off x="2114177" y="1684365"/>
              <a:ext cx="2773133" cy="286434"/>
            </a:xfrm>
            <a:prstGeom prst="rect">
              <a:avLst/>
            </a:prstGeom>
            <a:solidFill>
              <a:srgbClr val="00B0F0">
                <a:alpha val="3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9FA3A5B8-0CE3-CE47-AAAF-4A34D16997EB}"/>
                </a:ext>
              </a:extLst>
            </p:cNvPr>
            <p:cNvSpPr/>
            <p:nvPr/>
          </p:nvSpPr>
          <p:spPr>
            <a:xfrm>
              <a:off x="2114177" y="1920738"/>
              <a:ext cx="2773133" cy="286434"/>
            </a:xfrm>
            <a:prstGeom prst="rect">
              <a:avLst/>
            </a:prstGeom>
            <a:solidFill>
              <a:srgbClr val="92D05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71A60564-DA2B-F0DF-7BB1-DA0251818F9F}"/>
                </a:ext>
              </a:extLst>
            </p:cNvPr>
            <p:cNvSpPr/>
            <p:nvPr/>
          </p:nvSpPr>
          <p:spPr>
            <a:xfrm>
              <a:off x="7424184" y="1624360"/>
              <a:ext cx="1906504" cy="389787"/>
            </a:xfrm>
            <a:prstGeom prst="roundRect">
              <a:avLst/>
            </a:prstGeom>
            <a:solidFill>
              <a:srgbClr val="8CF4E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Query Engine</a:t>
              </a:r>
            </a:p>
          </p:txBody>
        </p:sp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FBDF4EB6-4616-24A7-8016-7E29ED67C7AE}"/>
              </a:ext>
            </a:extLst>
          </p:cNvPr>
          <p:cNvSpPr txBox="1"/>
          <p:nvPr/>
        </p:nvSpPr>
        <p:spPr>
          <a:xfrm>
            <a:off x="7019365" y="6535148"/>
            <a:ext cx="534991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EXTRAÍDO de </a:t>
            </a:r>
            <a:r>
              <a:rPr lang="en-US" sz="900" dirty="0" err="1"/>
              <a:t>Valduriez</a:t>
            </a:r>
            <a:r>
              <a:rPr lang="en-US" sz="900" dirty="0"/>
              <a:t>, P. (2020),, SBBD “Principles of Distributed Database Systems: spotlight on NewSQL”,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33A5526-9689-85B9-6D09-6B725773481A}"/>
              </a:ext>
            </a:extLst>
          </p:cNvPr>
          <p:cNvSpPr txBox="1"/>
          <p:nvPr/>
        </p:nvSpPr>
        <p:spPr>
          <a:xfrm>
            <a:off x="9188823" y="3215845"/>
            <a:ext cx="7997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wrapper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FDF7C306-8D09-8F59-F50F-EADF47EF7D49}"/>
              </a:ext>
            </a:extLst>
          </p:cNvPr>
          <p:cNvGrpSpPr/>
          <p:nvPr/>
        </p:nvGrpSpPr>
        <p:grpSpPr>
          <a:xfrm>
            <a:off x="9862221" y="101873"/>
            <a:ext cx="2087794" cy="1468175"/>
            <a:chOff x="8397745" y="1531673"/>
            <a:chExt cx="3678643" cy="2386739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15547F67-F218-47E4-BBC9-248902EE9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7745" y="1531673"/>
              <a:ext cx="3678643" cy="238673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27AA7BA0-3077-04A6-B046-D6275A5E84AB}"/>
                </a:ext>
              </a:extLst>
            </p:cNvPr>
            <p:cNvSpPr txBox="1"/>
            <p:nvPr/>
          </p:nvSpPr>
          <p:spPr>
            <a:xfrm>
              <a:off x="9045356" y="2317824"/>
              <a:ext cx="429883" cy="4002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S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0C255C4C-26A0-2EE4-A6E2-E7DE8C76DC6E}"/>
                </a:ext>
              </a:extLst>
            </p:cNvPr>
            <p:cNvSpPr txBox="1"/>
            <p:nvPr/>
          </p:nvSpPr>
          <p:spPr>
            <a:xfrm>
              <a:off x="9953852" y="2336337"/>
              <a:ext cx="429883" cy="4002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S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3C0581B6-015B-C465-4A09-4AB21B1B0194}"/>
                </a:ext>
              </a:extLst>
            </p:cNvPr>
            <p:cNvSpPr txBox="1"/>
            <p:nvPr/>
          </p:nvSpPr>
          <p:spPr>
            <a:xfrm>
              <a:off x="10703803" y="2317343"/>
              <a:ext cx="429883" cy="4002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S</a:t>
              </a:r>
            </a:p>
          </p:txBody>
        </p:sp>
      </p:grpSp>
      <p:sp>
        <p:nvSpPr>
          <p:cNvPr id="17" name="Seta: para Baixo 16">
            <a:extLst>
              <a:ext uri="{FF2B5EF4-FFF2-40B4-BE49-F238E27FC236}">
                <a16:creationId xmlns:a16="http://schemas.microsoft.com/office/drawing/2014/main" id="{CD651C8C-FB1E-DE5C-A1CF-E1B196119507}"/>
              </a:ext>
            </a:extLst>
          </p:cNvPr>
          <p:cNvSpPr/>
          <p:nvPr/>
        </p:nvSpPr>
        <p:spPr>
          <a:xfrm>
            <a:off x="8735854" y="2063955"/>
            <a:ext cx="346229" cy="389787"/>
          </a:xfrm>
          <a:prstGeom prst="downArrow">
            <a:avLst>
              <a:gd name="adj1" fmla="val 50000"/>
              <a:gd name="adj2" fmla="val 45445"/>
            </a:avLst>
          </a:prstGeom>
          <a:solidFill>
            <a:srgbClr val="8CF4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241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F1BC1-2113-F1BC-7193-1234BDD08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Taxonomia</a:t>
            </a:r>
            <a:r>
              <a:rPr lang="en-US" b="1" dirty="0"/>
              <a:t> de </a:t>
            </a:r>
            <a:r>
              <a:rPr lang="en-US" b="1" dirty="0" err="1"/>
              <a:t>Sistemas</a:t>
            </a:r>
            <a:r>
              <a:rPr lang="en-US" b="1" dirty="0"/>
              <a:t> NewSQL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EF2CF2-F56F-1C72-30B5-A2DAE523D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 mercado </a:t>
            </a:r>
            <a:r>
              <a:rPr lang="en-US" dirty="0" err="1"/>
              <a:t>existem</a:t>
            </a:r>
            <a:r>
              <a:rPr lang="en-US" dirty="0"/>
              <a:t> </a:t>
            </a:r>
            <a:r>
              <a:rPr lang="en-US" b="1" dirty="0" err="1">
                <a:solidFill>
                  <a:srgbClr val="0070C0"/>
                </a:solidFill>
              </a:rPr>
              <a:t>diversos</a:t>
            </a:r>
            <a:r>
              <a:rPr lang="en-US" b="1" dirty="0">
                <a:solidFill>
                  <a:srgbClr val="0070C0"/>
                </a:solidFill>
              </a:rPr>
              <a:t> “</a:t>
            </a:r>
            <a:r>
              <a:rPr lang="en-US" b="1" dirty="0" err="1">
                <a:solidFill>
                  <a:srgbClr val="0070C0"/>
                </a:solidFill>
              </a:rPr>
              <a:t>sabores</a:t>
            </a:r>
            <a:r>
              <a:rPr lang="en-US" b="1" dirty="0">
                <a:solidFill>
                  <a:srgbClr val="0070C0"/>
                </a:solidFill>
              </a:rPr>
              <a:t>” de </a:t>
            </a:r>
            <a:r>
              <a:rPr lang="en-US" b="1" dirty="0" err="1">
                <a:solidFill>
                  <a:srgbClr val="0070C0"/>
                </a:solidFill>
              </a:rPr>
              <a:t>sistemas</a:t>
            </a:r>
            <a:r>
              <a:rPr lang="en-US" b="1" dirty="0">
                <a:solidFill>
                  <a:srgbClr val="0070C0"/>
                </a:solidFill>
              </a:rPr>
              <a:t> NewSQL</a:t>
            </a:r>
            <a:r>
              <a:rPr lang="en-US" dirty="0"/>
              <a:t>,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voltados</a:t>
            </a:r>
            <a:r>
              <a:rPr lang="en-US" dirty="0"/>
              <a:t> para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b="1" dirty="0" err="1"/>
              <a:t>tipos</a:t>
            </a:r>
            <a:r>
              <a:rPr lang="en-US" b="1" dirty="0"/>
              <a:t> de </a:t>
            </a:r>
            <a:r>
              <a:rPr lang="en-US" b="1" i="1" dirty="0"/>
              <a:t>workload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b="1" dirty="0" err="1"/>
              <a:t>Principais</a:t>
            </a:r>
            <a:r>
              <a:rPr lang="en-US" b="1" dirty="0"/>
              <a:t> </a:t>
            </a:r>
            <a:r>
              <a:rPr lang="en-US" b="1" dirty="0" err="1"/>
              <a:t>dimensões</a:t>
            </a:r>
            <a:r>
              <a:rPr lang="en-US" b="1" dirty="0"/>
              <a:t> de </a:t>
            </a:r>
            <a:r>
              <a:rPr lang="en-US" b="1" dirty="0" err="1"/>
              <a:t>avaliação</a:t>
            </a:r>
            <a:r>
              <a:rPr lang="en-US" b="1" dirty="0"/>
              <a:t> de NewSQL </a:t>
            </a:r>
            <a:r>
              <a:rPr lang="en-US" dirty="0"/>
              <a:t>(= </a:t>
            </a:r>
            <a:r>
              <a:rPr lang="en-US" dirty="0" err="1"/>
              <a:t>Taxonomia</a:t>
            </a:r>
            <a:r>
              <a:rPr lang="en-US" dirty="0"/>
              <a:t> de </a:t>
            </a:r>
            <a:r>
              <a:rPr lang="en-US" dirty="0" err="1"/>
              <a:t>Ozsu</a:t>
            </a:r>
            <a:r>
              <a:rPr lang="en-US" dirty="0"/>
              <a:t> e </a:t>
            </a:r>
            <a:r>
              <a:rPr lang="en-US" dirty="0" err="1"/>
              <a:t>Valduries</a:t>
            </a:r>
            <a:r>
              <a:rPr lang="en-US" dirty="0"/>
              <a:t>, 2020)</a:t>
            </a:r>
          </a:p>
          <a:p>
            <a:pPr lvl="1"/>
            <a:r>
              <a:rPr lang="en-US" dirty="0" err="1"/>
              <a:t>Modelo</a:t>
            </a:r>
            <a:r>
              <a:rPr lang="en-US" dirty="0"/>
              <a:t> de </a:t>
            </a:r>
            <a:r>
              <a:rPr lang="en-US" dirty="0" err="1"/>
              <a:t>transação</a:t>
            </a:r>
            <a:r>
              <a:rPr lang="en-US" dirty="0"/>
              <a:t> </a:t>
            </a:r>
            <a:r>
              <a:rPr lang="en-US" dirty="0" err="1"/>
              <a:t>suportado</a:t>
            </a:r>
            <a:endParaRPr lang="en-US" dirty="0"/>
          </a:p>
          <a:p>
            <a:pPr lvl="1"/>
            <a:r>
              <a:rPr lang="en-US" dirty="0" err="1"/>
              <a:t>Escalabilidade</a:t>
            </a:r>
            <a:r>
              <a:rPr lang="en-US" dirty="0"/>
              <a:t> da </a:t>
            </a:r>
            <a:r>
              <a:rPr lang="en-US" dirty="0" err="1"/>
              <a:t>solução</a:t>
            </a:r>
            <a:endParaRPr lang="en-US" dirty="0"/>
          </a:p>
          <a:p>
            <a:pPr lvl="1"/>
            <a:r>
              <a:rPr lang="en-US" dirty="0" err="1"/>
              <a:t>Tipos</a:t>
            </a:r>
            <a:r>
              <a:rPr lang="en-US" dirty="0"/>
              <a:t> de </a:t>
            </a:r>
            <a:r>
              <a:rPr lang="en-US" dirty="0" err="1"/>
              <a:t>armazenamento</a:t>
            </a:r>
            <a:endParaRPr lang="en-US" dirty="0"/>
          </a:p>
          <a:p>
            <a:pPr lvl="1"/>
            <a:r>
              <a:rPr lang="en-US" dirty="0" err="1"/>
              <a:t>Suporte</a:t>
            </a:r>
            <a:r>
              <a:rPr lang="en-US" dirty="0"/>
              <a:t> a </a:t>
            </a:r>
            <a:r>
              <a:rPr lang="en-US" dirty="0" err="1"/>
              <a:t>paralelismo</a:t>
            </a:r>
            <a:r>
              <a:rPr lang="en-US" dirty="0"/>
              <a:t> </a:t>
            </a:r>
            <a:r>
              <a:rPr lang="en-US" dirty="0" err="1"/>
              <a:t>nas</a:t>
            </a:r>
            <a:r>
              <a:rPr lang="en-US" dirty="0"/>
              <a:t> </a:t>
            </a:r>
            <a:r>
              <a:rPr lang="en-US" dirty="0" err="1"/>
              <a:t>consultas</a:t>
            </a:r>
            <a:endParaRPr lang="en-US" dirty="0"/>
          </a:p>
          <a:p>
            <a:pPr lvl="1"/>
            <a:r>
              <a:rPr lang="en-US" dirty="0" err="1"/>
              <a:t>Suporte</a:t>
            </a:r>
            <a:r>
              <a:rPr lang="en-US" dirty="0"/>
              <a:t> </a:t>
            </a:r>
            <a:r>
              <a:rPr lang="en-US" dirty="0" err="1"/>
              <a:t>aos</a:t>
            </a:r>
            <a:r>
              <a:rPr lang="en-US" dirty="0"/>
              <a:t> </a:t>
            </a:r>
            <a:r>
              <a:rPr lang="en-US" dirty="0" err="1"/>
              <a:t>Polystores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071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E80DEA-7898-18B2-71F9-0EF52A43B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Dimensão</a:t>
            </a:r>
            <a:r>
              <a:rPr lang="en-US" b="1" dirty="0"/>
              <a:t>: </a:t>
            </a:r>
            <a:r>
              <a:rPr lang="en-US" b="1" dirty="0" err="1"/>
              <a:t>Modelo</a:t>
            </a:r>
            <a:r>
              <a:rPr lang="en-US" b="1" dirty="0"/>
              <a:t> de </a:t>
            </a:r>
            <a:r>
              <a:rPr lang="en-US" b="1" dirty="0" err="1"/>
              <a:t>Suporte</a:t>
            </a:r>
            <a:r>
              <a:rPr lang="en-US" b="1" dirty="0"/>
              <a:t> à </a:t>
            </a:r>
            <a:r>
              <a:rPr lang="en-US" b="1" dirty="0" err="1"/>
              <a:t>Transação</a:t>
            </a:r>
            <a:r>
              <a:rPr lang="en-US" b="1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CEB62B-4802-FF66-D0B5-F7C63C644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i="1" dirty="0"/>
              <a:t>Ad hoc </a:t>
            </a:r>
          </a:p>
          <a:p>
            <a:pPr lvl="1"/>
            <a:r>
              <a:rPr lang="en-US" dirty="0" err="1"/>
              <a:t>Propriedades</a:t>
            </a:r>
            <a:r>
              <a:rPr lang="en-US" dirty="0"/>
              <a:t> ACID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parcialmente</a:t>
            </a:r>
            <a:r>
              <a:rPr lang="en-US" dirty="0"/>
              <a:t> </a:t>
            </a:r>
            <a:r>
              <a:rPr lang="en-US" dirty="0" err="1"/>
              <a:t>suportadas</a:t>
            </a:r>
            <a:endParaRPr lang="en-US" dirty="0"/>
          </a:p>
          <a:p>
            <a:pPr lvl="1"/>
            <a:r>
              <a:rPr lang="en-US" dirty="0"/>
              <a:t> </a:t>
            </a:r>
            <a:r>
              <a:rPr lang="en-US" dirty="0" err="1"/>
              <a:t>Isolamento</a:t>
            </a:r>
            <a:r>
              <a:rPr lang="en-US" dirty="0"/>
              <a:t> e </a:t>
            </a:r>
            <a:r>
              <a:rPr lang="en-US" dirty="0" err="1"/>
              <a:t>atomicidade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garantidos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Conhecimento</a:t>
            </a:r>
            <a:r>
              <a:rPr lang="en-US" b="1" dirty="0"/>
              <a:t> à priori</a:t>
            </a:r>
          </a:p>
          <a:p>
            <a:pPr lvl="1"/>
            <a:r>
              <a:rPr lang="en-US" dirty="0" err="1"/>
              <a:t>Requer</a:t>
            </a:r>
            <a:r>
              <a:rPr lang="en-US" dirty="0"/>
              <a:t> </a:t>
            </a:r>
            <a:r>
              <a:rPr lang="en-US" dirty="0" err="1"/>
              <a:t>conhecimento</a:t>
            </a:r>
            <a:r>
              <a:rPr lang="en-US" dirty="0"/>
              <a:t> </a:t>
            </a:r>
            <a:r>
              <a:rPr lang="en-US" dirty="0" err="1"/>
              <a:t>prévio</a:t>
            </a:r>
            <a:r>
              <a:rPr lang="en-US" dirty="0"/>
              <a:t> das </a:t>
            </a:r>
            <a:r>
              <a:rPr lang="en-US" dirty="0" err="1"/>
              <a:t>colunas</a:t>
            </a:r>
            <a:r>
              <a:rPr lang="en-US" dirty="0"/>
              <a:t> que </a:t>
            </a:r>
            <a:r>
              <a:rPr lang="en-US" dirty="0" err="1"/>
              <a:t>serão</a:t>
            </a:r>
            <a:r>
              <a:rPr lang="en-US" dirty="0"/>
              <a:t> </a:t>
            </a:r>
            <a:r>
              <a:rPr lang="en-US" dirty="0" err="1"/>
              <a:t>processadas</a:t>
            </a:r>
            <a:r>
              <a:rPr lang="en-US" dirty="0"/>
              <a:t> antes de </a:t>
            </a:r>
            <a:r>
              <a:rPr lang="en-US" dirty="0" err="1"/>
              <a:t>executar</a:t>
            </a:r>
            <a:r>
              <a:rPr lang="en-US" dirty="0"/>
              <a:t> a </a:t>
            </a:r>
            <a:r>
              <a:rPr lang="en-US" dirty="0" err="1"/>
              <a:t>transação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ACID</a:t>
            </a:r>
          </a:p>
          <a:p>
            <a:pPr lvl="1"/>
            <a:r>
              <a:rPr lang="en-US" dirty="0" err="1"/>
              <a:t>Propriedades</a:t>
            </a:r>
            <a:r>
              <a:rPr lang="en-US" dirty="0"/>
              <a:t> ACID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totalmente</a:t>
            </a:r>
            <a:r>
              <a:rPr lang="en-US" dirty="0"/>
              <a:t> </a:t>
            </a:r>
            <a:r>
              <a:rPr lang="en-US" dirty="0" err="1"/>
              <a:t>suportadas</a:t>
            </a:r>
            <a:endParaRPr lang="en-US" dirty="0"/>
          </a:p>
          <a:p>
            <a:pPr lvl="1"/>
            <a:r>
              <a:rPr lang="en-US" dirty="0" err="1"/>
              <a:t>Oferece</a:t>
            </a:r>
            <a:r>
              <a:rPr lang="en-US" dirty="0"/>
              <a:t> </a:t>
            </a:r>
            <a:r>
              <a:rPr lang="en-US" dirty="0" err="1"/>
              <a:t>diversos</a:t>
            </a:r>
            <a:r>
              <a:rPr lang="en-US" dirty="0"/>
              <a:t> </a:t>
            </a:r>
            <a:r>
              <a:rPr lang="en-US" dirty="0" err="1"/>
              <a:t>níveis</a:t>
            </a:r>
            <a:r>
              <a:rPr lang="en-US" dirty="0"/>
              <a:t> de </a:t>
            </a:r>
            <a:r>
              <a:rPr lang="en-US" dirty="0" err="1"/>
              <a:t>isolamento</a:t>
            </a:r>
            <a:r>
              <a:rPr lang="en-US" dirty="0"/>
              <a:t> (ex. </a:t>
            </a:r>
            <a:r>
              <a:rPr lang="en-US" dirty="0" err="1"/>
              <a:t>serialização</a:t>
            </a:r>
            <a:r>
              <a:rPr lang="en-US" dirty="0"/>
              <a:t> e </a:t>
            </a:r>
            <a:r>
              <a:rPr lang="en-US" i="1" dirty="0"/>
              <a:t>snapshot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467027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DBFC15-9118-0EA0-5DA7-9A21FEADF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Dimensão</a:t>
            </a:r>
            <a:r>
              <a:rPr lang="en-US" b="1" dirty="0"/>
              <a:t>: </a:t>
            </a:r>
            <a:r>
              <a:rPr lang="en-US" b="1" dirty="0" err="1"/>
              <a:t>Escalabilidade</a:t>
            </a:r>
            <a:endParaRPr lang="en-US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A959EE-A606-CE0F-8530-425541D57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Limitada</a:t>
            </a:r>
            <a:endParaRPr lang="en-US" b="1" dirty="0"/>
          </a:p>
          <a:p>
            <a:pPr lvl="1"/>
            <a:r>
              <a:rPr lang="pt-BR" dirty="0"/>
              <a:t>Gerenciador de transações centralizado pode ser ampliado desde que não fique sobrecarregado</a:t>
            </a:r>
            <a:r>
              <a:rPr lang="en-US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Logarítmica</a:t>
            </a:r>
            <a:endParaRPr lang="en-US" b="1" dirty="0"/>
          </a:p>
          <a:p>
            <a:pPr lvl="1"/>
            <a:r>
              <a:rPr lang="en-US" dirty="0" err="1"/>
              <a:t>Replicação</a:t>
            </a:r>
            <a:r>
              <a:rPr lang="en-US" dirty="0"/>
              <a:t> de dados do </a:t>
            </a:r>
            <a:r>
              <a:rPr lang="en-US" dirty="0" err="1"/>
              <a:t>tipo</a:t>
            </a:r>
            <a:r>
              <a:rPr lang="en-US" dirty="0"/>
              <a:t> </a:t>
            </a:r>
            <a:r>
              <a:rPr lang="en-US" i="1" dirty="0"/>
              <a:t>read-one write-all </a:t>
            </a:r>
            <a:r>
              <a:rPr lang="en-US" dirty="0"/>
              <a:t>(ROWA) </a:t>
            </a:r>
            <a:r>
              <a:rPr lang="en-US" dirty="0" err="1"/>
              <a:t>pode</a:t>
            </a:r>
            <a:r>
              <a:rPr lang="en-US" dirty="0"/>
              <a:t> </a:t>
            </a:r>
            <a:r>
              <a:rPr lang="en-US" dirty="0" err="1"/>
              <a:t>escalar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 de </a:t>
            </a:r>
            <a:r>
              <a:rPr lang="en-US" dirty="0" err="1"/>
              <a:t>muitas</a:t>
            </a:r>
            <a:r>
              <a:rPr lang="en-US" dirty="0"/>
              <a:t> </a:t>
            </a:r>
            <a:r>
              <a:rPr lang="en-US" dirty="0" err="1"/>
              <a:t>operações</a:t>
            </a:r>
            <a:r>
              <a:rPr lang="en-US" dirty="0"/>
              <a:t> de </a:t>
            </a:r>
            <a:r>
              <a:rPr lang="en-US" dirty="0" err="1"/>
              <a:t>leitura</a:t>
            </a:r>
            <a:endParaRPr lang="en-US" dirty="0"/>
          </a:p>
          <a:p>
            <a:pPr lvl="1"/>
            <a:r>
              <a:rPr lang="en-US" dirty="0" err="1"/>
              <a:t>Consitência</a:t>
            </a:r>
            <a:r>
              <a:rPr lang="en-US" dirty="0"/>
              <a:t> de Cache: </a:t>
            </a:r>
            <a:r>
              <a:rPr lang="en-US" dirty="0" err="1"/>
              <a:t>requer</a:t>
            </a:r>
            <a:r>
              <a:rPr lang="en-US" dirty="0"/>
              <a:t> </a:t>
            </a:r>
            <a:r>
              <a:rPr lang="en-US" dirty="0" err="1"/>
              <a:t>sincronização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atualização</a:t>
            </a:r>
            <a:r>
              <a:rPr lang="en-US" dirty="0"/>
              <a:t> de </a:t>
            </a:r>
            <a:r>
              <a:rPr lang="en-US" dirty="0" err="1"/>
              <a:t>blocos</a:t>
            </a:r>
            <a:r>
              <a:rPr lang="en-US" dirty="0"/>
              <a:t> de dados</a:t>
            </a:r>
          </a:p>
          <a:p>
            <a:pPr lvl="1"/>
            <a:r>
              <a:rPr lang="en-US" dirty="0"/>
              <a:t>2PC: para </a:t>
            </a:r>
            <a:r>
              <a:rPr lang="en-US" dirty="0" err="1"/>
              <a:t>suportar</a:t>
            </a:r>
            <a:r>
              <a:rPr lang="en-US" dirty="0"/>
              <a:t> </a:t>
            </a:r>
            <a:r>
              <a:rPr lang="en-US" dirty="0" err="1"/>
              <a:t>transações</a:t>
            </a:r>
            <a:r>
              <a:rPr lang="en-US" dirty="0"/>
              <a:t> </a:t>
            </a:r>
            <a:r>
              <a:rPr lang="en-US" dirty="0" err="1"/>
              <a:t>concorrentes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múltiplos</a:t>
            </a:r>
            <a:r>
              <a:rPr lang="en-US" dirty="0"/>
              <a:t> </a:t>
            </a:r>
            <a:r>
              <a:rPr lang="en-US" dirty="0" err="1"/>
              <a:t>nós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Linear</a:t>
            </a:r>
          </a:p>
          <a:p>
            <a:pPr lvl="1"/>
            <a:r>
              <a:rPr lang="en-US" dirty="0" err="1"/>
              <a:t>Válido</a:t>
            </a:r>
            <a:r>
              <a:rPr lang="en-US" dirty="0"/>
              <a:t> </a:t>
            </a:r>
            <a:r>
              <a:rPr lang="en-US" dirty="0" err="1"/>
              <a:t>apenas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clusters do </a:t>
            </a:r>
            <a:r>
              <a:rPr lang="en-US" dirty="0" err="1"/>
              <a:t>tipo</a:t>
            </a:r>
            <a:r>
              <a:rPr lang="en-US" dirty="0"/>
              <a:t> </a:t>
            </a:r>
            <a:r>
              <a:rPr lang="en-US" i="1" dirty="0"/>
              <a:t>shared-nothing</a:t>
            </a:r>
          </a:p>
        </p:txBody>
      </p:sp>
    </p:spTree>
    <p:extLst>
      <p:ext uri="{BB962C8B-B14F-4D97-AF65-F5344CB8AC3E}">
        <p14:creationId xmlns:p14="http://schemas.microsoft.com/office/powerpoint/2010/main" val="5561408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DBFC15-9118-0EA0-5DA7-9A21FEADF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Dimensão</a:t>
            </a:r>
            <a:r>
              <a:rPr lang="en-US" b="1" dirty="0"/>
              <a:t>: </a:t>
            </a:r>
            <a:r>
              <a:rPr lang="en-US" b="1" dirty="0" err="1"/>
              <a:t>Armazenamento</a:t>
            </a:r>
            <a:endParaRPr lang="en-US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A959EE-A606-CE0F-8530-425541D57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Relacional</a:t>
            </a:r>
            <a:r>
              <a:rPr lang="en-US" b="1" dirty="0"/>
              <a:t> </a:t>
            </a:r>
          </a:p>
          <a:p>
            <a:pPr lvl="1"/>
            <a:r>
              <a:rPr lang="en-US" dirty="0"/>
              <a:t> </a:t>
            </a:r>
            <a:r>
              <a:rPr lang="en-US" dirty="0" err="1"/>
              <a:t>Suporta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operadores</a:t>
            </a:r>
            <a:r>
              <a:rPr lang="en-US" dirty="0"/>
              <a:t> </a:t>
            </a:r>
            <a:r>
              <a:rPr lang="en-US" dirty="0" err="1"/>
              <a:t>tradicionais</a:t>
            </a:r>
            <a:r>
              <a:rPr lang="en-US" dirty="0"/>
              <a:t> da </a:t>
            </a:r>
            <a:r>
              <a:rPr lang="en-US" dirty="0" err="1"/>
              <a:t>álgebra</a:t>
            </a:r>
            <a:r>
              <a:rPr lang="en-US" dirty="0"/>
              <a:t> </a:t>
            </a:r>
            <a:r>
              <a:rPr lang="en-US" dirty="0" err="1"/>
              <a:t>relacional</a:t>
            </a:r>
            <a:r>
              <a:rPr lang="en-US" dirty="0"/>
              <a:t>, </a:t>
            </a:r>
            <a:r>
              <a:rPr lang="en-US" dirty="0" err="1"/>
              <a:t>suporte</a:t>
            </a:r>
            <a:r>
              <a:rPr lang="en-US" dirty="0"/>
              <a:t> para </a:t>
            </a:r>
            <a:r>
              <a:rPr lang="en-US" dirty="0" err="1"/>
              <a:t>operações</a:t>
            </a:r>
            <a:r>
              <a:rPr lang="en-US" dirty="0"/>
              <a:t> com </a:t>
            </a:r>
            <a:r>
              <a:rPr lang="en-US" dirty="0" err="1"/>
              <a:t>filtragem</a:t>
            </a:r>
            <a:r>
              <a:rPr lang="en-US" dirty="0"/>
              <a:t>, </a:t>
            </a:r>
            <a:r>
              <a:rPr lang="en-US" dirty="0" err="1"/>
              <a:t>agregação</a:t>
            </a:r>
            <a:r>
              <a:rPr lang="en-US" dirty="0"/>
              <a:t>, </a:t>
            </a:r>
            <a:r>
              <a:rPr lang="en-US" dirty="0" err="1"/>
              <a:t>agrupamente</a:t>
            </a:r>
            <a:r>
              <a:rPr lang="en-US" dirty="0"/>
              <a:t> e </a:t>
            </a:r>
            <a:r>
              <a:rPr lang="en-US" dirty="0" err="1"/>
              <a:t>ordenação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Read/write e </a:t>
            </a:r>
            <a:r>
              <a:rPr lang="en-US" b="1" dirty="0" err="1"/>
              <a:t>chave</a:t>
            </a:r>
            <a:r>
              <a:rPr lang="en-US" b="1" dirty="0"/>
              <a:t>-valor </a:t>
            </a:r>
          </a:p>
          <a:p>
            <a:pPr lvl="1"/>
            <a:r>
              <a:rPr lang="en-US" dirty="0" err="1"/>
              <a:t>Capacidade</a:t>
            </a:r>
            <a:r>
              <a:rPr lang="en-US" dirty="0"/>
              <a:t> individual de </a:t>
            </a:r>
            <a:r>
              <a:rPr lang="en-US" dirty="0" err="1"/>
              <a:t>leitura</a:t>
            </a:r>
            <a:r>
              <a:rPr lang="en-US" dirty="0"/>
              <a:t> e </a:t>
            </a:r>
            <a:r>
              <a:rPr lang="en-US" dirty="0" err="1"/>
              <a:t>escrita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itens</a:t>
            </a:r>
            <a:r>
              <a:rPr lang="en-US" dirty="0"/>
              <a:t> de dados</a:t>
            </a:r>
          </a:p>
          <a:p>
            <a:pPr lvl="1"/>
            <a:r>
              <a:rPr lang="en-US" dirty="0" err="1"/>
              <a:t>Suporta</a:t>
            </a:r>
            <a:r>
              <a:rPr lang="en-US" dirty="0"/>
              <a:t> </a:t>
            </a:r>
            <a:r>
              <a:rPr lang="en-US" dirty="0" err="1"/>
              <a:t>várias</a:t>
            </a:r>
            <a:r>
              <a:rPr lang="en-US" dirty="0"/>
              <a:t> </a:t>
            </a:r>
            <a:r>
              <a:rPr lang="en-US" dirty="0" err="1"/>
              <a:t>linguagens</a:t>
            </a:r>
            <a:r>
              <a:rPr lang="en-US" dirty="0"/>
              <a:t> de consulta</a:t>
            </a:r>
          </a:p>
        </p:txBody>
      </p:sp>
    </p:spTree>
    <p:extLst>
      <p:ext uri="{BB962C8B-B14F-4D97-AF65-F5344CB8AC3E}">
        <p14:creationId xmlns:p14="http://schemas.microsoft.com/office/powerpoint/2010/main" val="27223593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DBFC15-9118-0EA0-5DA7-9A21FEADF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Dimensão</a:t>
            </a:r>
            <a:r>
              <a:rPr lang="en-US" b="1" dirty="0"/>
              <a:t>: </a:t>
            </a:r>
            <a:r>
              <a:rPr lang="en-US" b="1" dirty="0" err="1"/>
              <a:t>Paralelismo</a:t>
            </a:r>
            <a:r>
              <a:rPr lang="en-US" b="1" dirty="0"/>
              <a:t> de </a:t>
            </a:r>
            <a:r>
              <a:rPr lang="en-US" b="1" dirty="0" err="1"/>
              <a:t>consultas</a:t>
            </a:r>
            <a:endParaRPr lang="en-US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A959EE-A606-CE0F-8530-425541D57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Suporte</a:t>
            </a:r>
            <a:r>
              <a:rPr lang="en-US" b="1" dirty="0"/>
              <a:t> </a:t>
            </a:r>
            <a:r>
              <a:rPr lang="en-US" b="1" dirty="0" err="1"/>
              <a:t>ao</a:t>
            </a:r>
            <a:r>
              <a:rPr lang="en-US" b="1" dirty="0"/>
              <a:t> </a:t>
            </a:r>
            <a:r>
              <a:rPr lang="en-US" b="1" dirty="0" err="1"/>
              <a:t>paralelismo</a:t>
            </a:r>
            <a:r>
              <a:rPr lang="en-US" b="1" dirty="0"/>
              <a:t> Inter-query</a:t>
            </a:r>
          </a:p>
          <a:p>
            <a:pPr lvl="1"/>
            <a:r>
              <a:rPr lang="en-US" dirty="0" err="1"/>
              <a:t>Múltiplas</a:t>
            </a:r>
            <a:r>
              <a:rPr lang="en-US" dirty="0"/>
              <a:t> </a:t>
            </a:r>
            <a:r>
              <a:rPr lang="en-US" dirty="0" err="1"/>
              <a:t>consultas</a:t>
            </a:r>
            <a:r>
              <a:rPr lang="en-US" dirty="0"/>
              <a:t> </a:t>
            </a:r>
            <a:r>
              <a:rPr lang="en-US" dirty="0" err="1"/>
              <a:t>podem</a:t>
            </a:r>
            <a:r>
              <a:rPr lang="en-US" dirty="0"/>
              <a:t> ser </a:t>
            </a:r>
            <a:r>
              <a:rPr lang="en-US" dirty="0" err="1"/>
              <a:t>processadas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paralelo</a:t>
            </a:r>
            <a:r>
              <a:rPr lang="en-US" dirty="0"/>
              <a:t>!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Suporte</a:t>
            </a:r>
            <a:r>
              <a:rPr lang="en-US" b="1" dirty="0"/>
              <a:t> </a:t>
            </a:r>
            <a:r>
              <a:rPr lang="en-US" b="1" dirty="0" err="1"/>
              <a:t>ao</a:t>
            </a:r>
            <a:r>
              <a:rPr lang="en-US" b="1" dirty="0"/>
              <a:t> </a:t>
            </a:r>
            <a:r>
              <a:rPr lang="en-US" b="1" dirty="0" err="1"/>
              <a:t>paralelismo</a:t>
            </a:r>
            <a:r>
              <a:rPr lang="en-US" b="1" dirty="0"/>
              <a:t> Intra-query</a:t>
            </a:r>
          </a:p>
          <a:p>
            <a:pPr lvl="1"/>
            <a:r>
              <a:rPr lang="en-US" b="1" dirty="0" err="1"/>
              <a:t>Paralelismo</a:t>
            </a:r>
            <a:r>
              <a:rPr lang="en-US" dirty="0"/>
              <a:t> </a:t>
            </a:r>
            <a:r>
              <a:rPr lang="en-US" b="1" dirty="0"/>
              <a:t>Inter-operator</a:t>
            </a:r>
            <a:r>
              <a:rPr lang="en-US" dirty="0"/>
              <a:t>: </a:t>
            </a:r>
          </a:p>
          <a:p>
            <a:pPr lvl="2"/>
            <a:r>
              <a:rPr lang="en-US" dirty="0" err="1"/>
              <a:t>Operadores</a:t>
            </a:r>
            <a:r>
              <a:rPr lang="en-US" dirty="0"/>
              <a:t> </a:t>
            </a:r>
            <a:r>
              <a:rPr lang="en-US" dirty="0" err="1"/>
              <a:t>diferentes</a:t>
            </a:r>
            <a:r>
              <a:rPr lang="en-US" dirty="0"/>
              <a:t> do plano de </a:t>
            </a:r>
            <a:r>
              <a:rPr lang="en-US" dirty="0" err="1"/>
              <a:t>consultas</a:t>
            </a:r>
            <a:r>
              <a:rPr lang="en-US" dirty="0"/>
              <a:t> </a:t>
            </a:r>
            <a:r>
              <a:rPr lang="en-US" dirty="0" err="1"/>
              <a:t>podem</a:t>
            </a:r>
            <a:r>
              <a:rPr lang="en-US" dirty="0"/>
              <a:t> ser </a:t>
            </a:r>
            <a:r>
              <a:rPr lang="en-US" dirty="0" err="1"/>
              <a:t>processados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diferentes</a:t>
            </a:r>
            <a:r>
              <a:rPr lang="en-US" dirty="0"/>
              <a:t> ´</a:t>
            </a:r>
            <a:r>
              <a:rPr lang="en-US" dirty="0" err="1"/>
              <a:t>nós</a:t>
            </a:r>
            <a:r>
              <a:rPr lang="en-US" dirty="0"/>
              <a:t> do cluster, No </a:t>
            </a:r>
            <a:r>
              <a:rPr lang="en-US" dirty="0" err="1"/>
              <a:t>entanto</a:t>
            </a:r>
            <a:r>
              <a:rPr lang="en-US" dirty="0"/>
              <a:t>, </a:t>
            </a:r>
            <a:r>
              <a:rPr lang="en-US" dirty="0" err="1"/>
              <a:t>operadores</a:t>
            </a:r>
            <a:r>
              <a:rPr lang="en-US" dirty="0"/>
              <a:t> </a:t>
            </a:r>
            <a:r>
              <a:rPr lang="en-US" dirty="0" err="1"/>
              <a:t>unários</a:t>
            </a:r>
            <a:r>
              <a:rPr lang="en-US" dirty="0"/>
              <a:t> </a:t>
            </a:r>
            <a:r>
              <a:rPr lang="en-US" dirty="0" err="1"/>
              <a:t>só</a:t>
            </a:r>
            <a:r>
              <a:rPr lang="en-US" dirty="0"/>
              <a:t> </a:t>
            </a:r>
            <a:r>
              <a:rPr lang="en-US" dirty="0" err="1"/>
              <a:t>podem</a:t>
            </a:r>
            <a:r>
              <a:rPr lang="en-US" dirty="0"/>
              <a:t> ser </a:t>
            </a:r>
            <a:r>
              <a:rPr lang="en-US" dirty="0" err="1"/>
              <a:t>processadas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um </a:t>
            </a:r>
            <a:r>
              <a:rPr lang="en-US" dirty="0" err="1"/>
              <a:t>nó</a:t>
            </a:r>
            <a:r>
              <a:rPr lang="en-US" dirty="0"/>
              <a:t>. </a:t>
            </a:r>
          </a:p>
          <a:p>
            <a:pPr lvl="1"/>
            <a:r>
              <a:rPr lang="en-US" b="1" dirty="0"/>
              <a:t> </a:t>
            </a:r>
            <a:r>
              <a:rPr lang="en-US" b="1" dirty="0" err="1"/>
              <a:t>Paralelismo</a:t>
            </a:r>
            <a:r>
              <a:rPr lang="en-US" b="1" dirty="0"/>
              <a:t> Intra-operator :</a:t>
            </a:r>
          </a:p>
          <a:p>
            <a:pPr lvl="2"/>
            <a:r>
              <a:rPr lang="en-US" dirty="0"/>
              <a:t> O </a:t>
            </a:r>
            <a:r>
              <a:rPr lang="en-US" dirty="0" err="1"/>
              <a:t>mesmo</a:t>
            </a:r>
            <a:r>
              <a:rPr lang="en-US" dirty="0"/>
              <a:t> </a:t>
            </a:r>
            <a:r>
              <a:rPr lang="en-US" dirty="0" err="1"/>
              <a:t>operador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ser </a:t>
            </a:r>
            <a:r>
              <a:rPr lang="en-US" dirty="0" err="1"/>
              <a:t>executado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múltiplos</a:t>
            </a:r>
            <a:r>
              <a:rPr lang="en-US" dirty="0"/>
              <a:t> </a:t>
            </a:r>
            <a:r>
              <a:rPr lang="en-US" dirty="0" err="1"/>
              <a:t>nós</a:t>
            </a:r>
            <a:r>
              <a:rPr lang="en-US" dirty="0"/>
              <a:t>. </a:t>
            </a:r>
          </a:p>
        </p:txBody>
      </p:sp>
      <p:sp>
        <p:nvSpPr>
          <p:cNvPr id="4" name="Seta: para a Esquerda 3">
            <a:extLst>
              <a:ext uri="{FF2B5EF4-FFF2-40B4-BE49-F238E27FC236}">
                <a16:creationId xmlns:a16="http://schemas.microsoft.com/office/drawing/2014/main" id="{317A0415-78D6-0FD7-B4C0-B009A5E515DA}"/>
              </a:ext>
            </a:extLst>
          </p:cNvPr>
          <p:cNvSpPr/>
          <p:nvPr/>
        </p:nvSpPr>
        <p:spPr>
          <a:xfrm rot="2234376">
            <a:off x="8148009" y="5253198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BFCCF25-5859-D5AB-6817-ACBA7C78563E}"/>
              </a:ext>
            </a:extLst>
          </p:cNvPr>
          <p:cNvSpPr txBox="1"/>
          <p:nvPr/>
        </p:nvSpPr>
        <p:spPr>
          <a:xfrm>
            <a:off x="8824829" y="5970403"/>
            <a:ext cx="32564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Já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discutido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nas</a:t>
            </a:r>
            <a:r>
              <a:rPr lang="en-US" dirty="0">
                <a:solidFill>
                  <a:schemeClr val="accent1"/>
                </a:solidFill>
              </a:rPr>
              <a:t> aulas </a:t>
            </a:r>
            <a:r>
              <a:rPr lang="en-US" dirty="0" err="1">
                <a:solidFill>
                  <a:schemeClr val="accent1"/>
                </a:solidFill>
              </a:rPr>
              <a:t>anteriores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de banco de dados </a:t>
            </a:r>
            <a:r>
              <a:rPr lang="en-US" dirty="0" err="1">
                <a:solidFill>
                  <a:schemeClr val="accent1"/>
                </a:solidFill>
              </a:rPr>
              <a:t>distribuídos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5227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DBFC15-9118-0EA0-5DA7-9A21FEADF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Quais </a:t>
            </a:r>
            <a:r>
              <a:rPr lang="en-US" b="1" dirty="0" err="1"/>
              <a:t>são</a:t>
            </a:r>
            <a:r>
              <a:rPr lang="en-US" b="1" dirty="0"/>
              <a:t> </a:t>
            </a:r>
            <a:r>
              <a:rPr lang="en-US" b="1" dirty="0" err="1"/>
              <a:t>os</a:t>
            </a:r>
            <a:r>
              <a:rPr lang="en-US" b="1" dirty="0"/>
              <a:t> </a:t>
            </a:r>
            <a:r>
              <a:rPr lang="en-US" b="1" dirty="0" err="1"/>
              <a:t>novos</a:t>
            </a:r>
            <a:r>
              <a:rPr lang="en-US" b="1" dirty="0"/>
              <a:t> “</a:t>
            </a:r>
            <a:r>
              <a:rPr lang="en-US" b="1" dirty="0" err="1"/>
              <a:t>sabores</a:t>
            </a:r>
            <a:r>
              <a:rPr lang="en-US" b="1" dirty="0"/>
              <a:t>” dos </a:t>
            </a:r>
            <a:r>
              <a:rPr lang="en-US" b="1" dirty="0" err="1"/>
              <a:t>sistemas</a:t>
            </a:r>
            <a:r>
              <a:rPr lang="en-US" b="1" dirty="0"/>
              <a:t> NewSQL?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A959EE-A606-CE0F-8530-425541D57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b="1" dirty="0"/>
              <a:t>SQL + chave-valor</a:t>
            </a:r>
          </a:p>
          <a:p>
            <a:pPr lvl="1"/>
            <a:r>
              <a:rPr lang="pt-BR" dirty="0"/>
              <a:t>Usa armazenamento chave-valor para escalar o gerenciamento de dados</a:t>
            </a:r>
          </a:p>
          <a:p>
            <a:pPr lvl="2"/>
            <a:r>
              <a:rPr lang="pt-BR" dirty="0"/>
              <a:t>Exemplos: Splice </a:t>
            </a:r>
            <a:r>
              <a:rPr lang="pt-BR" dirty="0" err="1"/>
              <a:t>machine</a:t>
            </a:r>
            <a:r>
              <a:rPr lang="pt-BR" dirty="0"/>
              <a:t> e </a:t>
            </a:r>
            <a:r>
              <a:rPr lang="pt-BR" dirty="0" err="1"/>
              <a:t>LeanXcale</a:t>
            </a:r>
            <a:r>
              <a:rPr lang="pt-BR" dirty="0"/>
              <a:t>. </a:t>
            </a:r>
          </a:p>
          <a:p>
            <a:r>
              <a:rPr lang="pt-BR" b="1" dirty="0"/>
              <a:t>Suporte ao HTAP </a:t>
            </a:r>
          </a:p>
          <a:p>
            <a:pPr lvl="1"/>
            <a:r>
              <a:rPr lang="pt-BR" dirty="0"/>
              <a:t>Sistemas e bancos de dados que combinam processamento OLTP e OLAP.</a:t>
            </a:r>
          </a:p>
          <a:p>
            <a:pPr lvl="2"/>
            <a:r>
              <a:rPr lang="pt-BR" dirty="0"/>
              <a:t>Exemplos: SAP Hana e </a:t>
            </a:r>
            <a:r>
              <a:rPr lang="pt-BR" dirty="0" err="1"/>
              <a:t>LeanXcale</a:t>
            </a:r>
            <a:r>
              <a:rPr lang="pt-BR" dirty="0"/>
              <a:t>. </a:t>
            </a:r>
          </a:p>
          <a:p>
            <a:r>
              <a:rPr lang="pt-BR" b="1" dirty="0">
                <a:solidFill>
                  <a:srgbClr val="0070C0"/>
                </a:solidFill>
              </a:rPr>
              <a:t>In </a:t>
            </a:r>
            <a:r>
              <a:rPr lang="pt-BR" b="1" dirty="0" err="1">
                <a:solidFill>
                  <a:srgbClr val="0070C0"/>
                </a:solidFill>
              </a:rPr>
              <a:t>memory</a:t>
            </a:r>
            <a:r>
              <a:rPr lang="pt-BR" b="1" dirty="0">
                <a:solidFill>
                  <a:srgbClr val="0070C0"/>
                </a:solidFill>
              </a:rPr>
              <a:t>  (veremos na próxima aula!)</a:t>
            </a:r>
          </a:p>
          <a:p>
            <a:pPr lvl="1"/>
            <a:r>
              <a:rPr lang="pt-BR" dirty="0"/>
              <a:t>São otimizados para processamento/armazenamento em memória principal</a:t>
            </a:r>
          </a:p>
          <a:p>
            <a:pPr lvl="2"/>
            <a:r>
              <a:rPr lang="pt-BR" b="1" dirty="0"/>
              <a:t>Exemplos</a:t>
            </a:r>
            <a:r>
              <a:rPr lang="pt-BR" dirty="0"/>
              <a:t>: SAP Hana e </a:t>
            </a:r>
            <a:r>
              <a:rPr lang="pt-BR" dirty="0" err="1"/>
              <a:t>MemSQL</a:t>
            </a:r>
            <a:r>
              <a:rPr lang="pt-BR" dirty="0"/>
              <a:t> </a:t>
            </a:r>
          </a:p>
          <a:p>
            <a:r>
              <a:rPr lang="pt-BR" b="1" dirty="0"/>
              <a:t>Novos gerenciadores de transação</a:t>
            </a:r>
          </a:p>
          <a:p>
            <a:pPr lvl="1"/>
            <a:r>
              <a:rPr lang="pt-BR" dirty="0"/>
              <a:t>Novidade, o gerenciamento de transações pé escalável</a:t>
            </a:r>
          </a:p>
          <a:p>
            <a:pPr lvl="2"/>
            <a:r>
              <a:rPr lang="pt-BR" dirty="0"/>
              <a:t> </a:t>
            </a:r>
            <a:r>
              <a:rPr lang="pt-BR" b="1" dirty="0"/>
              <a:t>Exemplos</a:t>
            </a:r>
            <a:r>
              <a:rPr lang="pt-BR" dirty="0"/>
              <a:t>: Google </a:t>
            </a:r>
            <a:r>
              <a:rPr lang="pt-BR" dirty="0" err="1"/>
              <a:t>Spanner</a:t>
            </a:r>
            <a:r>
              <a:rPr lang="pt-BR" dirty="0"/>
              <a:t> e </a:t>
            </a:r>
            <a:r>
              <a:rPr lang="pt-BR" dirty="0" err="1"/>
              <a:t>LeanXcale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6743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BF6DDE-9791-F16D-83DC-9364E9CD2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Resumo</a:t>
            </a:r>
            <a:r>
              <a:rPr lang="en-US" b="1" dirty="0"/>
              <a:t>: </a:t>
            </a:r>
            <a:r>
              <a:rPr lang="en-US" b="1" dirty="0" err="1"/>
              <a:t>Novos</a:t>
            </a:r>
            <a:r>
              <a:rPr lang="en-US" b="1" dirty="0"/>
              <a:t> “</a:t>
            </a:r>
            <a:r>
              <a:rPr lang="en-US" b="1" dirty="0" err="1"/>
              <a:t>sabores</a:t>
            </a:r>
            <a:r>
              <a:rPr lang="en-US" b="1" dirty="0"/>
              <a:t>” de NewSQL</a:t>
            </a:r>
          </a:p>
        </p:txBody>
      </p:sp>
      <p:graphicFrame>
        <p:nvGraphicFramePr>
          <p:cNvPr id="8" name="Espaço Reservado para Conteúdo 7">
            <a:extLst>
              <a:ext uri="{FF2B5EF4-FFF2-40B4-BE49-F238E27FC236}">
                <a16:creationId xmlns:a16="http://schemas.microsoft.com/office/drawing/2014/main" id="{251AE211-DB56-26BD-6BB6-D8952532D0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5459432"/>
              </p:ext>
            </p:extLst>
          </p:nvPr>
        </p:nvGraphicFramePr>
        <p:xfrm>
          <a:off x="838199" y="1825625"/>
          <a:ext cx="10775731" cy="3672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96864">
                  <a:extLst>
                    <a:ext uri="{9D8B030D-6E8A-4147-A177-3AD203B41FA5}">
                      <a16:colId xmlns:a16="http://schemas.microsoft.com/office/drawing/2014/main" val="556763243"/>
                    </a:ext>
                  </a:extLst>
                </a:gridCol>
                <a:gridCol w="2190786">
                  <a:extLst>
                    <a:ext uri="{9D8B030D-6E8A-4147-A177-3AD203B41FA5}">
                      <a16:colId xmlns:a16="http://schemas.microsoft.com/office/drawing/2014/main" val="83753265"/>
                    </a:ext>
                  </a:extLst>
                </a:gridCol>
                <a:gridCol w="6588081">
                  <a:extLst>
                    <a:ext uri="{9D8B030D-6E8A-4147-A177-3AD203B41FA5}">
                      <a16:colId xmlns:a16="http://schemas.microsoft.com/office/drawing/2014/main" val="42021537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Vendedor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Produto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Observações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78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/>
                        <a:t>Google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Spanner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Serviço de banco de dados distribuído em nuvem do Google. Usado o aplicativo </a:t>
                      </a:r>
                      <a:r>
                        <a:rPr lang="pt-BR" dirty="0" err="1"/>
                        <a:t>AdWords</a:t>
                      </a:r>
                      <a:r>
                        <a:rPr lang="pt-BR" dirty="0"/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132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LeanXcale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LeanXcale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Banco do tipo  HTAP agregação de dados em tempo real e capacidade de armazenamento múltiplo.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0238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Hana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Foi o pioneiro  em processamento HTAP, baseado em </a:t>
                      </a:r>
                      <a:r>
                        <a:rPr lang="pt-BR" dirty="0" err="1"/>
                        <a:t>in-memory</a:t>
                      </a:r>
                      <a:r>
                        <a:rPr lang="pt-BR" dirty="0"/>
                        <a:t>, armazenamento do tipo família de colunas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761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MenSQL</a:t>
                      </a:r>
                      <a:r>
                        <a:rPr lang="en-US" b="1" dirty="0"/>
                        <a:t> Inc.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MemSQL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Baseado em </a:t>
                      </a:r>
                      <a:r>
                        <a:rPr lang="en-US" dirty="0"/>
                        <a:t>In-memory,  </a:t>
                      </a:r>
                      <a:r>
                        <a:rPr lang="en-US" dirty="0" err="1"/>
                        <a:t>compatível</a:t>
                      </a:r>
                      <a:r>
                        <a:rPr lang="en-US" dirty="0"/>
                        <a:t> com MySQL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36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 err="1"/>
                        <a:t>NuoDB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NuoDB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SBGD </a:t>
                      </a:r>
                      <a:r>
                        <a:rPr lang="en-US" dirty="0" err="1"/>
                        <a:t>distribuído</a:t>
                      </a:r>
                      <a:r>
                        <a:rPr lang="en-US" dirty="0"/>
                        <a:t> com </a:t>
                      </a:r>
                      <a:r>
                        <a:rPr lang="en-US" dirty="0" err="1"/>
                        <a:t>arquitetura</a:t>
                      </a:r>
                      <a:r>
                        <a:rPr lang="en-US" dirty="0"/>
                        <a:t> P2P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804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/>
                        <a:t>Splice </a:t>
                      </a:r>
                      <a:r>
                        <a:rPr lang="pt-BR" b="1" dirty="0" err="1"/>
                        <a:t>Machine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Splice </a:t>
                      </a:r>
                      <a:r>
                        <a:rPr lang="pt-BR" dirty="0" err="1"/>
                        <a:t>Machine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Usa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Hbasde</a:t>
                      </a:r>
                      <a:r>
                        <a:rPr lang="en-US" dirty="0"/>
                        <a:t> com </a:t>
                      </a:r>
                      <a:r>
                        <a:rPr lang="en-US" dirty="0" err="1"/>
                        <a:t>armazenamento</a:t>
                      </a:r>
                      <a:r>
                        <a:rPr lang="en-US" dirty="0"/>
                        <a:t>, Derby </a:t>
                      </a:r>
                      <a:r>
                        <a:rPr lang="en-US" dirty="0" err="1"/>
                        <a:t>como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processador</a:t>
                      </a:r>
                      <a:r>
                        <a:rPr lang="en-US" dirty="0"/>
                        <a:t> de </a:t>
                      </a:r>
                      <a:r>
                        <a:rPr lang="en-US" dirty="0" err="1"/>
                        <a:t>consultas</a:t>
                      </a:r>
                      <a:r>
                        <a:rPr lang="en-US" dirty="0"/>
                        <a:t> OLTP e SPARQL  para as </a:t>
                      </a:r>
                      <a:r>
                        <a:rPr lang="en-US" dirty="0" err="1"/>
                        <a:t>as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consultas</a:t>
                      </a:r>
                      <a:r>
                        <a:rPr lang="en-US" dirty="0"/>
                        <a:t> OLAP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9458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89424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BF6DDE-9791-F16D-83DC-9364E9CD2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Comparado</a:t>
            </a:r>
            <a:r>
              <a:rPr lang="en-US" b="1" dirty="0"/>
              <a:t> </a:t>
            </a:r>
            <a:r>
              <a:rPr lang="en-US" b="1" dirty="0" err="1"/>
              <a:t>os</a:t>
            </a:r>
            <a:r>
              <a:rPr lang="en-US" b="1" dirty="0"/>
              <a:t> “</a:t>
            </a:r>
            <a:r>
              <a:rPr lang="en-US" b="1" dirty="0" err="1"/>
              <a:t>sabores</a:t>
            </a:r>
            <a:r>
              <a:rPr lang="en-US" b="1" dirty="0"/>
              <a:t>” de NewSQL</a:t>
            </a:r>
          </a:p>
        </p:txBody>
      </p:sp>
      <p:graphicFrame>
        <p:nvGraphicFramePr>
          <p:cNvPr id="8" name="Espaço Reservado para Conteúdo 7">
            <a:extLst>
              <a:ext uri="{FF2B5EF4-FFF2-40B4-BE49-F238E27FC236}">
                <a16:creationId xmlns:a16="http://schemas.microsoft.com/office/drawing/2014/main" id="{251AE211-DB56-26BD-6BB6-D8952532D0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2783952"/>
              </p:ext>
            </p:extLst>
          </p:nvPr>
        </p:nvGraphicFramePr>
        <p:xfrm>
          <a:off x="838199" y="1825625"/>
          <a:ext cx="11259208" cy="4216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93349">
                  <a:extLst>
                    <a:ext uri="{9D8B030D-6E8A-4147-A177-3AD203B41FA5}">
                      <a16:colId xmlns:a16="http://schemas.microsoft.com/office/drawing/2014/main" val="556763243"/>
                    </a:ext>
                  </a:extLst>
                </a:gridCol>
                <a:gridCol w="1413524">
                  <a:extLst>
                    <a:ext uri="{9D8B030D-6E8A-4147-A177-3AD203B41FA5}">
                      <a16:colId xmlns:a16="http://schemas.microsoft.com/office/drawing/2014/main" val="2618979539"/>
                    </a:ext>
                  </a:extLst>
                </a:gridCol>
                <a:gridCol w="1413524">
                  <a:extLst>
                    <a:ext uri="{9D8B030D-6E8A-4147-A177-3AD203B41FA5}">
                      <a16:colId xmlns:a16="http://schemas.microsoft.com/office/drawing/2014/main" val="83753265"/>
                    </a:ext>
                  </a:extLst>
                </a:gridCol>
                <a:gridCol w="1582013">
                  <a:extLst>
                    <a:ext uri="{9D8B030D-6E8A-4147-A177-3AD203B41FA5}">
                      <a16:colId xmlns:a16="http://schemas.microsoft.com/office/drawing/2014/main" val="2820179001"/>
                    </a:ext>
                  </a:extLst>
                </a:gridCol>
                <a:gridCol w="1925019">
                  <a:extLst>
                    <a:ext uri="{9D8B030D-6E8A-4147-A177-3AD203B41FA5}">
                      <a16:colId xmlns:a16="http://schemas.microsoft.com/office/drawing/2014/main" val="4202153752"/>
                    </a:ext>
                  </a:extLst>
                </a:gridCol>
                <a:gridCol w="1579513">
                  <a:extLst>
                    <a:ext uri="{9D8B030D-6E8A-4147-A177-3AD203B41FA5}">
                      <a16:colId xmlns:a16="http://schemas.microsoft.com/office/drawing/2014/main" val="269694373"/>
                    </a:ext>
                  </a:extLst>
                </a:gridCol>
                <a:gridCol w="1752266">
                  <a:extLst>
                    <a:ext uri="{9D8B030D-6E8A-4147-A177-3AD203B41FA5}">
                      <a16:colId xmlns:a16="http://schemas.microsoft.com/office/drawing/2014/main" val="12995667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Produto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Objetivo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Modelo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Transacional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Escalabilidade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Armazenamernto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Paralelismo</a:t>
                      </a:r>
                      <a:r>
                        <a:rPr lang="en-US" dirty="0"/>
                        <a:t> das </a:t>
                      </a:r>
                      <a:r>
                        <a:rPr lang="en-US" dirty="0" err="1"/>
                        <a:t>consultas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Polystore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78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 err="1"/>
                        <a:t>Spanner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OLTP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ACID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Linear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Chave</a:t>
                      </a:r>
                      <a:r>
                        <a:rPr lang="en-US" dirty="0"/>
                        <a:t>-Valor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Inter-query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132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 err="1"/>
                        <a:t>LeanXcale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HTAP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ACID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Linear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Relacional</a:t>
                      </a:r>
                      <a:r>
                        <a:rPr lang="en-US" dirty="0"/>
                        <a:t> e </a:t>
                      </a:r>
                      <a:r>
                        <a:rPr lang="en-US" dirty="0" err="1"/>
                        <a:t>Chave</a:t>
                      </a:r>
                      <a:r>
                        <a:rPr lang="en-US" dirty="0"/>
                        <a:t>-Valor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Inter-query</a:t>
                      </a:r>
                      <a:endParaRPr lang="pt-BR" dirty="0"/>
                    </a:p>
                    <a:p>
                      <a:r>
                        <a:rPr lang="pt-BR" dirty="0" err="1"/>
                        <a:t>Intra-operator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SQL, </a:t>
                      </a:r>
                      <a:r>
                        <a:rPr lang="pt-BR" dirty="0" err="1"/>
                        <a:t>NoSQL</a:t>
                      </a:r>
                      <a:r>
                        <a:rPr lang="pt-BR" dirty="0"/>
                        <a:t>, HDFS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0238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/>
                        <a:t>Hana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HTAP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ACID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2PC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Relacional</a:t>
                      </a:r>
                      <a:r>
                        <a:rPr lang="en-US" dirty="0"/>
                        <a:t> e </a:t>
                      </a:r>
                      <a:r>
                        <a:rPr lang="en-US" dirty="0" err="1"/>
                        <a:t>Colunas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Inter-query</a:t>
                      </a:r>
                      <a:endParaRPr lang="pt-BR" dirty="0"/>
                    </a:p>
                    <a:p>
                      <a:r>
                        <a:rPr lang="pt-BR" dirty="0" err="1"/>
                        <a:t>Intra-operator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HDFS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761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 err="1"/>
                        <a:t>MemSQL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HTAP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 hoc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Relacional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Inter-query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HDFS (Spark </a:t>
                      </a:r>
                      <a:r>
                        <a:rPr lang="pt-BR" dirty="0" err="1"/>
                        <a:t>connector</a:t>
                      </a:r>
                      <a:r>
                        <a:rPr lang="pt-BR" dirty="0"/>
                        <a:t>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36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 err="1"/>
                        <a:t>NuoDB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OLTP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ACID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Chave</a:t>
                      </a:r>
                      <a:r>
                        <a:rPr lang="en-US" dirty="0"/>
                        <a:t>-Valor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Inter-query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HDFS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804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/>
                        <a:t>Splice </a:t>
                      </a:r>
                      <a:r>
                        <a:rPr lang="pt-BR" b="1" dirty="0" err="1"/>
                        <a:t>Machine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HTAP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ACID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Gerenciador</a:t>
                      </a:r>
                      <a:r>
                        <a:rPr lang="en-US" dirty="0"/>
                        <a:t> de </a:t>
                      </a:r>
                      <a:r>
                        <a:rPr lang="en-US" dirty="0" err="1"/>
                        <a:t>transações</a:t>
                      </a:r>
                      <a:r>
                        <a:rPr lang="en-US" dirty="0"/>
                        <a:t> é </a:t>
                      </a:r>
                      <a:r>
                        <a:rPr lang="en-US" dirty="0" err="1"/>
                        <a:t>Centralizado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Chave</a:t>
                      </a:r>
                      <a:r>
                        <a:rPr lang="en-US" dirty="0"/>
                        <a:t>-Valor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Inter-query</a:t>
                      </a:r>
                      <a:endParaRPr lang="pt-BR" dirty="0"/>
                    </a:p>
                    <a:p>
                      <a:r>
                        <a:rPr lang="pt-BR" dirty="0" err="1"/>
                        <a:t>Intra-operator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HBase</a:t>
                      </a:r>
                      <a:r>
                        <a:rPr lang="pt-BR" dirty="0"/>
                        <a:t>, HDFS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9458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47807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92BB9D-627C-A118-56B0-969E0739A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Principais desafios e direções futuras</a:t>
            </a:r>
            <a:r>
              <a:rPr lang="en-US" b="1" dirty="0"/>
              <a:t> - NewSQL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7C5FD5-AC9B-4B04-93B0-6E6E61BE7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 err="1"/>
              <a:t>NewSQL</a:t>
            </a:r>
            <a:r>
              <a:rPr lang="pt-BR" b="1" dirty="0"/>
              <a:t> é a tendência “mais quente” em gerenciamento de banco de dados! </a:t>
            </a:r>
            <a:r>
              <a:rPr lang="pt-BR" b="1" dirty="0">
                <a:sym typeface="Wingdings" panose="05000000000000000000" pitchFamily="2" charset="2"/>
              </a:rPr>
              <a:t> Ótimas oportunidades de pesquisas em BD</a:t>
            </a:r>
            <a:endParaRPr lang="pt-BR" b="1" dirty="0"/>
          </a:p>
          <a:p>
            <a:pPr lvl="1"/>
            <a:r>
              <a:rPr lang="pt-BR" dirty="0" err="1"/>
              <a:t>NewSQL</a:t>
            </a:r>
            <a:r>
              <a:rPr lang="pt-BR" dirty="0"/>
              <a:t> oferece escalabilidade horizontal, sem renunciar às propriedades ACID e controle de transações SQL.</a:t>
            </a:r>
          </a:p>
          <a:p>
            <a:pPr lvl="1"/>
            <a:r>
              <a:rPr lang="pt-BR" dirty="0" err="1"/>
              <a:t>NewSQL</a:t>
            </a:r>
            <a:r>
              <a:rPr lang="pt-BR" dirty="0"/>
              <a:t> tem origens diferentes (vendedores), levando a sabores diferentes para usos diferentes!</a:t>
            </a:r>
          </a:p>
          <a:p>
            <a:pPr lvl="1"/>
            <a:r>
              <a:rPr lang="pt-BR" dirty="0"/>
              <a:t>Nossa taxonomia permite comparar sistemas </a:t>
            </a:r>
            <a:r>
              <a:rPr lang="pt-BR" dirty="0" err="1"/>
              <a:t>NewSQL</a:t>
            </a:r>
            <a:r>
              <a:rPr lang="pt-BR" dirty="0"/>
              <a:t> e sistemas SQL tradicionais de modo simplificado</a:t>
            </a:r>
          </a:p>
          <a:p>
            <a:endParaRPr lang="pt-BR" b="1" dirty="0"/>
          </a:p>
          <a:p>
            <a:r>
              <a:rPr lang="pt-BR" b="1" dirty="0">
                <a:solidFill>
                  <a:srgbClr val="00B0F0"/>
                </a:solidFill>
              </a:rPr>
              <a:t>Bancos de dados em memória são um tipo de </a:t>
            </a:r>
            <a:r>
              <a:rPr lang="pt-BR" b="1" dirty="0" err="1">
                <a:solidFill>
                  <a:srgbClr val="00B0F0"/>
                </a:solidFill>
              </a:rPr>
              <a:t>NewSQL</a:t>
            </a:r>
            <a:r>
              <a:rPr lang="pt-BR" b="1" dirty="0">
                <a:solidFill>
                  <a:srgbClr val="00B0F0"/>
                </a:solidFill>
              </a:rPr>
              <a:t> ;-)</a:t>
            </a:r>
            <a:endParaRPr lang="en-US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8132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44E6CC-FFF4-A4D8-601E-480142021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Atividade</a:t>
            </a:r>
            <a:r>
              <a:rPr lang="en-US" b="1" dirty="0"/>
              <a:t> Extra-</a:t>
            </a:r>
            <a:r>
              <a:rPr lang="en-US" b="1" dirty="0" err="1"/>
              <a:t>Classe</a:t>
            </a:r>
            <a:endParaRPr lang="en-US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0C9C58-D854-FB64-C9CF-B855DFB70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20000"/>
          </a:bodyPr>
          <a:lstStyle/>
          <a:p>
            <a:pPr marL="685800" lvl="2">
              <a:spcBef>
                <a:spcPts val="1000"/>
              </a:spcBef>
            </a:pPr>
            <a:r>
              <a:rPr lang="en-US" sz="2400" b="1" dirty="0"/>
              <a:t>Hands on </a:t>
            </a:r>
            <a:r>
              <a:rPr lang="en-US" sz="2400" b="1" dirty="0" err="1"/>
              <a:t>Turorial</a:t>
            </a:r>
            <a:r>
              <a:rPr lang="en-US" sz="2400" b="1" dirty="0"/>
              <a:t> do SIGMOD 2022 </a:t>
            </a:r>
            <a:r>
              <a:rPr lang="en-US" sz="2400" dirty="0"/>
              <a:t>“HTAP Databases: A Tutorial” de Li, G e Zhang, C. no SIGMOD2022 https://dl.acm.org/doi/abs/10.1145/3514221.3522565 (+-1 hora)</a:t>
            </a:r>
          </a:p>
          <a:p>
            <a:pPr marL="457200" lvl="2" indent="0">
              <a:spcBef>
                <a:spcPts val="1000"/>
              </a:spcBef>
              <a:buNone/>
            </a:pPr>
            <a:endParaRPr lang="en-US" sz="2400" dirty="0"/>
          </a:p>
          <a:p>
            <a:pPr marL="685800" lvl="2">
              <a:spcBef>
                <a:spcPts val="1000"/>
              </a:spcBef>
            </a:pPr>
            <a:endParaRPr lang="en-US" sz="2800" dirty="0"/>
          </a:p>
          <a:p>
            <a:pPr marL="228600" lvl="1">
              <a:spcBef>
                <a:spcPts val="1000"/>
              </a:spcBef>
            </a:pPr>
            <a:endParaRPr lang="en-US" sz="2800" dirty="0"/>
          </a:p>
          <a:p>
            <a:pPr marL="685800" lvl="2">
              <a:spcBef>
                <a:spcPts val="1000"/>
              </a:spcBef>
            </a:pPr>
            <a:endParaRPr lang="en-US" sz="2400" b="1" dirty="0"/>
          </a:p>
          <a:p>
            <a:pPr marL="685800" lvl="2">
              <a:spcBef>
                <a:spcPts val="1000"/>
              </a:spcBef>
            </a:pPr>
            <a:endParaRPr lang="en-US" sz="2400" b="1" dirty="0"/>
          </a:p>
          <a:p>
            <a:pPr marL="685800" lvl="2">
              <a:spcBef>
                <a:spcPts val="1000"/>
              </a:spcBef>
            </a:pPr>
            <a:endParaRPr lang="en-US" sz="2400" b="1" dirty="0"/>
          </a:p>
          <a:p>
            <a:pPr marL="685800" lvl="2">
              <a:spcBef>
                <a:spcPts val="1000"/>
              </a:spcBef>
            </a:pPr>
            <a:endParaRPr lang="en-US" sz="2400" b="1" dirty="0"/>
          </a:p>
          <a:p>
            <a:pPr marL="685800" lvl="2">
              <a:spcBef>
                <a:spcPts val="1000"/>
              </a:spcBef>
            </a:pPr>
            <a:endParaRPr lang="en-US" sz="2400" dirty="0"/>
          </a:p>
          <a:p>
            <a:pPr marL="685800" lvl="2">
              <a:spcBef>
                <a:spcPts val="1000"/>
              </a:spcBef>
            </a:pPr>
            <a:r>
              <a:rPr lang="en-US" sz="2400" b="1" dirty="0"/>
              <a:t>Data de </a:t>
            </a:r>
            <a:r>
              <a:rPr lang="en-US" sz="2400" b="1" dirty="0" err="1"/>
              <a:t>Entrega</a:t>
            </a:r>
            <a:r>
              <a:rPr lang="en-US" sz="2400" dirty="0"/>
              <a:t>: </a:t>
            </a:r>
            <a:r>
              <a:rPr lang="en-US" sz="2400" dirty="0" err="1"/>
              <a:t>Próxima</a:t>
            </a:r>
            <a:r>
              <a:rPr lang="en-US" sz="2400" dirty="0"/>
              <a:t> aula, </a:t>
            </a:r>
            <a:r>
              <a:rPr lang="en-US" sz="2400" dirty="0" err="1"/>
              <a:t>envio</a:t>
            </a:r>
            <a:r>
              <a:rPr lang="en-US" sz="2400" dirty="0"/>
              <a:t> das </a:t>
            </a:r>
            <a:r>
              <a:rPr lang="en-US" sz="2400" dirty="0" err="1"/>
              <a:t>respostas</a:t>
            </a:r>
            <a:r>
              <a:rPr lang="en-US" sz="2400" dirty="0"/>
              <a:t> do </a:t>
            </a:r>
            <a:r>
              <a:rPr lang="en-US" sz="2400" dirty="0" err="1"/>
              <a:t>exercício</a:t>
            </a:r>
            <a:r>
              <a:rPr lang="en-US" sz="2400" dirty="0"/>
              <a:t> do </a:t>
            </a:r>
            <a:r>
              <a:rPr lang="en-US" sz="2400" b="1" dirty="0"/>
              <a:t>Hands on </a:t>
            </a:r>
            <a:r>
              <a:rPr lang="en-US" sz="2400" dirty="0" err="1"/>
              <a:t>por</a:t>
            </a:r>
            <a:r>
              <a:rPr lang="en-US" sz="2400" dirty="0"/>
              <a:t> email.</a:t>
            </a:r>
          </a:p>
          <a:p>
            <a:pPr marL="685800" lvl="2">
              <a:spcBef>
                <a:spcPts val="1000"/>
              </a:spcBef>
            </a:pPr>
            <a:r>
              <a:rPr lang="en-US" sz="2400" b="1" dirty="0" err="1"/>
              <a:t>Método</a:t>
            </a:r>
            <a:r>
              <a:rPr lang="en-US" sz="2400" b="1" dirty="0"/>
              <a:t> </a:t>
            </a:r>
            <a:r>
              <a:rPr lang="en-US" sz="2400" b="1" dirty="0" err="1"/>
              <a:t>Avaliação</a:t>
            </a:r>
            <a:r>
              <a:rPr lang="en-US" sz="2400" b="1" dirty="0"/>
              <a:t>:  </a:t>
            </a:r>
            <a:r>
              <a:rPr lang="en-US" sz="2400" dirty="0" err="1"/>
              <a:t>lista</a:t>
            </a:r>
            <a:r>
              <a:rPr lang="en-US" sz="2400" dirty="0"/>
              <a:t> individual.</a:t>
            </a:r>
          </a:p>
          <a:p>
            <a:pPr marL="685800" lvl="2">
              <a:spcBef>
                <a:spcPts val="1000"/>
              </a:spcBef>
            </a:pPr>
            <a:r>
              <a:rPr lang="en-US" sz="2400" b="1" dirty="0" err="1"/>
              <a:t>Pontuação</a:t>
            </a:r>
            <a:r>
              <a:rPr lang="en-US" sz="2400" b="1" dirty="0"/>
              <a:t>: </a:t>
            </a:r>
            <a:r>
              <a:rPr lang="en-US" sz="2400" dirty="0"/>
              <a:t>Vale </a:t>
            </a:r>
            <a:r>
              <a:rPr lang="en-US" sz="2400" dirty="0" err="1"/>
              <a:t>até</a:t>
            </a:r>
            <a:r>
              <a:rPr lang="en-US" sz="2400" dirty="0"/>
              <a:t> 1.0 </a:t>
            </a:r>
            <a:r>
              <a:rPr lang="en-US" sz="2400" dirty="0" err="1"/>
              <a:t>na</a:t>
            </a:r>
            <a:r>
              <a:rPr lang="en-US" sz="2400" dirty="0"/>
              <a:t> P1</a:t>
            </a:r>
            <a:endParaRPr lang="en-US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F633B630-5FB5-9A80-8FC8-BF2C2A83EB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000" t="4151" r="7605" b="8615"/>
          <a:stretch/>
        </p:blipFill>
        <p:spPr>
          <a:xfrm>
            <a:off x="4292129" y="2585543"/>
            <a:ext cx="4033608" cy="24050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122862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E8D19B-F911-5A2E-A640-6C4D7FF43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Leituras</a:t>
            </a:r>
            <a:r>
              <a:rPr lang="en-US" b="1" dirty="0"/>
              <a:t> </a:t>
            </a:r>
            <a:r>
              <a:rPr lang="en-US" b="1" dirty="0" err="1"/>
              <a:t>Complementares</a:t>
            </a:r>
            <a:endParaRPr lang="en-US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2F6CCD-F522-B3B3-8AB2-CB3424863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dirty="0">
              <a:solidFill>
                <a:srgbClr val="FF0000"/>
              </a:solidFill>
            </a:endParaRPr>
          </a:p>
          <a:p>
            <a:r>
              <a:rPr lang="en-US" dirty="0"/>
              <a:t>ARTIGO. </a:t>
            </a:r>
            <a:r>
              <a:rPr lang="en-US" dirty="0" err="1"/>
              <a:t>Stonebraker</a:t>
            </a:r>
            <a:r>
              <a:rPr lang="en-US" dirty="0"/>
              <a:t>, M. (2011) “New SQL: An Alternative to NoSQL and Old SQL For New OLTP Apps”. Communications of ACM - http://cacm.acm.org/blogs/blog-cacm/109710 </a:t>
            </a:r>
          </a:p>
          <a:p>
            <a:endParaRPr lang="en-US" dirty="0"/>
          </a:p>
          <a:p>
            <a:r>
              <a:rPr lang="en-US" dirty="0"/>
              <a:t>PALESTRA </a:t>
            </a:r>
            <a:r>
              <a:rPr lang="en-US" dirty="0" err="1"/>
              <a:t>apresentada</a:t>
            </a:r>
            <a:r>
              <a:rPr lang="en-US" dirty="0"/>
              <a:t> no SBBD (2020)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Valduriez</a:t>
            </a:r>
            <a:r>
              <a:rPr lang="en-US" dirty="0"/>
              <a:t>, P. “Principles of Distributed Database Systems: spotlight on NewSQL”, </a:t>
            </a:r>
          </a:p>
          <a:p>
            <a:pPr lvl="1"/>
            <a:r>
              <a:rPr lang="en-US" dirty="0" err="1"/>
              <a:t>Ótimo</a:t>
            </a:r>
            <a:r>
              <a:rPr lang="en-US" dirty="0"/>
              <a:t> </a:t>
            </a:r>
            <a:r>
              <a:rPr lang="en-US" dirty="0" err="1"/>
              <a:t>resumo</a:t>
            </a:r>
            <a:r>
              <a:rPr lang="en-US" dirty="0"/>
              <a:t> de NoSQL e </a:t>
            </a:r>
            <a:r>
              <a:rPr lang="en-US" dirty="0" err="1"/>
              <a:t>introdução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NewSQL!</a:t>
            </a:r>
          </a:p>
          <a:p>
            <a:endParaRPr lang="pt-BR" dirty="0"/>
          </a:p>
          <a:p>
            <a:endParaRPr lang="pt-BR" dirty="0">
              <a:solidFill>
                <a:srgbClr val="FF0000"/>
              </a:solidFill>
            </a:endParaRPr>
          </a:p>
          <a:p>
            <a:endParaRPr lang="pt-BR" dirty="0">
              <a:solidFill>
                <a:srgbClr val="FF0000"/>
              </a:solidFill>
            </a:endParaRPr>
          </a:p>
          <a:p>
            <a:endParaRPr lang="pt-BR" dirty="0">
              <a:solidFill>
                <a:srgbClr val="FF0000"/>
              </a:solidFill>
            </a:endParaRPr>
          </a:p>
          <a:p>
            <a:endParaRPr lang="pt-BR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38591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D6CB9-91EA-FBF9-BE00-4B07F098F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Motivação</a:t>
            </a:r>
            <a:r>
              <a:rPr lang="en-US" b="1" dirty="0"/>
              <a:t> para </a:t>
            </a:r>
            <a:r>
              <a:rPr lang="en-US" b="1" dirty="0" err="1"/>
              <a:t>Bancos</a:t>
            </a:r>
            <a:r>
              <a:rPr lang="en-US" b="1" dirty="0"/>
              <a:t> de Dados </a:t>
            </a:r>
            <a:r>
              <a:rPr lang="en-US" b="1" dirty="0" err="1"/>
              <a:t>em</a:t>
            </a:r>
            <a:r>
              <a:rPr lang="en-US" b="1" dirty="0"/>
              <a:t> </a:t>
            </a:r>
            <a:r>
              <a:rPr lang="en-US" b="1" dirty="0" err="1"/>
              <a:t>Memória</a:t>
            </a:r>
            <a:r>
              <a:rPr lang="en-US" b="1" dirty="0"/>
              <a:t> (IMDB </a:t>
            </a:r>
            <a:r>
              <a:rPr lang="en-US" b="1" dirty="0" err="1"/>
              <a:t>ou</a:t>
            </a:r>
            <a:r>
              <a:rPr lang="en-US" b="1" dirty="0"/>
              <a:t> MMDB)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A82796-D526-7097-C89A-E9013E4C0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IMDB </a:t>
            </a:r>
            <a:r>
              <a:rPr lang="en-US" b="1" dirty="0" err="1"/>
              <a:t>são</a:t>
            </a:r>
            <a:r>
              <a:rPr lang="en-US" b="1" dirty="0"/>
              <a:t> </a:t>
            </a:r>
            <a:r>
              <a:rPr lang="en-US" b="1" dirty="0" err="1"/>
              <a:t>uma</a:t>
            </a:r>
            <a:r>
              <a:rPr lang="en-US" b="1" dirty="0"/>
              <a:t> </a:t>
            </a:r>
            <a:r>
              <a:rPr lang="en-US" b="1" dirty="0" err="1"/>
              <a:t>ideia</a:t>
            </a:r>
            <a:r>
              <a:rPr lang="en-US" b="1" dirty="0"/>
              <a:t> nova? NÃO! </a:t>
            </a:r>
            <a:r>
              <a:rPr lang="en-US" b="1" dirty="0" err="1"/>
              <a:t>ideia</a:t>
            </a:r>
            <a:r>
              <a:rPr lang="en-US" b="1" dirty="0"/>
              <a:t> </a:t>
            </a:r>
            <a:r>
              <a:rPr lang="en-US" b="1" dirty="0" err="1"/>
              <a:t>surgiu</a:t>
            </a:r>
            <a:r>
              <a:rPr lang="en-US" b="1" dirty="0"/>
              <a:t> </a:t>
            </a:r>
            <a:r>
              <a:rPr lang="en-US" b="1" dirty="0" err="1"/>
              <a:t>nos</a:t>
            </a:r>
            <a:r>
              <a:rPr lang="en-US" b="1" dirty="0"/>
              <a:t> </a:t>
            </a:r>
            <a:r>
              <a:rPr lang="en-US" b="1" dirty="0" err="1"/>
              <a:t>anos</a:t>
            </a:r>
            <a:r>
              <a:rPr lang="en-US" b="1" dirty="0"/>
              <a:t> 1990!</a:t>
            </a:r>
          </a:p>
          <a:p>
            <a:pPr lvl="1"/>
            <a:r>
              <a:rPr lang="en-US" dirty="0"/>
              <a:t>Ex: </a:t>
            </a:r>
            <a:r>
              <a:rPr lang="en-US" dirty="0" err="1"/>
              <a:t>lançado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anos</a:t>
            </a:r>
            <a:r>
              <a:rPr lang="en-US" dirty="0"/>
              <a:t> 1990: </a:t>
            </a:r>
            <a:r>
              <a:rPr lang="en-US" dirty="0" err="1"/>
              <a:t>TimesTen</a:t>
            </a:r>
            <a:r>
              <a:rPr lang="en-US" dirty="0"/>
              <a:t> (comprador pela Oracle), </a:t>
            </a:r>
            <a:r>
              <a:rPr lang="en-US" dirty="0" err="1"/>
              <a:t>Altabase</a:t>
            </a:r>
            <a:r>
              <a:rPr lang="en-US" dirty="0"/>
              <a:t>.</a:t>
            </a:r>
          </a:p>
          <a:p>
            <a:r>
              <a:rPr lang="pt-BR" b="1" dirty="0">
                <a:latin typeface="-apple-system"/>
              </a:rPr>
              <a:t>M</a:t>
            </a:r>
            <a:r>
              <a:rPr lang="pt-BR" b="1" i="0" dirty="0">
                <a:effectLst/>
                <a:latin typeface="-apple-system"/>
              </a:rPr>
              <a:t>ercado global de IMDB estimado em US$ 20 bilhões em 2029!</a:t>
            </a:r>
            <a:r>
              <a:rPr lang="en-US" b="1" dirty="0"/>
              <a:t> </a:t>
            </a:r>
          </a:p>
          <a:p>
            <a:r>
              <a:rPr lang="en-US" b="1" dirty="0"/>
              <a:t>Por que IMDB se </a:t>
            </a:r>
            <a:r>
              <a:rPr lang="en-US" b="1" dirty="0" err="1"/>
              <a:t>tornaram</a:t>
            </a:r>
            <a:r>
              <a:rPr lang="en-US" b="1" dirty="0"/>
              <a:t> </a:t>
            </a:r>
            <a:r>
              <a:rPr lang="en-US" b="1" dirty="0" err="1"/>
              <a:t>importantes</a:t>
            </a:r>
            <a:r>
              <a:rPr lang="en-US" b="1" dirty="0"/>
              <a:t>? 4 </a:t>
            </a:r>
            <a:r>
              <a:rPr lang="en-US" b="1" dirty="0" err="1"/>
              <a:t>fatores</a:t>
            </a:r>
            <a:r>
              <a:rPr lang="en-US" b="1" dirty="0"/>
              <a:t> de mercado!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Crescimento</a:t>
            </a:r>
            <a:r>
              <a:rPr lang="en-US" dirty="0"/>
              <a:t> da </a:t>
            </a:r>
            <a:r>
              <a:rPr lang="en-US" dirty="0" err="1"/>
              <a:t>capacidade</a:t>
            </a:r>
            <a:r>
              <a:rPr lang="en-US" dirty="0"/>
              <a:t> das RAM com </a:t>
            </a:r>
            <a:r>
              <a:rPr lang="en-US" dirty="0" err="1"/>
              <a:t>redução</a:t>
            </a:r>
            <a:r>
              <a:rPr lang="en-US" dirty="0"/>
              <a:t> dos custos/GB.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Lei de Moore e </a:t>
            </a:r>
            <a:r>
              <a:rPr lang="en-US" dirty="0" err="1"/>
              <a:t>barateamento</a:t>
            </a:r>
            <a:r>
              <a:rPr lang="en-US" dirty="0"/>
              <a:t> dos </a:t>
            </a:r>
            <a:r>
              <a:rPr lang="en-US" dirty="0" err="1"/>
              <a:t>processadores</a:t>
            </a:r>
            <a:r>
              <a:rPr lang="en-US" dirty="0"/>
              <a:t> multicore.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HPC, </a:t>
            </a:r>
            <a:r>
              <a:rPr lang="en-US" dirty="0" err="1"/>
              <a:t>Computação</a:t>
            </a:r>
            <a:r>
              <a:rPr lang="en-US" dirty="0"/>
              <a:t> de 64bits (inst. SIMD*), </a:t>
            </a:r>
            <a:r>
              <a:rPr lang="en-US" dirty="0" err="1"/>
              <a:t>arquit</a:t>
            </a:r>
            <a:r>
              <a:rPr lang="en-US" dirty="0"/>
              <a:t>. NUMA** e </a:t>
            </a:r>
            <a:r>
              <a:rPr lang="en-US" dirty="0" err="1"/>
              <a:t>multiplos</a:t>
            </a:r>
            <a:r>
              <a:rPr lang="en-US" dirty="0"/>
              <a:t> </a:t>
            </a:r>
            <a:r>
              <a:rPr lang="en-US" i="1" dirty="0"/>
              <a:t>sockets</a:t>
            </a:r>
            <a:r>
              <a:rPr lang="en-US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Big Data, </a:t>
            </a:r>
            <a:r>
              <a:rPr lang="en-US" dirty="0" err="1"/>
              <a:t>processar</a:t>
            </a:r>
            <a:r>
              <a:rPr lang="en-US" dirty="0"/>
              <a:t> </a:t>
            </a:r>
            <a:r>
              <a:rPr lang="en-US" dirty="0" err="1"/>
              <a:t>grandes</a:t>
            </a:r>
            <a:r>
              <a:rPr lang="en-US" dirty="0"/>
              <a:t> </a:t>
            </a:r>
            <a:r>
              <a:rPr lang="en-US" dirty="0" err="1"/>
              <a:t>massas</a:t>
            </a:r>
            <a:r>
              <a:rPr lang="en-US" dirty="0"/>
              <a:t> de </a:t>
            </a:r>
            <a:r>
              <a:rPr lang="en-US" dirty="0" err="1"/>
              <a:t>DE</a:t>
            </a:r>
            <a:r>
              <a:rPr lang="en-US" dirty="0"/>
              <a:t>, DSE e DNE com </a:t>
            </a:r>
            <a:r>
              <a:rPr lang="en-US" dirty="0" err="1"/>
              <a:t>alta</a:t>
            </a:r>
            <a:r>
              <a:rPr lang="en-US" dirty="0"/>
              <a:t> </a:t>
            </a:r>
            <a:r>
              <a:rPr lang="en-US" dirty="0" err="1"/>
              <a:t>vazão</a:t>
            </a:r>
            <a:r>
              <a:rPr lang="en-US" dirty="0"/>
              <a:t>.</a:t>
            </a:r>
          </a:p>
          <a:p>
            <a:r>
              <a:rPr lang="en-US" b="1" dirty="0"/>
              <a:t>Por que IMDB se </a:t>
            </a:r>
            <a:r>
              <a:rPr lang="en-US" b="1" dirty="0" err="1"/>
              <a:t>tornaram</a:t>
            </a:r>
            <a:r>
              <a:rPr lang="en-US" b="1" dirty="0"/>
              <a:t> </a:t>
            </a:r>
            <a:r>
              <a:rPr lang="en-US" b="1" dirty="0" err="1"/>
              <a:t>importantes</a:t>
            </a:r>
            <a:r>
              <a:rPr lang="en-US" b="1" dirty="0"/>
              <a:t>? As apps </a:t>
            </a:r>
            <a:r>
              <a:rPr lang="en-US" b="1" dirty="0" err="1"/>
              <a:t>mudaram</a:t>
            </a:r>
            <a:r>
              <a:rPr lang="en-US" b="1" dirty="0"/>
              <a:t>!</a:t>
            </a:r>
          </a:p>
          <a:p>
            <a:pPr lvl="1"/>
            <a:r>
              <a:rPr lang="en-US" dirty="0" err="1"/>
              <a:t>Processos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complexos</a:t>
            </a:r>
            <a:r>
              <a:rPr lang="en-US" dirty="0"/>
              <a:t>, </a:t>
            </a:r>
            <a:r>
              <a:rPr lang="en-US" dirty="0" err="1"/>
              <a:t>análises</a:t>
            </a:r>
            <a:r>
              <a:rPr lang="en-US" dirty="0"/>
              <a:t> de </a:t>
            </a:r>
            <a:r>
              <a:rPr lang="en-US" dirty="0" err="1"/>
              <a:t>eventos</a:t>
            </a:r>
            <a:r>
              <a:rPr lang="en-US" dirty="0"/>
              <a:t> </a:t>
            </a:r>
            <a:r>
              <a:rPr lang="en-US" i="1" dirty="0"/>
              <a:t>real-time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/>
              <a:t>menor</a:t>
            </a:r>
            <a:r>
              <a:rPr lang="en-US" dirty="0"/>
              <a:t> </a:t>
            </a:r>
            <a:r>
              <a:rPr lang="en-US" dirty="0" err="1"/>
              <a:t>latência</a:t>
            </a:r>
            <a:endParaRPr lang="en-US" dirty="0"/>
          </a:p>
          <a:p>
            <a:pPr lvl="1"/>
            <a:r>
              <a:rPr lang="en-US" dirty="0" err="1"/>
              <a:t>Separação</a:t>
            </a:r>
            <a:r>
              <a:rPr lang="en-US" dirty="0"/>
              <a:t> de ambientes OLAP e OLTP é </a:t>
            </a:r>
            <a:r>
              <a:rPr lang="en-US" dirty="0" err="1"/>
              <a:t>caro</a:t>
            </a:r>
            <a:r>
              <a:rPr lang="en-US" dirty="0"/>
              <a:t>!</a:t>
            </a:r>
          </a:p>
          <a:p>
            <a:pPr lvl="1"/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9C16D85-BE44-FCC1-C206-7E3A905E982A}"/>
              </a:ext>
            </a:extLst>
          </p:cNvPr>
          <p:cNvSpPr txBox="1"/>
          <p:nvPr/>
        </p:nvSpPr>
        <p:spPr>
          <a:xfrm>
            <a:off x="99872" y="6311900"/>
            <a:ext cx="105155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/>
              <a:t>* SIMD (Single </a:t>
            </a:r>
            <a:r>
              <a:rPr lang="pt-BR" sz="1200" dirty="0" err="1"/>
              <a:t>Instruction</a:t>
            </a:r>
            <a:r>
              <a:rPr lang="pt-BR" sz="1200" dirty="0"/>
              <a:t> </a:t>
            </a:r>
            <a:r>
              <a:rPr lang="pt-BR" sz="1200" dirty="0" err="1"/>
              <a:t>Multiple</a:t>
            </a:r>
            <a:r>
              <a:rPr lang="pt-BR" sz="1200" dirty="0"/>
              <a:t> Data ou Única Instrução Múltiplos Dados)</a:t>
            </a:r>
            <a:br>
              <a:rPr lang="pt-BR" sz="1200" dirty="0"/>
            </a:br>
            <a:r>
              <a:rPr lang="pt-BR" sz="1200" dirty="0"/>
              <a:t>** NUMA (Non-</a:t>
            </a:r>
            <a:r>
              <a:rPr lang="pt-BR" sz="1200" dirty="0" err="1"/>
              <a:t>Uniform</a:t>
            </a:r>
            <a:r>
              <a:rPr lang="pt-BR" sz="1200" dirty="0"/>
              <a:t> </a:t>
            </a:r>
            <a:r>
              <a:rPr lang="pt-BR" sz="1200" dirty="0" err="1"/>
              <a:t>Memory</a:t>
            </a:r>
            <a:r>
              <a:rPr lang="pt-BR" sz="1200" dirty="0"/>
              <a:t> Access ou Acesso não Uniforme à Memória)</a:t>
            </a:r>
            <a:endParaRPr lang="en-US" sz="1200" dirty="0"/>
          </a:p>
        </p:txBody>
      </p:sp>
      <p:pic>
        <p:nvPicPr>
          <p:cNvPr id="1026" name="Picture 2" descr="Hare Krishna Community Jaipur: Old wine in a new bottle">
            <a:extLst>
              <a:ext uri="{FF2B5EF4-FFF2-40B4-BE49-F238E27FC236}">
                <a16:creationId xmlns:a16="http://schemas.microsoft.com/office/drawing/2014/main" id="{6A2235D2-0BC0-BE24-25E0-FCC7F8D4EC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41" t="1438" r="23137" b="3007"/>
          <a:stretch/>
        </p:blipFill>
        <p:spPr bwMode="auto">
          <a:xfrm>
            <a:off x="10070871" y="1169774"/>
            <a:ext cx="1932871" cy="28315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68137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426E38-AF74-7ADE-9A31-06EF1EC7A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 Memory DB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01AB6B-7F90-6ABD-22B1-743517D6D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992" y="1626208"/>
            <a:ext cx="10515600" cy="4351338"/>
          </a:xfrm>
        </p:spPr>
        <p:txBody>
          <a:bodyPr/>
          <a:lstStyle/>
          <a:p>
            <a:r>
              <a:rPr lang="en-US" b="1" dirty="0" err="1"/>
              <a:t>Definição</a:t>
            </a:r>
            <a:r>
              <a:rPr lang="en-US" b="1" dirty="0"/>
              <a:t> super simples! </a:t>
            </a:r>
          </a:p>
          <a:p>
            <a:pPr lvl="1"/>
            <a:r>
              <a:rPr lang="en-US" dirty="0"/>
              <a:t>São SGDBs do </a:t>
            </a:r>
            <a:r>
              <a:rPr lang="en-US" dirty="0" err="1"/>
              <a:t>tipo</a:t>
            </a:r>
            <a:r>
              <a:rPr lang="en-US" dirty="0"/>
              <a:t> NewSQL </a:t>
            </a:r>
            <a:r>
              <a:rPr lang="en-US" dirty="0" err="1"/>
              <a:t>mantém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dados </a:t>
            </a:r>
            <a:r>
              <a:rPr lang="en-US" dirty="0" err="1"/>
              <a:t>permanentemente</a:t>
            </a:r>
            <a:r>
              <a:rPr lang="en-US" dirty="0"/>
              <a:t> </a:t>
            </a:r>
            <a:r>
              <a:rPr lang="en-US" dirty="0" err="1"/>
              <a:t>localizados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memória</a:t>
            </a:r>
            <a:r>
              <a:rPr lang="en-US" dirty="0"/>
              <a:t> principal de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arquitetura</a:t>
            </a:r>
            <a:r>
              <a:rPr lang="en-US" dirty="0"/>
              <a:t> </a:t>
            </a:r>
            <a:r>
              <a:rPr lang="en-US" dirty="0" err="1"/>
              <a:t>computacional</a:t>
            </a:r>
            <a:r>
              <a:rPr lang="en-US" dirty="0"/>
              <a:t>, </a:t>
            </a:r>
            <a:r>
              <a:rPr lang="pt-BR" dirty="0"/>
              <a:t>eliminando o gargalo de I/O da memória secundária. </a:t>
            </a:r>
            <a:endParaRPr lang="en-US" dirty="0"/>
          </a:p>
          <a:p>
            <a:r>
              <a:rPr lang="en-US" b="1" dirty="0" err="1"/>
              <a:t>Arquitetura</a:t>
            </a:r>
            <a:r>
              <a:rPr lang="en-US" b="1" dirty="0"/>
              <a:t> </a:t>
            </a:r>
            <a:r>
              <a:rPr lang="en-US" b="1" dirty="0" err="1"/>
              <a:t>conceitual</a:t>
            </a:r>
            <a:r>
              <a:rPr lang="en-US" b="1" dirty="0"/>
              <a:t> dos IMDB</a:t>
            </a:r>
          </a:p>
          <a:p>
            <a:endParaRPr lang="en-US" dirty="0"/>
          </a:p>
        </p:txBody>
      </p: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6F53E9A2-B462-B305-34FB-3CF4B74C428D}"/>
              </a:ext>
            </a:extLst>
          </p:cNvPr>
          <p:cNvGrpSpPr/>
          <p:nvPr/>
        </p:nvGrpSpPr>
        <p:grpSpPr>
          <a:xfrm>
            <a:off x="537882" y="3881718"/>
            <a:ext cx="11356673" cy="2862023"/>
            <a:chOff x="247064" y="3402215"/>
            <a:chExt cx="11774756" cy="3063929"/>
          </a:xfrm>
        </p:grpSpPr>
        <p:grpSp>
          <p:nvGrpSpPr>
            <p:cNvPr id="39" name="Agrupar 38">
              <a:extLst>
                <a:ext uri="{FF2B5EF4-FFF2-40B4-BE49-F238E27FC236}">
                  <a16:creationId xmlns:a16="http://schemas.microsoft.com/office/drawing/2014/main" id="{0D2DEA22-7D74-349D-1708-C0BDE2BB58EE}"/>
                </a:ext>
              </a:extLst>
            </p:cNvPr>
            <p:cNvGrpSpPr/>
            <p:nvPr/>
          </p:nvGrpSpPr>
          <p:grpSpPr>
            <a:xfrm>
              <a:off x="3142666" y="3402215"/>
              <a:ext cx="8879154" cy="3063929"/>
              <a:chOff x="2858001" y="3429000"/>
              <a:chExt cx="8879154" cy="3063929"/>
            </a:xfrm>
          </p:grpSpPr>
          <p:sp>
            <p:nvSpPr>
              <p:cNvPr id="17" name="Cilindro 16">
                <a:extLst>
                  <a:ext uri="{FF2B5EF4-FFF2-40B4-BE49-F238E27FC236}">
                    <a16:creationId xmlns:a16="http://schemas.microsoft.com/office/drawing/2014/main" id="{2309992C-1C7A-073C-0560-89C51F25F9A6}"/>
                  </a:ext>
                </a:extLst>
              </p:cNvPr>
              <p:cNvSpPr/>
              <p:nvPr/>
            </p:nvSpPr>
            <p:spPr>
              <a:xfrm>
                <a:off x="9835814" y="4142546"/>
                <a:ext cx="1849821" cy="1216152"/>
              </a:xfrm>
              <a:prstGeom prst="can">
                <a:avLst/>
              </a:prstGeom>
              <a:solidFill>
                <a:srgbClr val="E4FFB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A88B46CF-A6BB-642E-628C-CE6FE97E4090}"/>
                  </a:ext>
                </a:extLst>
              </p:cNvPr>
              <p:cNvSpPr txBox="1"/>
              <p:nvPr/>
            </p:nvSpPr>
            <p:spPr>
              <a:xfrm>
                <a:off x="9885366" y="4484988"/>
                <a:ext cx="185178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Armazenamento</a:t>
                </a:r>
                <a:r>
                  <a:rPr lang="en-US" dirty="0"/>
                  <a:t> </a:t>
                </a:r>
              </a:p>
              <a:p>
                <a:pPr algn="ctr"/>
                <a:r>
                  <a:rPr lang="en-US" dirty="0" err="1"/>
                  <a:t>Secundário</a:t>
                </a:r>
                <a:r>
                  <a:rPr lang="en-US" dirty="0"/>
                  <a:t> do BD</a:t>
                </a:r>
              </a:p>
            </p:txBody>
          </p:sp>
          <p:cxnSp>
            <p:nvCxnSpPr>
              <p:cNvPr id="26" name="Conector de Seta Reta 25">
                <a:extLst>
                  <a:ext uri="{FF2B5EF4-FFF2-40B4-BE49-F238E27FC236}">
                    <a16:creationId xmlns:a16="http://schemas.microsoft.com/office/drawing/2014/main" id="{89307C55-8756-E6BE-DB51-E53440A58C2B}"/>
                  </a:ext>
                </a:extLst>
              </p:cNvPr>
              <p:cNvCxnSpPr>
                <a:cxnSpLocks/>
                <a:stCxn id="18" idx="3"/>
                <a:endCxn id="17" idx="2"/>
              </p:cNvCxnSpPr>
              <p:nvPr/>
            </p:nvCxnSpPr>
            <p:spPr>
              <a:xfrm flipV="1">
                <a:off x="7399283" y="4750622"/>
                <a:ext cx="2436531" cy="1368"/>
              </a:xfrm>
              <a:prstGeom prst="straightConnector1">
                <a:avLst/>
              </a:prstGeom>
              <a:ln w="508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F8892767-BAB7-A7C0-359E-342BD169C25F}"/>
                  </a:ext>
                </a:extLst>
              </p:cNvPr>
              <p:cNvSpPr txBox="1"/>
              <p:nvPr/>
            </p:nvSpPr>
            <p:spPr>
              <a:xfrm>
                <a:off x="7837627" y="4329321"/>
                <a:ext cx="1702503" cy="3953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Log/</a:t>
                </a:r>
                <a:r>
                  <a:rPr lang="en-US" dirty="0" err="1"/>
                  <a:t>Ckeckpoint</a:t>
                </a:r>
                <a:endParaRPr lang="en-US" dirty="0"/>
              </a:p>
            </p:txBody>
          </p:sp>
          <p:grpSp>
            <p:nvGrpSpPr>
              <p:cNvPr id="38" name="Agrupar 37">
                <a:extLst>
                  <a:ext uri="{FF2B5EF4-FFF2-40B4-BE49-F238E27FC236}">
                    <a16:creationId xmlns:a16="http://schemas.microsoft.com/office/drawing/2014/main" id="{EEC30BFD-C074-2DF8-5D45-3E77BED37E7A}"/>
                  </a:ext>
                </a:extLst>
              </p:cNvPr>
              <p:cNvGrpSpPr/>
              <p:nvPr/>
            </p:nvGrpSpPr>
            <p:grpSpPr>
              <a:xfrm>
                <a:off x="2858001" y="3429000"/>
                <a:ext cx="4541282" cy="3063929"/>
                <a:chOff x="2858001" y="3429000"/>
                <a:chExt cx="4541282" cy="3063929"/>
              </a:xfrm>
            </p:grpSpPr>
            <p:sp>
              <p:nvSpPr>
                <p:cNvPr id="18" name="Retângulo: Cantos Arredondados 17">
                  <a:extLst>
                    <a:ext uri="{FF2B5EF4-FFF2-40B4-BE49-F238E27FC236}">
                      <a16:creationId xmlns:a16="http://schemas.microsoft.com/office/drawing/2014/main" id="{559B7BCA-703B-D729-9688-EA03F601A136}"/>
                    </a:ext>
                  </a:extLst>
                </p:cNvPr>
                <p:cNvSpPr/>
                <p:nvPr/>
              </p:nvSpPr>
              <p:spPr>
                <a:xfrm>
                  <a:off x="2858001" y="3429000"/>
                  <a:ext cx="4541282" cy="2645980"/>
                </a:xfrm>
                <a:prstGeom prst="roundRect">
                  <a:avLst>
                    <a:gd name="adj" fmla="val 10165"/>
                  </a:avLst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" name="Retângulo 11">
                  <a:extLst>
                    <a:ext uri="{FF2B5EF4-FFF2-40B4-BE49-F238E27FC236}">
                      <a16:creationId xmlns:a16="http://schemas.microsoft.com/office/drawing/2014/main" id="{94C10D01-54E2-6D1E-C540-A186A85D607A}"/>
                    </a:ext>
                  </a:extLst>
                </p:cNvPr>
                <p:cNvSpPr/>
                <p:nvPr/>
              </p:nvSpPr>
              <p:spPr>
                <a:xfrm>
                  <a:off x="3087219" y="3960066"/>
                  <a:ext cx="1174376" cy="605890"/>
                </a:xfrm>
                <a:prstGeom prst="rect">
                  <a:avLst/>
                </a:prstGeom>
                <a:solidFill>
                  <a:srgbClr val="FFE0CC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SQL Engine</a:t>
                  </a:r>
                </a:p>
              </p:txBody>
            </p:sp>
            <p:sp>
              <p:nvSpPr>
                <p:cNvPr id="13" name="Retângulo 12">
                  <a:extLst>
                    <a:ext uri="{FF2B5EF4-FFF2-40B4-BE49-F238E27FC236}">
                      <a16:creationId xmlns:a16="http://schemas.microsoft.com/office/drawing/2014/main" id="{F5D652BB-FF3B-EE69-2744-3A26E3724246}"/>
                    </a:ext>
                  </a:extLst>
                </p:cNvPr>
                <p:cNvSpPr/>
                <p:nvPr/>
              </p:nvSpPr>
              <p:spPr>
                <a:xfrm>
                  <a:off x="5397656" y="4421764"/>
                  <a:ext cx="1705945" cy="605890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Data Store</a:t>
                  </a:r>
                </a:p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(RAM)</a:t>
                  </a:r>
                </a:p>
              </p:txBody>
            </p:sp>
            <p:sp>
              <p:nvSpPr>
                <p:cNvPr id="15" name="Retângulo 14">
                  <a:extLst>
                    <a:ext uri="{FF2B5EF4-FFF2-40B4-BE49-F238E27FC236}">
                      <a16:creationId xmlns:a16="http://schemas.microsoft.com/office/drawing/2014/main" id="{622C4B7B-788C-6EB1-0D71-E34EDB04A777}"/>
                    </a:ext>
                  </a:extLst>
                </p:cNvPr>
                <p:cNvSpPr/>
                <p:nvPr/>
              </p:nvSpPr>
              <p:spPr>
                <a:xfrm>
                  <a:off x="5386677" y="3680937"/>
                  <a:ext cx="1716925" cy="605890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Index &amp; Data Manager</a:t>
                  </a:r>
                </a:p>
              </p:txBody>
            </p:sp>
            <p:sp>
              <p:nvSpPr>
                <p:cNvPr id="16" name="Retângulo 15">
                  <a:extLst>
                    <a:ext uri="{FF2B5EF4-FFF2-40B4-BE49-F238E27FC236}">
                      <a16:creationId xmlns:a16="http://schemas.microsoft.com/office/drawing/2014/main" id="{B45B1612-D7B0-E02D-AC8D-33D0EC8941DA}"/>
                    </a:ext>
                  </a:extLst>
                </p:cNvPr>
                <p:cNvSpPr/>
                <p:nvPr/>
              </p:nvSpPr>
              <p:spPr>
                <a:xfrm>
                  <a:off x="5386677" y="5176188"/>
                  <a:ext cx="1716925" cy="605890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Logs &amp; Locks</a:t>
                  </a:r>
                </a:p>
              </p:txBody>
            </p:sp>
            <p:sp>
              <p:nvSpPr>
                <p:cNvPr id="20" name="CaixaDeTexto 19">
                  <a:extLst>
                    <a:ext uri="{FF2B5EF4-FFF2-40B4-BE49-F238E27FC236}">
                      <a16:creationId xmlns:a16="http://schemas.microsoft.com/office/drawing/2014/main" id="{507FB926-795E-FA5C-F96B-83F6CFD16709}"/>
                    </a:ext>
                  </a:extLst>
                </p:cNvPr>
                <p:cNvSpPr txBox="1"/>
                <p:nvPr/>
              </p:nvSpPr>
              <p:spPr>
                <a:xfrm>
                  <a:off x="3602440" y="6123597"/>
                  <a:ext cx="336957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Bando de Dados </a:t>
                  </a:r>
                  <a:r>
                    <a:rPr lang="en-US" dirty="0" err="1"/>
                    <a:t>em</a:t>
                  </a:r>
                  <a:r>
                    <a:rPr lang="en-US" dirty="0"/>
                    <a:t> </a:t>
                  </a:r>
                  <a:r>
                    <a:rPr lang="en-US" dirty="0" err="1"/>
                    <a:t>Memória</a:t>
                  </a:r>
                  <a:endParaRPr lang="en-US" dirty="0"/>
                </a:p>
              </p:txBody>
            </p:sp>
            <p:sp>
              <p:nvSpPr>
                <p:cNvPr id="21" name="CaixaDeTexto 20">
                  <a:extLst>
                    <a:ext uri="{FF2B5EF4-FFF2-40B4-BE49-F238E27FC236}">
                      <a16:creationId xmlns:a16="http://schemas.microsoft.com/office/drawing/2014/main" id="{33F62ACF-1643-5B5F-BD58-B3342039994C}"/>
                    </a:ext>
                  </a:extLst>
                </p:cNvPr>
                <p:cNvSpPr txBox="1"/>
                <p:nvPr/>
              </p:nvSpPr>
              <p:spPr>
                <a:xfrm>
                  <a:off x="3879705" y="5499179"/>
                  <a:ext cx="112883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600" b="1" dirty="0"/>
                    <a:t>RAM</a:t>
                  </a:r>
                </a:p>
              </p:txBody>
            </p:sp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CF428036-454C-FCE9-4D3E-D6006EF7D743}"/>
                    </a:ext>
                  </a:extLst>
                </p:cNvPr>
                <p:cNvSpPr txBox="1"/>
                <p:nvPr/>
              </p:nvSpPr>
              <p:spPr>
                <a:xfrm>
                  <a:off x="2904691" y="4727543"/>
                  <a:ext cx="153943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err="1"/>
                    <a:t>Otimizador</a:t>
                  </a:r>
                  <a:r>
                    <a:rPr lang="en-US" dirty="0"/>
                    <a:t> </a:t>
                  </a:r>
                </a:p>
                <a:p>
                  <a:pPr algn="ctr"/>
                  <a:r>
                    <a:rPr lang="en-US" dirty="0"/>
                    <a:t>de </a:t>
                  </a:r>
                  <a:r>
                    <a:rPr lang="en-US" dirty="0" err="1"/>
                    <a:t>consultas</a:t>
                  </a:r>
                  <a:endParaRPr lang="en-US" dirty="0"/>
                </a:p>
              </p:txBody>
            </p:sp>
            <p:sp>
              <p:nvSpPr>
                <p:cNvPr id="23" name="Retângulo: Cantos Arredondados 22">
                  <a:extLst>
                    <a:ext uri="{FF2B5EF4-FFF2-40B4-BE49-F238E27FC236}">
                      <a16:creationId xmlns:a16="http://schemas.microsoft.com/office/drawing/2014/main" id="{2D4B66FA-7353-4A06-C8A9-F29D111E2677}"/>
                    </a:ext>
                  </a:extLst>
                </p:cNvPr>
                <p:cNvSpPr/>
                <p:nvPr/>
              </p:nvSpPr>
              <p:spPr>
                <a:xfrm>
                  <a:off x="2990668" y="3754369"/>
                  <a:ext cx="1380951" cy="1691169"/>
                </a:xfrm>
                <a:prstGeom prst="roundRect">
                  <a:avLst>
                    <a:gd name="adj" fmla="val 10165"/>
                  </a:avLst>
                </a:prstGeom>
                <a:noFill/>
                <a:ln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Retângulo: Cantos Arredondados 23">
                  <a:extLst>
                    <a:ext uri="{FF2B5EF4-FFF2-40B4-BE49-F238E27FC236}">
                      <a16:creationId xmlns:a16="http://schemas.microsoft.com/office/drawing/2014/main" id="{855391AA-E218-4663-D7CD-0641BD6099F8}"/>
                    </a:ext>
                  </a:extLst>
                </p:cNvPr>
                <p:cNvSpPr/>
                <p:nvPr/>
              </p:nvSpPr>
              <p:spPr>
                <a:xfrm>
                  <a:off x="5287228" y="3526862"/>
                  <a:ext cx="2027971" cy="2381439"/>
                </a:xfrm>
                <a:prstGeom prst="roundRect">
                  <a:avLst>
                    <a:gd name="adj" fmla="val 10165"/>
                  </a:avLst>
                </a:prstGeom>
                <a:noFill/>
                <a:ln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30" name="Conector de Seta Reta 29">
                  <a:extLst>
                    <a:ext uri="{FF2B5EF4-FFF2-40B4-BE49-F238E27FC236}">
                      <a16:creationId xmlns:a16="http://schemas.microsoft.com/office/drawing/2014/main" id="{DDBA59ED-E5B3-4E17-3E40-3CC0390DA077}"/>
                    </a:ext>
                  </a:extLst>
                </p:cNvPr>
                <p:cNvCxnSpPr>
                  <a:cxnSpLocks/>
                  <a:stCxn id="23" idx="3"/>
                </p:cNvCxnSpPr>
                <p:nvPr/>
              </p:nvCxnSpPr>
              <p:spPr>
                <a:xfrm flipV="1">
                  <a:off x="4371619" y="4587936"/>
                  <a:ext cx="915609" cy="12018"/>
                </a:xfrm>
                <a:prstGeom prst="straightConnector1">
                  <a:avLst/>
                </a:prstGeom>
                <a:ln w="50800"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37" name="Imagem 36">
              <a:extLst>
                <a:ext uri="{FF2B5EF4-FFF2-40B4-BE49-F238E27FC236}">
                  <a16:creationId xmlns:a16="http://schemas.microsoft.com/office/drawing/2014/main" id="{9D8E2864-3989-AF55-0164-23764FFF7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7064" y="3840883"/>
              <a:ext cx="1810003" cy="790685"/>
            </a:xfrm>
            <a:prstGeom prst="rect">
              <a:avLst/>
            </a:prstGeom>
          </p:spPr>
        </p:pic>
        <p:cxnSp>
          <p:nvCxnSpPr>
            <p:cNvPr id="40" name="Conector de Seta Reta 39">
              <a:extLst>
                <a:ext uri="{FF2B5EF4-FFF2-40B4-BE49-F238E27FC236}">
                  <a16:creationId xmlns:a16="http://schemas.microsoft.com/office/drawing/2014/main" id="{610A86B6-895C-4DB5-4E3D-E1637759549F}"/>
                </a:ext>
              </a:extLst>
            </p:cNvPr>
            <p:cNvCxnSpPr>
              <a:cxnSpLocks/>
              <a:stCxn id="37" idx="3"/>
              <a:endCxn id="12" idx="1"/>
            </p:cNvCxnSpPr>
            <p:nvPr/>
          </p:nvCxnSpPr>
          <p:spPr>
            <a:xfrm>
              <a:off x="2057067" y="4236226"/>
              <a:ext cx="1314817" cy="0"/>
            </a:xfrm>
            <a:prstGeom prst="straightConnector1">
              <a:avLst/>
            </a:prstGeom>
            <a:ln w="508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6F9D0389-26F2-B706-3F77-8D9C206B89F8}"/>
              </a:ext>
            </a:extLst>
          </p:cNvPr>
          <p:cNvSpPr txBox="1"/>
          <p:nvPr/>
        </p:nvSpPr>
        <p:spPr>
          <a:xfrm>
            <a:off x="10367033" y="5698429"/>
            <a:ext cx="11715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Tolerância</a:t>
            </a:r>
            <a:r>
              <a:rPr lang="en-US" dirty="0"/>
              <a:t> a </a:t>
            </a:r>
            <a:r>
              <a:rPr lang="en-US" dirty="0" err="1"/>
              <a:t>falhas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7520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4F2253-4E98-ECB8-A1A9-54D6A7669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Compração</a:t>
            </a:r>
            <a:r>
              <a:rPr lang="en-US" b="1" dirty="0"/>
              <a:t>: BDRD x IMDB 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93233DB-7203-1411-DDA9-1296FBE18D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447580"/>
              </p:ext>
            </p:extLst>
          </p:nvPr>
        </p:nvGraphicFramePr>
        <p:xfrm>
          <a:off x="242048" y="1690688"/>
          <a:ext cx="11869270" cy="390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199">
                  <a:extLst>
                    <a:ext uri="{9D8B030D-6E8A-4147-A177-3AD203B41FA5}">
                      <a16:colId xmlns:a16="http://schemas.microsoft.com/office/drawing/2014/main" val="3814608160"/>
                    </a:ext>
                  </a:extLst>
                </a:gridCol>
                <a:gridCol w="4554071">
                  <a:extLst>
                    <a:ext uri="{9D8B030D-6E8A-4147-A177-3AD203B41FA5}">
                      <a16:colId xmlns:a16="http://schemas.microsoft.com/office/drawing/2014/main" val="17285218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BD </a:t>
                      </a:r>
                      <a:r>
                        <a:rPr lang="en-US" sz="2000" dirty="0" err="1"/>
                        <a:t>residentes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em</a:t>
                      </a:r>
                      <a:r>
                        <a:rPr lang="en-US" sz="2000" dirty="0"/>
                        <a:t> disco (BDRD)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BD </a:t>
                      </a:r>
                      <a:r>
                        <a:rPr lang="en-US" sz="2000" dirty="0" err="1"/>
                        <a:t>residentes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em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memória</a:t>
                      </a:r>
                      <a:r>
                        <a:rPr lang="en-US" sz="2000" dirty="0"/>
                        <a:t> (IMDB)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667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Elevados</a:t>
                      </a:r>
                      <a:r>
                        <a:rPr lang="en-US" dirty="0"/>
                        <a:t> tempos </a:t>
                      </a:r>
                      <a:r>
                        <a:rPr lang="en-US" dirty="0" err="1"/>
                        <a:t>nas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operações</a:t>
                      </a:r>
                      <a:r>
                        <a:rPr lang="en-US" dirty="0"/>
                        <a:t> de I/O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Não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faz</a:t>
                      </a:r>
                      <a:r>
                        <a:rPr lang="en-US" dirty="0"/>
                        <a:t> I/O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444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Transferência</a:t>
                      </a:r>
                      <a:r>
                        <a:rPr lang="en-US" dirty="0"/>
                        <a:t> de dados do disco para </a:t>
                      </a:r>
                      <a:r>
                        <a:rPr lang="en-US" i="1" dirty="0"/>
                        <a:t>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Não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faz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uso</a:t>
                      </a:r>
                      <a:r>
                        <a:rPr lang="en-US" dirty="0"/>
                        <a:t> de </a:t>
                      </a:r>
                      <a:r>
                        <a:rPr lang="en-US" i="1" dirty="0"/>
                        <a:t>cache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765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Algoritmos</a:t>
                      </a:r>
                      <a:r>
                        <a:rPr lang="en-US" dirty="0"/>
                        <a:t> de </a:t>
                      </a:r>
                      <a:r>
                        <a:rPr lang="en-US" dirty="0" err="1"/>
                        <a:t>otimização</a:t>
                      </a:r>
                      <a:r>
                        <a:rPr lang="en-US" dirty="0"/>
                        <a:t> de </a:t>
                      </a:r>
                      <a:r>
                        <a:rPr lang="en-US" dirty="0" err="1"/>
                        <a:t>acesso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ao</a:t>
                      </a:r>
                      <a:r>
                        <a:rPr lang="en-US" dirty="0"/>
                        <a:t> disco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/>
                        <a:t>Algoritmos</a:t>
                      </a:r>
                      <a:r>
                        <a:rPr lang="en-US" b="1" dirty="0"/>
                        <a:t> de </a:t>
                      </a:r>
                      <a:r>
                        <a:rPr lang="en-US" b="1" dirty="0" err="1"/>
                        <a:t>otimização</a:t>
                      </a:r>
                      <a:r>
                        <a:rPr lang="en-US" b="1" dirty="0"/>
                        <a:t> de </a:t>
                      </a:r>
                      <a:r>
                        <a:rPr lang="en-US" b="1" dirty="0" err="1"/>
                        <a:t>uso</a:t>
                      </a:r>
                      <a:r>
                        <a:rPr lang="en-US" b="1" dirty="0"/>
                        <a:t> da RAM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040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Usa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mais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ciclos</a:t>
                      </a:r>
                      <a:r>
                        <a:rPr lang="en-US" dirty="0"/>
                        <a:t> de CPU para </a:t>
                      </a:r>
                      <a:r>
                        <a:rPr lang="en-US" dirty="0" err="1"/>
                        <a:t>acessar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os</a:t>
                      </a:r>
                      <a:r>
                        <a:rPr lang="en-US" dirty="0"/>
                        <a:t> dados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Dados </a:t>
                      </a:r>
                      <a:r>
                        <a:rPr lang="en-US" dirty="0" err="1"/>
                        <a:t>organizado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em</a:t>
                      </a:r>
                      <a:r>
                        <a:rPr lang="en-US" dirty="0"/>
                        <a:t> </a:t>
                      </a:r>
                      <a:r>
                        <a:rPr lang="en-US" b="0" i="1" dirty="0"/>
                        <a:t>frames </a:t>
                      </a:r>
                      <a:r>
                        <a:rPr lang="en-US" b="0" i="0" dirty="0" err="1"/>
                        <a:t>na</a:t>
                      </a:r>
                      <a:r>
                        <a:rPr lang="en-US" b="0" i="0" dirty="0"/>
                        <a:t> RAM </a:t>
                      </a:r>
                      <a:r>
                        <a:rPr lang="en-US" i="1" dirty="0"/>
                        <a:t>e </a:t>
                      </a:r>
                      <a:r>
                        <a:rPr lang="en-US" dirty="0" err="1"/>
                        <a:t>blocos</a:t>
                      </a:r>
                      <a:r>
                        <a:rPr lang="en-US" dirty="0"/>
                        <a:t> de </a:t>
                      </a:r>
                      <a:r>
                        <a:rPr lang="en-US" dirty="0" err="1"/>
                        <a:t>tamanho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fixo</a:t>
                      </a:r>
                      <a:r>
                        <a:rPr lang="en-US" dirty="0"/>
                        <a:t> no disco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Usa</a:t>
                      </a:r>
                      <a:r>
                        <a:rPr lang="en-US" dirty="0"/>
                        <a:t> </a:t>
                      </a:r>
                      <a:r>
                        <a:rPr lang="en-US" b="0" i="1" dirty="0"/>
                        <a:t>buffer pools </a:t>
                      </a:r>
                      <a:r>
                        <a:rPr lang="en-US" b="0" i="0" dirty="0"/>
                        <a:t>pa</a:t>
                      </a:r>
                      <a:r>
                        <a:rPr lang="en-US" i="0" dirty="0"/>
                        <a:t>ra </a:t>
                      </a:r>
                      <a:r>
                        <a:rPr lang="en-US" i="0" dirty="0" err="1"/>
                        <a:t>fazer</a:t>
                      </a:r>
                      <a:r>
                        <a:rPr lang="en-US" i="0" dirty="0"/>
                        <a:t> </a:t>
                      </a:r>
                      <a:r>
                        <a:rPr lang="en-US" i="1" dirty="0"/>
                        <a:t>cache</a:t>
                      </a:r>
                      <a:r>
                        <a:rPr lang="en-US" dirty="0"/>
                        <a:t> das </a:t>
                      </a:r>
                      <a:r>
                        <a:rPr lang="en-US" i="1" dirty="0"/>
                        <a:t>pages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em</a:t>
                      </a:r>
                      <a:r>
                        <a:rPr lang="en-US" dirty="0"/>
                        <a:t> RAM (</a:t>
                      </a:r>
                      <a:r>
                        <a:rPr lang="en-US" dirty="0" err="1"/>
                        <a:t>blocos</a:t>
                      </a:r>
                      <a:r>
                        <a:rPr lang="en-US" dirty="0"/>
                        <a:t> do disco)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Menos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ciclos</a:t>
                      </a:r>
                      <a:r>
                        <a:rPr lang="en-US" dirty="0"/>
                        <a:t> de CPU</a:t>
                      </a:r>
                    </a:p>
                    <a:p>
                      <a:r>
                        <a:rPr lang="en-US" dirty="0"/>
                        <a:t>---</a:t>
                      </a:r>
                    </a:p>
                    <a:p>
                      <a:r>
                        <a:rPr lang="en-US" dirty="0"/>
                        <a:t>---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009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Controle</a:t>
                      </a:r>
                      <a:r>
                        <a:rPr lang="en-US" dirty="0"/>
                        <a:t> de </a:t>
                      </a:r>
                      <a:r>
                        <a:rPr lang="en-US" dirty="0" err="1"/>
                        <a:t>concorrência</a:t>
                      </a:r>
                      <a:r>
                        <a:rPr lang="en-US" dirty="0"/>
                        <a:t> de Tx, BD assume que </a:t>
                      </a:r>
                      <a:r>
                        <a:rPr lang="en-US" dirty="0" err="1"/>
                        <a:t>haverá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bloqueio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em</a:t>
                      </a:r>
                      <a:r>
                        <a:rPr lang="en-US" dirty="0"/>
                        <a:t> disco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---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798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Logging e </a:t>
                      </a:r>
                      <a:r>
                        <a:rPr lang="en-US" dirty="0" err="1"/>
                        <a:t>recuperação</a:t>
                      </a:r>
                      <a:r>
                        <a:rPr lang="en-US" dirty="0"/>
                        <a:t> de </a:t>
                      </a:r>
                      <a:r>
                        <a:rPr lang="en-US" dirty="0" err="1"/>
                        <a:t>falhas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Logging e </a:t>
                      </a:r>
                      <a:r>
                        <a:rPr lang="en-US" dirty="0" err="1"/>
                        <a:t>recuperação</a:t>
                      </a:r>
                      <a:r>
                        <a:rPr lang="en-US" dirty="0"/>
                        <a:t> de </a:t>
                      </a:r>
                      <a:r>
                        <a:rPr lang="en-US" dirty="0" err="1"/>
                        <a:t>falhas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014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Espaço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em</a:t>
                      </a:r>
                      <a:r>
                        <a:rPr lang="en-US" dirty="0"/>
                        <a:t> disco </a:t>
                      </a:r>
                      <a:r>
                        <a:rPr lang="en-US" dirty="0" err="1"/>
                        <a:t>abundante</a:t>
                      </a:r>
                      <a:r>
                        <a:rPr lang="en-US" dirty="0"/>
                        <a:t> e RAM </a:t>
                      </a:r>
                      <a:r>
                        <a:rPr lang="en-US" dirty="0" err="1"/>
                        <a:t>limitada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Uso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eficiente</a:t>
                      </a:r>
                      <a:r>
                        <a:rPr lang="en-US" dirty="0"/>
                        <a:t> da RAM </a:t>
                      </a:r>
                      <a:r>
                        <a:rPr lang="en-US" b="1" dirty="0"/>
                        <a:t>(Hot &amp; Cold Data)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014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Persitência</a:t>
                      </a:r>
                      <a:r>
                        <a:rPr lang="en-US" dirty="0"/>
                        <a:t> de dados (</a:t>
                      </a:r>
                      <a:r>
                        <a:rPr lang="en-US" dirty="0" err="1"/>
                        <a:t>não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voláteis</a:t>
                      </a:r>
                      <a:r>
                        <a:rPr lang="en-US" dirty="0"/>
                        <a:t>) e </a:t>
                      </a:r>
                      <a:r>
                        <a:rPr lang="en-US" dirty="0" err="1"/>
                        <a:t>acessos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mais</a:t>
                      </a:r>
                      <a:r>
                        <a:rPr lang="en-US" dirty="0"/>
                        <a:t> lentos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Dados </a:t>
                      </a:r>
                      <a:r>
                        <a:rPr lang="en-US" dirty="0" err="1"/>
                        <a:t>voláteis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acesso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direto</a:t>
                      </a:r>
                      <a:r>
                        <a:rPr lang="en-US" dirty="0"/>
                        <a:t> e </a:t>
                      </a:r>
                      <a:r>
                        <a:rPr lang="en-US" dirty="0" err="1"/>
                        <a:t>mais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rápidos</a:t>
                      </a:r>
                      <a:endParaRPr lang="en-US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513582"/>
                  </a:ext>
                </a:extLst>
              </a:tr>
            </a:tbl>
          </a:graphicData>
        </a:graphic>
      </p:graphicFrame>
      <p:sp>
        <p:nvSpPr>
          <p:cNvPr id="8" name="Chave Direita 7">
            <a:extLst>
              <a:ext uri="{FF2B5EF4-FFF2-40B4-BE49-F238E27FC236}">
                <a16:creationId xmlns:a16="http://schemas.microsoft.com/office/drawing/2014/main" id="{41D19190-7419-8258-C0A9-AC63F8DD093A}"/>
              </a:ext>
            </a:extLst>
          </p:cNvPr>
          <p:cNvSpPr/>
          <p:nvPr/>
        </p:nvSpPr>
        <p:spPr>
          <a:xfrm rot="5400000">
            <a:off x="3624308" y="2188191"/>
            <a:ext cx="523783" cy="7288305"/>
          </a:xfrm>
          <a:prstGeom prst="rightBrace">
            <a:avLst>
              <a:gd name="adj1" fmla="val 43644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have Direita 8">
            <a:extLst>
              <a:ext uri="{FF2B5EF4-FFF2-40B4-BE49-F238E27FC236}">
                <a16:creationId xmlns:a16="http://schemas.microsoft.com/office/drawing/2014/main" id="{3BDF8D89-1335-67C4-CD74-C928BC517C08}"/>
              </a:ext>
            </a:extLst>
          </p:cNvPr>
          <p:cNvSpPr/>
          <p:nvPr/>
        </p:nvSpPr>
        <p:spPr>
          <a:xfrm rot="5400000">
            <a:off x="9542724" y="3615152"/>
            <a:ext cx="523783" cy="4487896"/>
          </a:xfrm>
          <a:prstGeom prst="rightBrace">
            <a:avLst>
              <a:gd name="adj1" fmla="val 43644"/>
              <a:gd name="adj2" fmla="val 50000"/>
            </a:avLst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63AE66B-5DEB-3F58-3423-BA6ACA1A9062}"/>
              </a:ext>
            </a:extLst>
          </p:cNvPr>
          <p:cNvSpPr txBox="1"/>
          <p:nvPr/>
        </p:nvSpPr>
        <p:spPr>
          <a:xfrm>
            <a:off x="2544775" y="6094235"/>
            <a:ext cx="3349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accent5">
                    <a:lumMod val="50000"/>
                  </a:schemeClr>
                </a:solidFill>
              </a:rPr>
              <a:t>Otimizado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 para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</a:rPr>
              <a:t>acesso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</a:rPr>
              <a:t>aos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 discos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F59AE5F-046D-916B-E6F0-93B24A672886}"/>
              </a:ext>
            </a:extLst>
          </p:cNvPr>
          <p:cNvSpPr txBox="1"/>
          <p:nvPr/>
        </p:nvSpPr>
        <p:spPr>
          <a:xfrm>
            <a:off x="8247271" y="6106657"/>
            <a:ext cx="3419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Otimizado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para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acesso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à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memória</a:t>
            </a: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75384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5B0E79-BC3B-C821-0518-90071E59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Prós</a:t>
            </a:r>
            <a:r>
              <a:rPr lang="en-US" b="1" dirty="0"/>
              <a:t> e Contras dos IMDB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56E67F-1642-5222-AA55-C5856D155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Prós</a:t>
            </a:r>
            <a:r>
              <a:rPr lang="en-US" b="1" dirty="0"/>
              <a:t> IMDB</a:t>
            </a:r>
          </a:p>
          <a:p>
            <a:pPr lvl="1"/>
            <a:r>
              <a:rPr lang="en-US" b="1" dirty="0" err="1"/>
              <a:t>Baixa</a:t>
            </a:r>
            <a:r>
              <a:rPr lang="en-US" b="1" dirty="0"/>
              <a:t> </a:t>
            </a:r>
            <a:r>
              <a:rPr lang="en-US" b="1" dirty="0" err="1"/>
              <a:t>latência</a:t>
            </a:r>
            <a:r>
              <a:rPr lang="en-US" b="1" dirty="0"/>
              <a:t> </a:t>
            </a:r>
            <a:r>
              <a:rPr lang="en-US" dirty="0"/>
              <a:t>- Dados </a:t>
            </a:r>
            <a:r>
              <a:rPr lang="en-US" dirty="0" err="1"/>
              <a:t>já</a:t>
            </a:r>
            <a:r>
              <a:rPr lang="en-US" dirty="0"/>
              <a:t> </a:t>
            </a:r>
            <a:r>
              <a:rPr lang="en-US" dirty="0" err="1"/>
              <a:t>estão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RAM,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requer</a:t>
            </a:r>
            <a:r>
              <a:rPr lang="en-US" dirty="0"/>
              <a:t> I/O</a:t>
            </a:r>
          </a:p>
          <a:p>
            <a:pPr lvl="1"/>
            <a:r>
              <a:rPr lang="en-US" b="1" i="1" dirty="0"/>
              <a:t>Insights</a:t>
            </a:r>
            <a:r>
              <a:rPr lang="en-US" b="1" dirty="0"/>
              <a:t> </a:t>
            </a:r>
            <a:r>
              <a:rPr lang="en-US" b="1" dirty="0" err="1"/>
              <a:t>em</a:t>
            </a:r>
            <a:r>
              <a:rPr lang="en-US" b="1" dirty="0"/>
              <a:t> tempo real </a:t>
            </a:r>
            <a:r>
              <a:rPr lang="en-US" dirty="0"/>
              <a:t>– </a:t>
            </a:r>
            <a:r>
              <a:rPr lang="en-US" dirty="0" err="1"/>
              <a:t>Novos</a:t>
            </a:r>
            <a:r>
              <a:rPr lang="en-US" dirty="0"/>
              <a:t> </a:t>
            </a:r>
            <a:r>
              <a:rPr lang="en-US" dirty="0" err="1"/>
              <a:t>tipos</a:t>
            </a:r>
            <a:r>
              <a:rPr lang="en-US" dirty="0"/>
              <a:t> de </a:t>
            </a:r>
            <a:r>
              <a:rPr lang="en-US" dirty="0" err="1"/>
              <a:t>análises</a:t>
            </a:r>
            <a:r>
              <a:rPr lang="en-US" dirty="0"/>
              <a:t> de dados </a:t>
            </a:r>
            <a:r>
              <a:rPr lang="en-US" i="1" dirty="0"/>
              <a:t>streaming</a:t>
            </a:r>
          </a:p>
          <a:p>
            <a:pPr lvl="1"/>
            <a:r>
              <a:rPr lang="en-US" b="1" dirty="0"/>
              <a:t>Alta </a:t>
            </a:r>
            <a:r>
              <a:rPr lang="en-US" b="1" dirty="0" err="1"/>
              <a:t>disponibilidade</a:t>
            </a:r>
            <a:r>
              <a:rPr lang="en-US" b="1" dirty="0"/>
              <a:t> e </a:t>
            </a:r>
            <a:r>
              <a:rPr lang="en-US" b="1" dirty="0" err="1"/>
              <a:t>baixa</a:t>
            </a:r>
            <a:r>
              <a:rPr lang="en-US" b="1" dirty="0"/>
              <a:t> </a:t>
            </a:r>
            <a:r>
              <a:rPr lang="en-US" b="1" dirty="0" err="1"/>
              <a:t>redundância</a:t>
            </a:r>
            <a:r>
              <a:rPr lang="en-US" b="1" dirty="0"/>
              <a:t> </a:t>
            </a:r>
            <a:r>
              <a:rPr lang="en-US" dirty="0"/>
              <a:t>– </a:t>
            </a:r>
            <a:r>
              <a:rPr lang="en-US" dirty="0" err="1"/>
              <a:t>Consistência</a:t>
            </a:r>
            <a:r>
              <a:rPr lang="en-US" dirty="0"/>
              <a:t> de dados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padrão</a:t>
            </a:r>
            <a:endParaRPr lang="en-US" dirty="0"/>
          </a:p>
          <a:p>
            <a:pPr lvl="2"/>
            <a:r>
              <a:rPr lang="en-US" dirty="0"/>
              <a:t>Ex: </a:t>
            </a:r>
            <a:r>
              <a:rPr lang="en-US" dirty="0" err="1"/>
              <a:t>Sistemas</a:t>
            </a:r>
            <a:r>
              <a:rPr lang="en-US" dirty="0"/>
              <a:t> de tempo real, </a:t>
            </a:r>
            <a:r>
              <a:rPr lang="en-US" dirty="0" err="1"/>
              <a:t>serviços</a:t>
            </a:r>
            <a:r>
              <a:rPr lang="en-US" dirty="0"/>
              <a:t> </a:t>
            </a:r>
            <a:r>
              <a:rPr lang="en-US" dirty="0" err="1"/>
              <a:t>médicos</a:t>
            </a:r>
            <a:r>
              <a:rPr lang="en-US" dirty="0"/>
              <a:t>, </a:t>
            </a:r>
            <a:r>
              <a:rPr lang="en-US" dirty="0" err="1"/>
              <a:t>financeiros</a:t>
            </a:r>
            <a:r>
              <a:rPr lang="en-US" dirty="0"/>
              <a:t>, (</a:t>
            </a:r>
            <a:r>
              <a:rPr lang="en-US" dirty="0" err="1"/>
              <a:t>detecção</a:t>
            </a:r>
            <a:r>
              <a:rPr lang="en-US" dirty="0"/>
              <a:t> de frauds), redes (cybersecurity), </a:t>
            </a:r>
            <a:r>
              <a:rPr lang="en-US" dirty="0" err="1"/>
              <a:t>jogos</a:t>
            </a:r>
            <a:r>
              <a:rPr lang="en-US" dirty="0"/>
              <a:t> online, IOT, ML,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b="1" dirty="0" err="1"/>
              <a:t>Suporte</a:t>
            </a:r>
            <a:r>
              <a:rPr lang="en-US" b="1" dirty="0"/>
              <a:t> SQL, ACID, OLAP e OLTP </a:t>
            </a:r>
            <a:r>
              <a:rPr lang="en-US" b="1" dirty="0" err="1"/>
              <a:t>simultâneos</a:t>
            </a:r>
            <a:r>
              <a:rPr lang="en-US" b="1" dirty="0"/>
              <a:t> (HTAP).</a:t>
            </a:r>
          </a:p>
          <a:p>
            <a:r>
              <a:rPr lang="en-US" b="1" dirty="0"/>
              <a:t>Contra IMDB</a:t>
            </a:r>
          </a:p>
          <a:p>
            <a:pPr lvl="1"/>
            <a:r>
              <a:rPr lang="en-US" b="1" dirty="0" err="1"/>
              <a:t>Baixa</a:t>
            </a:r>
            <a:r>
              <a:rPr lang="en-US" b="1" dirty="0"/>
              <a:t> </a:t>
            </a:r>
            <a:r>
              <a:rPr lang="en-US" b="1" dirty="0" err="1"/>
              <a:t>durabilidade</a:t>
            </a:r>
            <a:r>
              <a:rPr lang="en-US" b="1" dirty="0"/>
              <a:t> </a:t>
            </a:r>
            <a:r>
              <a:rPr lang="en-US" dirty="0"/>
              <a:t>– </a:t>
            </a:r>
            <a:r>
              <a:rPr lang="en-US" dirty="0" err="1"/>
              <a:t>Risco</a:t>
            </a:r>
            <a:r>
              <a:rPr lang="en-US" dirty="0"/>
              <a:t> de </a:t>
            </a:r>
            <a:r>
              <a:rPr lang="en-US" dirty="0" err="1"/>
              <a:t>perda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casos</a:t>
            </a:r>
            <a:r>
              <a:rPr lang="en-US" dirty="0"/>
              <a:t> de </a:t>
            </a:r>
            <a:r>
              <a:rPr lang="en-US" i="1" dirty="0"/>
              <a:t>crash</a:t>
            </a:r>
            <a:r>
              <a:rPr lang="en-US" dirty="0"/>
              <a:t>, </a:t>
            </a:r>
            <a:r>
              <a:rPr lang="en-US" b="1" dirty="0"/>
              <a:t>dados </a:t>
            </a:r>
            <a:r>
              <a:rPr lang="en-US" b="1" dirty="0" err="1"/>
              <a:t>estão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RAM</a:t>
            </a:r>
            <a:r>
              <a:rPr lang="en-US" dirty="0"/>
              <a:t>!</a:t>
            </a:r>
          </a:p>
          <a:p>
            <a:pPr lvl="1"/>
            <a:r>
              <a:rPr lang="en-US" b="1" dirty="0" err="1"/>
              <a:t>Custo</a:t>
            </a:r>
            <a:r>
              <a:rPr lang="en-US" dirty="0"/>
              <a:t> – </a:t>
            </a:r>
            <a:r>
              <a:rPr lang="en-US" dirty="0" err="1"/>
              <a:t>Memória</a:t>
            </a:r>
            <a:r>
              <a:rPr lang="en-US" dirty="0"/>
              <a:t> RAM </a:t>
            </a:r>
            <a:r>
              <a:rPr lang="en-US" dirty="0" err="1"/>
              <a:t>ainda</a:t>
            </a:r>
            <a:r>
              <a:rPr lang="en-US" dirty="0"/>
              <a:t> é </a:t>
            </a:r>
            <a:r>
              <a:rPr lang="en-US" dirty="0" err="1"/>
              <a:t>cara</a:t>
            </a:r>
            <a:endParaRPr lang="en-US" dirty="0"/>
          </a:p>
          <a:p>
            <a:pPr lvl="1"/>
            <a:r>
              <a:rPr lang="en-US" b="1" dirty="0" err="1"/>
              <a:t>Arquitetura</a:t>
            </a:r>
            <a:r>
              <a:rPr lang="en-US" b="1" dirty="0"/>
              <a:t> é </a:t>
            </a:r>
            <a:r>
              <a:rPr lang="en-US" b="1" dirty="0" err="1"/>
              <a:t>mais</a:t>
            </a:r>
            <a:r>
              <a:rPr lang="en-US" b="1" dirty="0"/>
              <a:t> </a:t>
            </a:r>
            <a:r>
              <a:rPr lang="en-US" b="1" dirty="0" err="1"/>
              <a:t>complexa</a:t>
            </a:r>
            <a:r>
              <a:rPr lang="en-US" b="1" dirty="0"/>
              <a:t> e </a:t>
            </a:r>
            <a:r>
              <a:rPr lang="en-US" b="1" dirty="0" err="1"/>
              <a:t>múltiplas</a:t>
            </a:r>
            <a:r>
              <a:rPr lang="en-US" b="1" dirty="0"/>
              <a:t> </a:t>
            </a:r>
            <a:r>
              <a:rPr lang="en-US" b="1" dirty="0" err="1"/>
              <a:t>implementações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5520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BFD437-C7D7-DCE4-6763-075E6EFEE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Principais</a:t>
            </a:r>
            <a:r>
              <a:rPr lang="en-US" b="1" dirty="0"/>
              <a:t> </a:t>
            </a:r>
            <a:r>
              <a:rPr lang="en-US" b="1" dirty="0" err="1"/>
              <a:t>conceitos</a:t>
            </a:r>
            <a:r>
              <a:rPr lang="en-US" b="1" dirty="0"/>
              <a:t> </a:t>
            </a:r>
            <a:r>
              <a:rPr lang="en-US" b="1" dirty="0" err="1"/>
              <a:t>relativos</a:t>
            </a:r>
            <a:r>
              <a:rPr lang="en-US" b="1" dirty="0"/>
              <a:t> </a:t>
            </a:r>
            <a:r>
              <a:rPr lang="en-US" b="1" dirty="0" err="1"/>
              <a:t>aos</a:t>
            </a:r>
            <a:r>
              <a:rPr lang="en-US" b="1" dirty="0"/>
              <a:t> IMDB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6AF1ED-BEA0-980E-19B5-58218B221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Hot &amp; Cold Data</a:t>
            </a:r>
          </a:p>
          <a:p>
            <a:r>
              <a:rPr lang="pt-BR" dirty="0"/>
              <a:t>Organização de Dados</a:t>
            </a:r>
          </a:p>
          <a:p>
            <a:r>
              <a:rPr lang="en-US" dirty="0" err="1"/>
              <a:t>Particionamento</a:t>
            </a:r>
            <a:r>
              <a:rPr lang="en-US" dirty="0"/>
              <a:t> de dados</a:t>
            </a:r>
          </a:p>
          <a:p>
            <a:r>
              <a:rPr lang="en-US" dirty="0" err="1"/>
              <a:t>Indexação</a:t>
            </a:r>
            <a:r>
              <a:rPr lang="en-US" dirty="0"/>
              <a:t> de dados</a:t>
            </a:r>
          </a:p>
          <a:p>
            <a:r>
              <a:rPr lang="en-US" dirty="0" err="1"/>
              <a:t>Versionamento</a:t>
            </a:r>
            <a:r>
              <a:rPr lang="en-US" dirty="0"/>
              <a:t> de dados</a:t>
            </a:r>
          </a:p>
          <a:p>
            <a:r>
              <a:rPr lang="en-US" dirty="0" err="1"/>
              <a:t>Processamento</a:t>
            </a:r>
            <a:r>
              <a:rPr lang="en-US" dirty="0"/>
              <a:t> de </a:t>
            </a:r>
            <a:r>
              <a:rPr lang="en-US" dirty="0" err="1"/>
              <a:t>consultas</a:t>
            </a:r>
            <a:endParaRPr lang="en-US" dirty="0"/>
          </a:p>
          <a:p>
            <a:r>
              <a:rPr lang="en-US" dirty="0" err="1"/>
              <a:t>Controle</a:t>
            </a:r>
            <a:r>
              <a:rPr lang="en-US" dirty="0"/>
              <a:t> de </a:t>
            </a:r>
            <a:r>
              <a:rPr lang="en-US" dirty="0" err="1"/>
              <a:t>concorrência</a:t>
            </a:r>
            <a:endParaRPr lang="en-US" dirty="0"/>
          </a:p>
          <a:p>
            <a:r>
              <a:rPr lang="en-US" dirty="0" err="1"/>
              <a:t>Recuperação</a:t>
            </a:r>
            <a:r>
              <a:rPr lang="en-US" dirty="0"/>
              <a:t> de </a:t>
            </a:r>
            <a:r>
              <a:rPr lang="en-US" dirty="0" err="1"/>
              <a:t>falhas</a:t>
            </a:r>
            <a:endParaRPr lang="en-US" dirty="0"/>
          </a:p>
          <a:p>
            <a:endParaRPr lang="en-US" dirty="0"/>
          </a:p>
        </p:txBody>
      </p:sp>
      <p:pic>
        <p:nvPicPr>
          <p:cNvPr id="1026" name="Picture 2" descr="Língua Portuguesa, História e Arte – Variação Linguística – Conexão Escola  SME">
            <a:extLst>
              <a:ext uri="{FF2B5EF4-FFF2-40B4-BE49-F238E27FC236}">
                <a16:creationId xmlns:a16="http://schemas.microsoft.com/office/drawing/2014/main" id="{7EE1F1A6-F25B-D118-633F-597B8813F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8400" y="2330824"/>
            <a:ext cx="4436142" cy="26894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7FFB8FC-FFFC-9B22-E665-3FD98DEE3122}"/>
              </a:ext>
            </a:extLst>
          </p:cNvPr>
          <p:cNvSpPr txBox="1"/>
          <p:nvPr/>
        </p:nvSpPr>
        <p:spPr>
          <a:xfrm>
            <a:off x="6096000" y="5155172"/>
            <a:ext cx="525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0070C0"/>
                </a:solidFill>
              </a:rPr>
              <a:t>Atenção</a:t>
            </a:r>
            <a:r>
              <a:rPr lang="en-US" dirty="0">
                <a:solidFill>
                  <a:srgbClr val="0070C0"/>
                </a:solidFill>
              </a:rPr>
              <a:t>: </a:t>
            </a:r>
            <a:r>
              <a:rPr lang="en-US" dirty="0" err="1">
                <a:solidFill>
                  <a:srgbClr val="0070C0"/>
                </a:solidFill>
              </a:rPr>
              <a:t>muitos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desse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conceitos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já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foram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apresentados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nas</a:t>
            </a:r>
            <a:r>
              <a:rPr lang="en-US" dirty="0">
                <a:solidFill>
                  <a:srgbClr val="0070C0"/>
                </a:solidFill>
              </a:rPr>
              <a:t> aulas de BD e BDD! </a:t>
            </a:r>
            <a:r>
              <a:rPr lang="en-US" dirty="0" err="1">
                <a:solidFill>
                  <a:srgbClr val="0070C0"/>
                </a:solidFill>
              </a:rPr>
              <a:t>Reuso</a:t>
            </a:r>
            <a:r>
              <a:rPr lang="en-US" dirty="0">
                <a:solidFill>
                  <a:srgbClr val="0070C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809115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2D2EEE-B7F5-6AC4-37BF-21B477A36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Hot &amp; Cold Data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FD9A36-6AF4-8117-B5E2-90F9052E7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b="1" dirty="0"/>
              <a:t>Nem todos os dados da empresa precisam estar na RAM ao mesmo tempo. É ineficiente, caro e desnecessário.</a:t>
            </a:r>
          </a:p>
          <a:p>
            <a:pPr lvl="1"/>
            <a:r>
              <a:rPr lang="pt-BR" dirty="0"/>
              <a:t>As designações "quente" e "frio" vêm de paradigmas de processamento de dados da computação na nuvem. </a:t>
            </a:r>
          </a:p>
          <a:p>
            <a:r>
              <a:rPr lang="pt-BR" b="1" dirty="0"/>
              <a:t>Armazenamento quente (RAM) </a:t>
            </a:r>
            <a:r>
              <a:rPr lang="pt-BR" dirty="0"/>
              <a:t>- Dados quentes são essenciais (missão crítica), acessados com frequência ficam na RAM  para processamento + rápido.</a:t>
            </a:r>
          </a:p>
          <a:p>
            <a:r>
              <a:rPr lang="pt-BR" b="1" dirty="0"/>
              <a:t>Armazenamento frio (HD/SSD) </a:t>
            </a:r>
            <a:r>
              <a:rPr lang="pt-BR" dirty="0"/>
              <a:t>- Dados frios são mais estáticos (envelhecidos e menor frequência de uso), são armazenados em meios expansíveis. Em geral, dados históricos, atividades encerradas, projetos antigos etc.</a:t>
            </a:r>
          </a:p>
          <a:p>
            <a:pPr lvl="1"/>
            <a:r>
              <a:rPr lang="pt-BR" b="1" dirty="0"/>
              <a:t> Soluções</a:t>
            </a:r>
            <a:r>
              <a:rPr lang="pt-BR" dirty="0"/>
              <a:t>: Classificação de dados definição de critérios de transferência e armazenamento de disco (persistência) e </a:t>
            </a:r>
            <a:r>
              <a:rPr lang="pt-BR" b="1" dirty="0"/>
              <a:t>implementação de </a:t>
            </a:r>
            <a:r>
              <a:rPr lang="pt-BR" b="1" dirty="0" err="1"/>
              <a:t>logging</a:t>
            </a:r>
            <a:r>
              <a:rPr lang="pt-BR" b="1" dirty="0"/>
              <a:t>/checkpoints</a:t>
            </a:r>
            <a:r>
              <a:rPr lang="pt-BR" dirty="0"/>
              <a:t>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5716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D0A345-3AA3-62FA-E351-5F5051699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Organização</a:t>
            </a:r>
            <a:r>
              <a:rPr lang="en-US" b="1" dirty="0"/>
              <a:t> de Dados </a:t>
            </a:r>
            <a:r>
              <a:rPr lang="en-US" b="1" dirty="0" err="1"/>
              <a:t>nos</a:t>
            </a:r>
            <a:r>
              <a:rPr lang="en-US" b="1" dirty="0"/>
              <a:t> IMDB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6F32A9-9C7D-3491-337D-994036AAE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 dirty="0"/>
              <a:t>Orientados em linhas (</a:t>
            </a:r>
            <a:r>
              <a:rPr lang="pt-BR" b="1" i="1" dirty="0" err="1"/>
              <a:t>N-ary</a:t>
            </a:r>
            <a:r>
              <a:rPr lang="pt-BR" b="1" i="1" dirty="0"/>
              <a:t> </a:t>
            </a:r>
            <a:r>
              <a:rPr lang="pt-BR" b="1" i="1" dirty="0" err="1"/>
              <a:t>Storage</a:t>
            </a:r>
            <a:r>
              <a:rPr lang="pt-BR" b="1" i="1" dirty="0"/>
              <a:t> Model </a:t>
            </a:r>
            <a:r>
              <a:rPr lang="pt-BR" b="1" dirty="0"/>
              <a:t>- NSM). </a:t>
            </a:r>
            <a:r>
              <a:rPr lang="pt-BR" dirty="0"/>
              <a:t>Os atributos dos registros do banco são armazenados contiguamente. </a:t>
            </a:r>
          </a:p>
          <a:p>
            <a:pPr lvl="1"/>
            <a:r>
              <a:rPr lang="pt-BR" b="1" dirty="0"/>
              <a:t>Layout é adequado para sistemas OLPT </a:t>
            </a:r>
            <a:r>
              <a:rPr lang="pt-BR" dirty="0"/>
              <a:t>essas transações tendem a manusear os atributos dos registros por vez.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r>
              <a:rPr lang="pt-BR" b="1" dirty="0"/>
              <a:t>Orientados em colunas (</a:t>
            </a:r>
            <a:r>
              <a:rPr lang="pt-BR" b="1" i="1" dirty="0" err="1"/>
              <a:t>Decomposition</a:t>
            </a:r>
            <a:r>
              <a:rPr lang="pt-BR" b="1" i="1" dirty="0"/>
              <a:t> </a:t>
            </a:r>
            <a:r>
              <a:rPr lang="pt-BR" b="1" i="1" dirty="0" err="1"/>
              <a:t>Storage</a:t>
            </a:r>
            <a:r>
              <a:rPr lang="pt-BR" b="1" i="1" dirty="0"/>
              <a:t> Model </a:t>
            </a:r>
            <a:r>
              <a:rPr lang="pt-BR" b="1" dirty="0"/>
              <a:t>- DMS). </a:t>
            </a:r>
            <a:r>
              <a:rPr lang="pt-BR" dirty="0"/>
              <a:t>A organização colunar armazena os valores de um atributo de todos os registros contiguamente. </a:t>
            </a:r>
          </a:p>
          <a:p>
            <a:pPr lvl="1"/>
            <a:r>
              <a:rPr lang="pt-BR" b="1" dirty="0"/>
              <a:t>Layout é comumente empregado em sistemas OLAP</a:t>
            </a:r>
            <a:r>
              <a:rPr lang="pt-BR" dirty="0"/>
              <a:t>. Uma transação desse tipo acessa um atributo de muitos registros ao mesmo tempo.</a:t>
            </a:r>
          </a:p>
          <a:p>
            <a:pPr lvl="1"/>
            <a:endParaRPr lang="en-US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3F26FE0-FFEF-E4AA-74C3-B7DC3C173253}"/>
              </a:ext>
            </a:extLst>
          </p:cNvPr>
          <p:cNvSpPr txBox="1"/>
          <p:nvPr/>
        </p:nvSpPr>
        <p:spPr>
          <a:xfrm>
            <a:off x="8597746" y="6678704"/>
            <a:ext cx="35942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ADAPTADO de: </a:t>
            </a:r>
            <a:r>
              <a:rPr lang="en-US" sz="800" dirty="0" err="1"/>
              <a:t>Pavlo</a:t>
            </a:r>
            <a:r>
              <a:rPr lang="en-US" sz="800" dirty="0"/>
              <a:t>, A. (2020) Advanced Databases Systems- In memory </a:t>
            </a:r>
            <a:r>
              <a:rPr lang="en-US" sz="800" dirty="0" err="1"/>
              <a:t>Datases</a:t>
            </a:r>
            <a:endParaRPr lang="en-US" sz="800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C85945A6-25F3-1005-97E7-691E5323EFAD}"/>
              </a:ext>
            </a:extLst>
          </p:cNvPr>
          <p:cNvGrpSpPr/>
          <p:nvPr/>
        </p:nvGrpSpPr>
        <p:grpSpPr>
          <a:xfrm>
            <a:off x="6442229" y="2861305"/>
            <a:ext cx="5692924" cy="1503640"/>
            <a:chOff x="6442229" y="2861305"/>
            <a:chExt cx="5692924" cy="1503640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58742ECA-A77F-F5BE-AF7D-0A9423CB89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42229" y="3173227"/>
              <a:ext cx="3747598" cy="73867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8" name="Imagem 17">
              <a:extLst>
                <a:ext uri="{FF2B5EF4-FFF2-40B4-BE49-F238E27FC236}">
                  <a16:creationId xmlns:a16="http://schemas.microsoft.com/office/drawing/2014/main" id="{5BAE41E1-D7C5-9026-C26C-B39172773F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82538" y="2861305"/>
              <a:ext cx="1152615" cy="1503640"/>
            </a:xfrm>
            <a:prstGeom prst="rect">
              <a:avLst/>
            </a:prstGeom>
          </p:spPr>
        </p:pic>
        <p:sp>
          <p:nvSpPr>
            <p:cNvPr id="27" name="Seta: para a Direita 26">
              <a:extLst>
                <a:ext uri="{FF2B5EF4-FFF2-40B4-BE49-F238E27FC236}">
                  <a16:creationId xmlns:a16="http://schemas.microsoft.com/office/drawing/2014/main" id="{BCD716A4-4BF3-8DD8-63DB-D47EA394A2EB}"/>
                </a:ext>
              </a:extLst>
            </p:cNvPr>
            <p:cNvSpPr/>
            <p:nvPr/>
          </p:nvSpPr>
          <p:spPr>
            <a:xfrm>
              <a:off x="10394873" y="3300249"/>
              <a:ext cx="408373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9DDE62DB-58A6-8695-79AE-77D0502F449E}"/>
              </a:ext>
            </a:extLst>
          </p:cNvPr>
          <p:cNvGrpSpPr/>
          <p:nvPr/>
        </p:nvGrpSpPr>
        <p:grpSpPr>
          <a:xfrm>
            <a:off x="6538589" y="5319017"/>
            <a:ext cx="5533669" cy="1281019"/>
            <a:chOff x="6538589" y="5319017"/>
            <a:chExt cx="5533669" cy="1281019"/>
          </a:xfrm>
        </p:grpSpPr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ED1EBF51-E3FD-D8E1-2ECC-3199A6DDAC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38589" y="5754199"/>
              <a:ext cx="3554877" cy="73867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0F2F1FCE-4052-B5C0-7723-C1A637C13D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097087" y="5319017"/>
              <a:ext cx="975171" cy="1281019"/>
            </a:xfrm>
            <a:prstGeom prst="rect">
              <a:avLst/>
            </a:prstGeom>
          </p:spPr>
        </p:pic>
        <p:sp>
          <p:nvSpPr>
            <p:cNvPr id="28" name="Seta: para a Direita 27">
              <a:extLst>
                <a:ext uri="{FF2B5EF4-FFF2-40B4-BE49-F238E27FC236}">
                  <a16:creationId xmlns:a16="http://schemas.microsoft.com/office/drawing/2014/main" id="{34377177-DB29-772E-CADA-14F6BC9BBC0E}"/>
                </a:ext>
              </a:extLst>
            </p:cNvPr>
            <p:cNvSpPr/>
            <p:nvPr/>
          </p:nvSpPr>
          <p:spPr>
            <a:xfrm>
              <a:off x="10416845" y="5789567"/>
              <a:ext cx="408373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945873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EA82B0-F241-D926-7EC2-5B06A3AE1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Particionamento</a:t>
            </a:r>
            <a:r>
              <a:rPr lang="en-US" b="1" dirty="0"/>
              <a:t> de dados </a:t>
            </a:r>
            <a:r>
              <a:rPr lang="en-US" b="1" dirty="0" err="1"/>
              <a:t>nos</a:t>
            </a:r>
            <a:r>
              <a:rPr lang="en-US" b="1" dirty="0"/>
              <a:t> IMDB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1D71FA-6B92-AB4A-7BA2-2E8116F80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94811" cy="4351338"/>
          </a:xfrm>
        </p:spPr>
        <p:txBody>
          <a:bodyPr>
            <a:normAutofit/>
          </a:bodyPr>
          <a:lstStyle/>
          <a:p>
            <a:r>
              <a:rPr lang="pt-BR" b="1" dirty="0"/>
              <a:t>Alguns IMDB implementam particionamento de dados (H-Store, </a:t>
            </a:r>
            <a:r>
              <a:rPr lang="pt-BR" b="1" dirty="0" err="1"/>
              <a:t>VoltDB</a:t>
            </a:r>
            <a:r>
              <a:rPr lang="pt-BR" b="1" dirty="0"/>
              <a:t> e </a:t>
            </a:r>
            <a:r>
              <a:rPr lang="pt-BR" b="1"/>
              <a:t>Calvin), </a:t>
            </a:r>
            <a:r>
              <a:rPr lang="pt-BR" b="1" dirty="0"/>
              <a:t>outros não implementam </a:t>
            </a:r>
          </a:p>
          <a:p>
            <a:r>
              <a:rPr lang="pt-BR" b="1" dirty="0"/>
              <a:t>Uma partição divide um BD em partes disjuntas e independentes</a:t>
            </a:r>
            <a:r>
              <a:rPr lang="pt-BR" dirty="0"/>
              <a:t>. </a:t>
            </a:r>
          </a:p>
          <a:p>
            <a:pPr lvl="1"/>
            <a:r>
              <a:rPr lang="pt-BR" b="1" dirty="0"/>
              <a:t>As </a:t>
            </a:r>
            <a:r>
              <a:rPr lang="pt-BR" b="1" dirty="0" err="1"/>
              <a:t>Tx</a:t>
            </a:r>
            <a:r>
              <a:rPr lang="pt-BR" b="1" dirty="0"/>
              <a:t> são executadas em paralelo em cada partição de dados.</a:t>
            </a:r>
          </a:p>
          <a:p>
            <a:pPr lvl="1"/>
            <a:r>
              <a:rPr lang="pt-BR" b="1" dirty="0"/>
              <a:t>Desvantagem do particionamento: </a:t>
            </a:r>
            <a:r>
              <a:rPr lang="pt-BR" dirty="0"/>
              <a:t>quando uma </a:t>
            </a:r>
            <a:r>
              <a:rPr lang="pt-BR" dirty="0" err="1"/>
              <a:t>Tx</a:t>
            </a:r>
            <a:r>
              <a:rPr lang="pt-BR" dirty="0"/>
              <a:t> precisa acessar mais de uma partição e alguma não está disponível. A </a:t>
            </a:r>
            <a:r>
              <a:rPr lang="pt-BR" dirty="0" err="1"/>
              <a:t>Tx</a:t>
            </a:r>
            <a:r>
              <a:rPr lang="pt-BR" dirty="0"/>
              <a:t> espera até que todas as partições que precisa estejam disponíveis</a:t>
            </a:r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6089F76-9A0D-E2DC-5B10-3F99785CF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9576" y="2428664"/>
            <a:ext cx="3621741" cy="28585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E2D0DAF-B018-CD1E-C2DC-DABDBE410A74}"/>
              </a:ext>
            </a:extLst>
          </p:cNvPr>
          <p:cNvSpPr txBox="1"/>
          <p:nvPr/>
        </p:nvSpPr>
        <p:spPr>
          <a:xfrm>
            <a:off x="8633011" y="5837470"/>
            <a:ext cx="464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Tx</a:t>
            </a:r>
            <a:r>
              <a:rPr lang="en-US" baseline="-25000" dirty="0"/>
              <a:t>1</a:t>
            </a:r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795D7336-20A1-023B-98D8-EEA1C7A20118}"/>
              </a:ext>
            </a:extLst>
          </p:cNvPr>
          <p:cNvSpPr/>
          <p:nvPr/>
        </p:nvSpPr>
        <p:spPr>
          <a:xfrm rot="16200000">
            <a:off x="8656019" y="5301446"/>
            <a:ext cx="438616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087CA3F-84EF-CA03-2884-4DB7F5BB9641}"/>
              </a:ext>
            </a:extLst>
          </p:cNvPr>
          <p:cNvSpPr txBox="1"/>
          <p:nvPr/>
        </p:nvSpPr>
        <p:spPr>
          <a:xfrm>
            <a:off x="9959250" y="5837470"/>
            <a:ext cx="464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Tx</a:t>
            </a:r>
            <a:r>
              <a:rPr lang="en-US" baseline="-25000" dirty="0"/>
              <a:t>2</a:t>
            </a:r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23D44396-876A-37B6-0CF7-DCF670AAFC54}"/>
              </a:ext>
            </a:extLst>
          </p:cNvPr>
          <p:cNvSpPr/>
          <p:nvPr/>
        </p:nvSpPr>
        <p:spPr>
          <a:xfrm rot="16200000">
            <a:off x="9982258" y="5301446"/>
            <a:ext cx="438616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64C75A9-FEFE-C4D5-13B7-775935FD40F7}"/>
              </a:ext>
            </a:extLst>
          </p:cNvPr>
          <p:cNvSpPr txBox="1"/>
          <p:nvPr/>
        </p:nvSpPr>
        <p:spPr>
          <a:xfrm>
            <a:off x="11349318" y="5825893"/>
            <a:ext cx="464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Tx</a:t>
            </a:r>
            <a:r>
              <a:rPr lang="en-US" baseline="-25000" dirty="0"/>
              <a:t>3</a:t>
            </a:r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19B807DE-2409-1AA0-4B03-F57596D5937F}"/>
              </a:ext>
            </a:extLst>
          </p:cNvPr>
          <p:cNvSpPr/>
          <p:nvPr/>
        </p:nvSpPr>
        <p:spPr>
          <a:xfrm rot="16200000">
            <a:off x="11308497" y="5301446"/>
            <a:ext cx="438616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EC4E68E-ED53-4B1C-C206-DA8C33B33471}"/>
              </a:ext>
            </a:extLst>
          </p:cNvPr>
          <p:cNvSpPr txBox="1"/>
          <p:nvPr/>
        </p:nvSpPr>
        <p:spPr>
          <a:xfrm>
            <a:off x="8597746" y="6678704"/>
            <a:ext cx="35942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ADAPTADO de: </a:t>
            </a:r>
            <a:r>
              <a:rPr lang="en-US" sz="800" dirty="0" err="1"/>
              <a:t>Pavlo</a:t>
            </a:r>
            <a:r>
              <a:rPr lang="en-US" sz="800" dirty="0"/>
              <a:t>, A. (2020) Advanced Databases Systems- In memory </a:t>
            </a:r>
            <a:r>
              <a:rPr lang="en-US" sz="800" dirty="0" err="1"/>
              <a:t>Datases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9028887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D0A345-3AA3-62FA-E351-5F5051699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Indexação</a:t>
            </a:r>
            <a:r>
              <a:rPr lang="en-US" b="1" dirty="0"/>
              <a:t> de dados </a:t>
            </a:r>
            <a:r>
              <a:rPr lang="en-US" b="1" dirty="0" err="1"/>
              <a:t>nos</a:t>
            </a:r>
            <a:r>
              <a:rPr lang="en-US" b="1" dirty="0"/>
              <a:t> IMDB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6F32A9-9C7D-3491-337D-994036AAE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Não</a:t>
            </a:r>
            <a:r>
              <a:rPr lang="en-US" b="1" dirty="0"/>
              <a:t> </a:t>
            </a:r>
            <a:r>
              <a:rPr lang="en-US" b="1" dirty="0" err="1"/>
              <a:t>armazena</a:t>
            </a:r>
            <a:r>
              <a:rPr lang="en-US" b="1" dirty="0"/>
              <a:t> dados </a:t>
            </a:r>
            <a:r>
              <a:rPr lang="en-US" b="1" dirty="0" err="1"/>
              <a:t>em</a:t>
            </a:r>
            <a:r>
              <a:rPr lang="en-US" b="1" dirty="0"/>
              <a:t> frames/pages </a:t>
            </a:r>
            <a:r>
              <a:rPr lang="en-US" b="1" dirty="0" err="1"/>
              <a:t>em</a:t>
            </a:r>
            <a:r>
              <a:rPr lang="en-US" b="1" dirty="0"/>
              <a:t> disco </a:t>
            </a:r>
            <a:r>
              <a:rPr lang="en-US" b="1" dirty="0" err="1"/>
              <a:t>como</a:t>
            </a:r>
            <a:r>
              <a:rPr lang="en-US" b="1" dirty="0"/>
              <a:t> </a:t>
            </a:r>
            <a:r>
              <a:rPr lang="en-US" b="1" dirty="0" err="1"/>
              <a:t>nos</a:t>
            </a:r>
            <a:r>
              <a:rPr lang="en-US" b="1" dirty="0"/>
              <a:t> </a:t>
            </a:r>
            <a:r>
              <a:rPr lang="en-US" b="1" dirty="0" err="1"/>
              <a:t>SGBDr</a:t>
            </a:r>
            <a:r>
              <a:rPr lang="en-US" dirty="0"/>
              <a:t>, mas </a:t>
            </a:r>
            <a:r>
              <a:rPr lang="en-US" dirty="0" err="1"/>
              <a:t>ainda</a:t>
            </a:r>
            <a:r>
              <a:rPr lang="en-US" dirty="0"/>
              <a:t> </a:t>
            </a:r>
            <a:r>
              <a:rPr lang="en-US" dirty="0" err="1"/>
              <a:t>usa</a:t>
            </a:r>
            <a:r>
              <a:rPr lang="en-US" dirty="0"/>
              <a:t> e </a:t>
            </a:r>
            <a:r>
              <a:rPr lang="en-US" dirty="0" err="1"/>
              <a:t>organiza</a:t>
            </a:r>
            <a:r>
              <a:rPr lang="en-US" dirty="0"/>
              <a:t> as </a:t>
            </a:r>
            <a:r>
              <a:rPr lang="en-US" dirty="0" err="1"/>
              <a:t>tuplas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b="1" dirty="0" err="1">
                <a:solidFill>
                  <a:srgbClr val="0070C0"/>
                </a:solidFill>
              </a:rPr>
              <a:t>blocos</a:t>
            </a:r>
            <a:r>
              <a:rPr lang="en-US" b="1" dirty="0">
                <a:solidFill>
                  <a:srgbClr val="0070C0"/>
                </a:solidFill>
              </a:rPr>
              <a:t>/pages </a:t>
            </a:r>
            <a:r>
              <a:rPr lang="en-US" b="1" dirty="0" err="1">
                <a:solidFill>
                  <a:srgbClr val="0070C0"/>
                </a:solidFill>
              </a:rPr>
              <a:t>em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memória</a:t>
            </a:r>
            <a:endParaRPr lang="en-US" b="1" dirty="0">
              <a:solidFill>
                <a:srgbClr val="0070C0"/>
              </a:solidFill>
            </a:endParaRPr>
          </a:p>
          <a:p>
            <a:pPr lvl="1"/>
            <a:r>
              <a:rPr lang="en-US" dirty="0" err="1"/>
              <a:t>Usa</a:t>
            </a:r>
            <a:r>
              <a:rPr lang="en-US" dirty="0"/>
              <a:t> </a:t>
            </a:r>
            <a:r>
              <a:rPr lang="en-US" dirty="0" err="1"/>
              <a:t>índices</a:t>
            </a:r>
            <a:r>
              <a:rPr lang="en-US" dirty="0"/>
              <a:t> para </a:t>
            </a:r>
            <a:r>
              <a:rPr lang="en-US" dirty="0" err="1"/>
              <a:t>ter</a:t>
            </a:r>
            <a:r>
              <a:rPr lang="en-US" dirty="0"/>
              <a:t> </a:t>
            </a:r>
            <a:r>
              <a:rPr lang="en-US" dirty="0" err="1"/>
              <a:t>acesso</a:t>
            </a:r>
            <a:r>
              <a:rPr lang="en-US" dirty="0"/>
              <a:t> </a:t>
            </a:r>
            <a:r>
              <a:rPr lang="en-US" dirty="0" err="1"/>
              <a:t>direto</a:t>
            </a:r>
            <a:r>
              <a:rPr lang="en-US" dirty="0"/>
              <a:t> </a:t>
            </a:r>
            <a:r>
              <a:rPr lang="en-US" dirty="0" err="1"/>
              <a:t>aos</a:t>
            </a:r>
            <a:r>
              <a:rPr lang="en-US" dirty="0"/>
              <a:t> dados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memória</a:t>
            </a:r>
            <a:endParaRPr lang="en-US" dirty="0"/>
          </a:p>
          <a:p>
            <a:pPr lvl="1"/>
            <a:r>
              <a:rPr lang="en-US" dirty="0"/>
              <a:t>Pages </a:t>
            </a:r>
            <a:r>
              <a:rPr lang="en-US" dirty="0" err="1"/>
              <a:t>tem</a:t>
            </a:r>
            <a:r>
              <a:rPr lang="en-US" dirty="0"/>
              <a:t> </a:t>
            </a:r>
            <a:r>
              <a:rPr lang="en-US" dirty="0" err="1"/>
              <a:t>tamanho</a:t>
            </a:r>
            <a:r>
              <a:rPr lang="en-US" dirty="0"/>
              <a:t> </a:t>
            </a:r>
            <a:r>
              <a:rPr lang="en-US" dirty="0" err="1"/>
              <a:t>fixo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variável</a:t>
            </a:r>
            <a:endParaRPr lang="en-US" dirty="0"/>
          </a:p>
          <a:p>
            <a:pPr lvl="1"/>
            <a:r>
              <a:rPr lang="en-US" dirty="0" err="1"/>
              <a:t>Usa</a:t>
            </a:r>
            <a:r>
              <a:rPr lang="en-US" dirty="0"/>
              <a:t> </a:t>
            </a:r>
            <a:r>
              <a:rPr lang="en-US" i="1" dirty="0" err="1"/>
              <a:t>checkcsum</a:t>
            </a:r>
            <a:r>
              <a:rPr lang="en-US" dirty="0"/>
              <a:t> para detector </a:t>
            </a:r>
            <a:r>
              <a:rPr lang="en-US" dirty="0" err="1"/>
              <a:t>erros</a:t>
            </a:r>
            <a:r>
              <a:rPr lang="en-US" dirty="0"/>
              <a:t> de software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AD6F14B-00F8-9938-849F-34BCB76BF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195" y="3771861"/>
            <a:ext cx="6580093" cy="2799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3F26FE0-FFEF-E4AA-74C3-B7DC3C173253}"/>
              </a:ext>
            </a:extLst>
          </p:cNvPr>
          <p:cNvSpPr txBox="1"/>
          <p:nvPr/>
        </p:nvSpPr>
        <p:spPr>
          <a:xfrm>
            <a:off x="7896241" y="6643112"/>
            <a:ext cx="41392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ADAPTADO de: </a:t>
            </a:r>
            <a:r>
              <a:rPr lang="en-US" sz="900" dirty="0" err="1"/>
              <a:t>Pavlo</a:t>
            </a:r>
            <a:r>
              <a:rPr lang="en-US" sz="900" dirty="0"/>
              <a:t>, A. (2020) Advanced Databases Systems- In memory Databases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CF6D5C6-992A-23E2-90A9-2DC15166370F}"/>
              </a:ext>
            </a:extLst>
          </p:cNvPr>
          <p:cNvSpPr/>
          <p:nvPr/>
        </p:nvSpPr>
        <p:spPr>
          <a:xfrm>
            <a:off x="2851932" y="4954948"/>
            <a:ext cx="1174376" cy="605890"/>
          </a:xfrm>
          <a:prstGeom prst="rect">
            <a:avLst/>
          </a:prstGeom>
          <a:solidFill>
            <a:srgbClr val="FFE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SQL Engine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037A3669-8B4B-6B90-9C0B-A170B8BDB4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488" y="4862551"/>
            <a:ext cx="1810003" cy="790685"/>
          </a:xfrm>
          <a:prstGeom prst="rect">
            <a:avLst/>
          </a:prstGeom>
        </p:spPr>
      </p:pic>
      <p:cxnSp>
        <p:nvCxnSpPr>
          <p:cNvPr id="12" name="Conector: Curvo 11">
            <a:extLst>
              <a:ext uri="{FF2B5EF4-FFF2-40B4-BE49-F238E27FC236}">
                <a16:creationId xmlns:a16="http://schemas.microsoft.com/office/drawing/2014/main" id="{23F0D84A-6134-F2DA-B4B8-1F6C9FE9C7A0}"/>
              </a:ext>
            </a:extLst>
          </p:cNvPr>
          <p:cNvCxnSpPr>
            <a:stCxn id="9" idx="3"/>
          </p:cNvCxnSpPr>
          <p:nvPr/>
        </p:nvCxnSpPr>
        <p:spPr>
          <a:xfrm flipV="1">
            <a:off x="4026308" y="4419600"/>
            <a:ext cx="1495951" cy="838293"/>
          </a:xfrm>
          <a:prstGeom prst="curvedConnector3">
            <a:avLst>
              <a:gd name="adj1" fmla="val 4041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C97FB092-A37E-F2F4-E976-86D7E2B54ECB}"/>
              </a:ext>
            </a:extLst>
          </p:cNvPr>
          <p:cNvCxnSpPr>
            <a:stCxn id="10" idx="3"/>
            <a:endCxn id="9" idx="1"/>
          </p:cNvCxnSpPr>
          <p:nvPr/>
        </p:nvCxnSpPr>
        <p:spPr>
          <a:xfrm flipV="1">
            <a:off x="1949491" y="5257893"/>
            <a:ext cx="90244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B74E947-8FC6-DD53-811A-CE998A467D17}"/>
              </a:ext>
            </a:extLst>
          </p:cNvPr>
          <p:cNvSpPr txBox="1"/>
          <p:nvPr/>
        </p:nvSpPr>
        <p:spPr>
          <a:xfrm>
            <a:off x="3915158" y="5968834"/>
            <a:ext cx="2965812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rgbClr val="FF0000"/>
                </a:solidFill>
              </a:rPr>
              <a:t>Indíces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podem</a:t>
            </a:r>
            <a:r>
              <a:rPr lang="en-US" sz="2000" dirty="0">
                <a:solidFill>
                  <a:srgbClr val="FF0000"/>
                </a:solidFill>
              </a:rPr>
              <a:t> ser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Hash </a:t>
            </a:r>
            <a:r>
              <a:rPr lang="en-US" sz="2000" dirty="0" err="1">
                <a:solidFill>
                  <a:srgbClr val="FF0000"/>
                </a:solidFill>
              </a:rPr>
              <a:t>ou</a:t>
            </a:r>
            <a:r>
              <a:rPr lang="en-US" sz="2000" dirty="0">
                <a:solidFill>
                  <a:srgbClr val="FF0000"/>
                </a:solidFill>
              </a:rPr>
              <a:t> do </a:t>
            </a:r>
            <a:r>
              <a:rPr lang="en-US" sz="2000" dirty="0" err="1">
                <a:solidFill>
                  <a:srgbClr val="FF0000"/>
                </a:solidFill>
              </a:rPr>
              <a:t>tipo</a:t>
            </a:r>
            <a:r>
              <a:rPr lang="en-US" sz="2000" dirty="0">
                <a:solidFill>
                  <a:srgbClr val="FF0000"/>
                </a:solidFill>
              </a:rPr>
              <a:t> de T-Tree</a:t>
            </a:r>
          </a:p>
        </p:txBody>
      </p:sp>
    </p:spTree>
    <p:extLst>
      <p:ext uri="{BB962C8B-B14F-4D97-AF65-F5344CB8AC3E}">
        <p14:creationId xmlns:p14="http://schemas.microsoft.com/office/powerpoint/2010/main" val="41821707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DF4D12-F6D6-088C-DAA8-FCDDF99CC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Versionamento</a:t>
            </a:r>
            <a:r>
              <a:rPr lang="en-US" b="1" dirty="0"/>
              <a:t> de dados </a:t>
            </a:r>
            <a:r>
              <a:rPr lang="en-US" b="1" dirty="0" err="1"/>
              <a:t>nos</a:t>
            </a:r>
            <a:r>
              <a:rPr lang="en-US" b="1" dirty="0"/>
              <a:t> IMDB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DF869A-CE53-DEFE-B682-11736EDE2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b="1" dirty="0"/>
              <a:t>Muitos IMDB implementam o </a:t>
            </a:r>
            <a:r>
              <a:rPr lang="pt-BR" b="1" dirty="0" err="1"/>
              <a:t>multi</a:t>
            </a:r>
            <a:r>
              <a:rPr lang="pt-BR" b="1" dirty="0"/>
              <a:t> versionamento de dados </a:t>
            </a:r>
            <a:r>
              <a:rPr lang="pt-BR" dirty="0"/>
              <a:t>(</a:t>
            </a:r>
            <a:r>
              <a:rPr lang="pt-BR" dirty="0" err="1"/>
              <a:t>Ex</a:t>
            </a:r>
            <a:r>
              <a:rPr lang="pt-BR" dirty="0"/>
              <a:t>: </a:t>
            </a:r>
            <a:r>
              <a:rPr lang="pt-BR" dirty="0" err="1"/>
              <a:t>Hekaton</a:t>
            </a:r>
            <a:r>
              <a:rPr lang="pt-BR" dirty="0"/>
              <a:t>, </a:t>
            </a:r>
            <a:r>
              <a:rPr lang="pt-BR" dirty="0" err="1"/>
              <a:t>HyPer</a:t>
            </a:r>
            <a:r>
              <a:rPr lang="pt-BR" dirty="0"/>
              <a:t> e SAP HANA). </a:t>
            </a:r>
          </a:p>
          <a:p>
            <a:r>
              <a:rPr lang="pt-BR" b="1" dirty="0"/>
              <a:t>O versionamento facilita a implementação de protocolos de controle de concorrência.</a:t>
            </a:r>
          </a:p>
          <a:p>
            <a:r>
              <a:rPr lang="pt-BR" dirty="0"/>
              <a:t>O versionamento permite criar backups do IMDB para fins de oferecer tolerância a falhas.</a:t>
            </a:r>
          </a:p>
          <a:p>
            <a:r>
              <a:rPr lang="pt-BR" b="1" dirty="0"/>
              <a:t>Abordagem</a:t>
            </a:r>
            <a:r>
              <a:rPr lang="pt-BR" dirty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 Uma modificação no dado não sobrescreve o seu conteúdo da RAM. A modificação é escrita para outra versão do dado (</a:t>
            </a:r>
            <a:r>
              <a:rPr lang="pt-BR" i="1" dirty="0" err="1"/>
              <a:t>shadow</a:t>
            </a:r>
            <a:r>
              <a:rPr lang="pt-BR" i="1" dirty="0"/>
              <a:t> </a:t>
            </a:r>
            <a:r>
              <a:rPr lang="pt-BR" i="1" dirty="0" err="1"/>
              <a:t>version</a:t>
            </a:r>
            <a:r>
              <a:rPr lang="pt-BR" dirty="0"/>
              <a:t>) em um endereço de memória diferente do original. 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Quando a modificação é finalizada, a versão sombra se torna a versão atual. 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A versão anterior permanece no banco de dados, sendo removida apenas posteriormente pelo mecanismo de </a:t>
            </a:r>
            <a:r>
              <a:rPr lang="pt-BR" i="1" dirty="0" err="1"/>
              <a:t>garbage</a:t>
            </a:r>
            <a:r>
              <a:rPr lang="pt-BR" i="1" dirty="0"/>
              <a:t> </a:t>
            </a:r>
            <a:r>
              <a:rPr lang="pt-BR" i="1" dirty="0" err="1"/>
              <a:t>collection</a:t>
            </a:r>
            <a:r>
              <a:rPr lang="pt-BR" dirty="0"/>
              <a:t>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5246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0561D7-1E3C-8339-3894-FF3297116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Processamento</a:t>
            </a:r>
            <a:r>
              <a:rPr lang="en-US" b="1" dirty="0"/>
              <a:t> de </a:t>
            </a:r>
            <a:r>
              <a:rPr lang="en-US" b="1" dirty="0" err="1"/>
              <a:t>Consultas</a:t>
            </a:r>
            <a:r>
              <a:rPr lang="en-US" b="1" dirty="0"/>
              <a:t> </a:t>
            </a:r>
            <a:r>
              <a:rPr lang="en-US" b="1" dirty="0" err="1"/>
              <a:t>nos</a:t>
            </a:r>
            <a:r>
              <a:rPr lang="en-US" b="1" dirty="0"/>
              <a:t> IMDB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9226D5-2C61-2077-6115-79DCD1C3A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SGBD baseados em disco e IMDB fazem análise e otimização de consultas SQL forma semelhante. </a:t>
            </a:r>
            <a:r>
              <a:rPr lang="pt-BR" dirty="0"/>
              <a:t>Mas, diferem na implementação de execução de consultas.</a:t>
            </a:r>
          </a:p>
          <a:p>
            <a:r>
              <a:rPr lang="pt-BR" b="1" dirty="0"/>
              <a:t>Alguns IMDB compilam as </a:t>
            </a:r>
            <a:r>
              <a:rPr lang="pt-BR" b="1" dirty="0" err="1"/>
              <a:t>Tx</a:t>
            </a:r>
            <a:r>
              <a:rPr lang="pt-BR" b="1" dirty="0"/>
              <a:t> em código de máquina para evitar a interpretação em tempo de execução e melhorar usos da RAM nos multicores</a:t>
            </a:r>
            <a:r>
              <a:rPr lang="pt-BR" dirty="0"/>
              <a:t>.</a:t>
            </a:r>
          </a:p>
          <a:p>
            <a:pPr lvl="1"/>
            <a:r>
              <a:rPr lang="pt-BR" dirty="0" err="1"/>
              <a:t>Ex</a:t>
            </a:r>
            <a:r>
              <a:rPr lang="pt-BR" dirty="0"/>
              <a:t>: </a:t>
            </a:r>
            <a:r>
              <a:rPr lang="pt-BR" dirty="0" err="1"/>
              <a:t>VoltDB</a:t>
            </a:r>
            <a:r>
              <a:rPr lang="pt-BR" dirty="0"/>
              <a:t> implementa </a:t>
            </a:r>
            <a:r>
              <a:rPr lang="pt-BR" dirty="0" err="1"/>
              <a:t>Tx</a:t>
            </a:r>
            <a:r>
              <a:rPr lang="pt-BR" dirty="0"/>
              <a:t> compiladas em código de máquina através de </a:t>
            </a:r>
            <a:r>
              <a:rPr lang="pt-BR" i="1" dirty="0" err="1"/>
              <a:t>stored</a:t>
            </a:r>
            <a:r>
              <a:rPr lang="pt-BR" i="1" dirty="0"/>
              <a:t> procedures</a:t>
            </a:r>
            <a:r>
              <a:rPr lang="pt-BR" dirty="0"/>
              <a:t>.</a:t>
            </a:r>
          </a:p>
          <a:p>
            <a:r>
              <a:rPr lang="pt-BR" b="1" dirty="0"/>
              <a:t>Desvantagem das </a:t>
            </a:r>
            <a:r>
              <a:rPr lang="pt-BR" b="1" dirty="0" err="1"/>
              <a:t>Tx</a:t>
            </a:r>
            <a:r>
              <a:rPr lang="pt-BR" b="1" dirty="0"/>
              <a:t> compiladas: </a:t>
            </a:r>
            <a:r>
              <a:rPr lang="pt-BR" dirty="0"/>
              <a:t>IMDB  precisa conhecer as </a:t>
            </a:r>
            <a:r>
              <a:rPr lang="pt-BR" dirty="0" err="1"/>
              <a:t>Tx</a:t>
            </a:r>
            <a:r>
              <a:rPr lang="pt-BR" dirty="0"/>
              <a:t> com antecedência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b="1" dirty="0">
                <a:sym typeface="Wingdings" panose="05000000000000000000" pitchFamily="2" charset="2"/>
              </a:rPr>
              <a:t>D</a:t>
            </a:r>
            <a:r>
              <a:rPr lang="pt-BR" b="1" dirty="0"/>
              <a:t>ifícil de implementar!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48918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A16D28-A503-05FE-EC06-AFA16ADC4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Controle</a:t>
            </a:r>
            <a:r>
              <a:rPr lang="en-US" b="1" dirty="0"/>
              <a:t> de </a:t>
            </a:r>
            <a:r>
              <a:rPr lang="en-US" b="1" dirty="0" err="1"/>
              <a:t>Concorrência</a:t>
            </a:r>
            <a:r>
              <a:rPr lang="en-US" b="1" dirty="0"/>
              <a:t> </a:t>
            </a:r>
            <a:r>
              <a:rPr lang="en-US" b="1" dirty="0" err="1"/>
              <a:t>nos</a:t>
            </a:r>
            <a:r>
              <a:rPr lang="en-US" b="1" dirty="0"/>
              <a:t> IMDB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AFD9C8-DD81-0D7D-04B4-67858CE55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b="1" dirty="0"/>
              <a:t>Review</a:t>
            </a:r>
            <a:r>
              <a:rPr lang="pt-BR" dirty="0"/>
              <a:t>: Métodos usados para impedir que </a:t>
            </a:r>
            <a:r>
              <a:rPr lang="pt-BR" dirty="0" err="1"/>
              <a:t>Tx</a:t>
            </a:r>
            <a:r>
              <a:rPr lang="pt-BR" dirty="0"/>
              <a:t> acessem o mesmo dado simultaneamente e levem BD a um estado inconsistente.</a:t>
            </a:r>
          </a:p>
          <a:p>
            <a:r>
              <a:rPr lang="pt-BR" b="1" dirty="0"/>
              <a:t>Alguns IMDB adotam o </a:t>
            </a:r>
            <a:r>
              <a:rPr lang="pt-BR" b="1" dirty="0" err="1"/>
              <a:t>Multi-Version</a:t>
            </a:r>
            <a:r>
              <a:rPr lang="pt-BR" b="1" dirty="0"/>
              <a:t> </a:t>
            </a:r>
            <a:r>
              <a:rPr lang="pt-BR" b="1" dirty="0" err="1"/>
              <a:t>Concurrency</a:t>
            </a:r>
            <a:r>
              <a:rPr lang="pt-BR" b="1" dirty="0"/>
              <a:t> </a:t>
            </a:r>
            <a:r>
              <a:rPr lang="pt-BR" b="1" dirty="0" err="1"/>
              <a:t>Control</a:t>
            </a:r>
            <a:r>
              <a:rPr lang="pt-BR" b="1" dirty="0"/>
              <a:t> - MVCC) </a:t>
            </a:r>
          </a:p>
          <a:p>
            <a:pPr lvl="1"/>
            <a:r>
              <a:rPr lang="pt-BR" dirty="0"/>
              <a:t>MVCC, as </a:t>
            </a:r>
            <a:r>
              <a:rPr lang="pt-BR" dirty="0" err="1"/>
              <a:t>Tx</a:t>
            </a:r>
            <a:r>
              <a:rPr lang="pt-BR" dirty="0"/>
              <a:t> de leitura não bloqueiam dados, apenas </a:t>
            </a:r>
            <a:r>
              <a:rPr lang="pt-BR" dirty="0" err="1"/>
              <a:t>Tx</a:t>
            </a:r>
            <a:r>
              <a:rPr lang="pt-BR" dirty="0"/>
              <a:t> de escrita fazem modificações em versões diferentes dos dados. </a:t>
            </a:r>
          </a:p>
          <a:p>
            <a:pPr lvl="2"/>
            <a:r>
              <a:rPr lang="pt-BR" b="1" dirty="0"/>
              <a:t>MVCC otimista </a:t>
            </a:r>
            <a:r>
              <a:rPr lang="pt-BR" dirty="0"/>
              <a:t>(</a:t>
            </a:r>
            <a:r>
              <a:rPr lang="pt-BR" dirty="0" err="1"/>
              <a:t>Hekaton</a:t>
            </a:r>
            <a:r>
              <a:rPr lang="pt-BR" dirty="0"/>
              <a:t> e </a:t>
            </a:r>
            <a:r>
              <a:rPr lang="pt-BR" dirty="0" err="1"/>
              <a:t>HyPer</a:t>
            </a:r>
            <a:r>
              <a:rPr lang="pt-BR" dirty="0"/>
              <a:t>) – Não usa </a:t>
            </a:r>
            <a:r>
              <a:rPr lang="pt-BR" dirty="0" err="1"/>
              <a:t>block</a:t>
            </a:r>
            <a:r>
              <a:rPr lang="pt-BR" dirty="0"/>
              <a:t>, o conflito é verificado ao final da </a:t>
            </a:r>
            <a:r>
              <a:rPr lang="pt-BR" dirty="0" err="1"/>
              <a:t>Tx</a:t>
            </a:r>
            <a:r>
              <a:rPr lang="pt-BR" dirty="0"/>
              <a:t>. Apenas uma </a:t>
            </a:r>
            <a:r>
              <a:rPr lang="pt-BR" dirty="0" err="1"/>
              <a:t>Tx</a:t>
            </a:r>
            <a:r>
              <a:rPr lang="pt-BR" dirty="0"/>
              <a:t> pode terminar as demais são abortadas.</a:t>
            </a:r>
          </a:p>
          <a:p>
            <a:pPr lvl="2"/>
            <a:r>
              <a:rPr lang="pt-BR" b="1" dirty="0"/>
              <a:t>MVCC pessimista </a:t>
            </a:r>
            <a:r>
              <a:rPr lang="pt-BR" dirty="0"/>
              <a:t>(SAP HANA) – Usa apenas em operações de leitura. Em caso de operações de escrita, bloqueios ao nível de registro são usados.</a:t>
            </a:r>
          </a:p>
          <a:p>
            <a:r>
              <a:rPr lang="pt-BR" b="1" dirty="0"/>
              <a:t>Desvantagem do MVCC </a:t>
            </a:r>
            <a:r>
              <a:rPr lang="pt-BR" dirty="0"/>
              <a:t>gera sobrecarga ao criar novas versões de dados e de remover versões obsoletas.</a:t>
            </a:r>
          </a:p>
          <a:p>
            <a:r>
              <a:rPr lang="pt-BR" b="1" dirty="0"/>
              <a:t>IMDB que fazem particionamento de dados não implementam controle de concorrência, as TX executam serialmente</a:t>
            </a:r>
            <a:r>
              <a:rPr lang="pt-BR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2404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B94360-5B9D-BDD4-4E8A-E6FEF5385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Recuperação</a:t>
            </a:r>
            <a:r>
              <a:rPr lang="en-US" b="1" dirty="0"/>
              <a:t> de </a:t>
            </a:r>
            <a:r>
              <a:rPr lang="en-US" b="1" dirty="0" err="1"/>
              <a:t>falhas</a:t>
            </a:r>
            <a:r>
              <a:rPr lang="en-US" b="1" dirty="0"/>
              <a:t> no IMDB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13D419-9814-CD46-C880-3628FBE23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188" y="1825625"/>
            <a:ext cx="8866093" cy="4351338"/>
          </a:xfrm>
        </p:spPr>
        <p:txBody>
          <a:bodyPr>
            <a:normAutofit fontScale="92500" lnSpcReduction="20000"/>
          </a:bodyPr>
          <a:lstStyle/>
          <a:p>
            <a:r>
              <a:rPr lang="pt-BR" b="1" dirty="0"/>
              <a:t>IMDB implementa técnicas de </a:t>
            </a:r>
            <a:r>
              <a:rPr lang="pt-BR" b="1" i="1" dirty="0" err="1"/>
              <a:t>logging</a:t>
            </a:r>
            <a:r>
              <a:rPr lang="pt-BR" b="1" i="1" dirty="0"/>
              <a:t>,</a:t>
            </a:r>
            <a:r>
              <a:rPr lang="pt-BR" b="1" dirty="0"/>
              <a:t> </a:t>
            </a:r>
            <a:r>
              <a:rPr lang="pt-BR" b="1" i="1" dirty="0"/>
              <a:t>checkpoint</a:t>
            </a:r>
            <a:r>
              <a:rPr lang="pt-BR" b="1" dirty="0"/>
              <a:t> e </a:t>
            </a:r>
            <a:r>
              <a:rPr lang="pt-BR" b="1" i="1" dirty="0" err="1"/>
              <a:t>recovery</a:t>
            </a:r>
            <a:r>
              <a:rPr lang="pt-BR" b="1" dirty="0"/>
              <a:t> para fins de tolerância a falhas. </a:t>
            </a:r>
            <a:r>
              <a:rPr lang="pt-BR" dirty="0"/>
              <a:t>Proveem durabilidade pois a </a:t>
            </a:r>
            <a:r>
              <a:rPr lang="pt-BR" b="1" dirty="0"/>
              <a:t>RAM é volátil! </a:t>
            </a:r>
          </a:p>
          <a:p>
            <a:r>
              <a:rPr lang="pt-BR" b="1" i="1" dirty="0" err="1"/>
              <a:t>Logging</a:t>
            </a:r>
            <a:r>
              <a:rPr lang="pt-BR" dirty="0"/>
              <a:t> </a:t>
            </a:r>
          </a:p>
          <a:p>
            <a:pPr lvl="1"/>
            <a:r>
              <a:rPr lang="pt-BR" dirty="0"/>
              <a:t>Escrever nos logs tem sobrecarga para o processamento das </a:t>
            </a:r>
            <a:r>
              <a:rPr lang="pt-BR" dirty="0" err="1"/>
              <a:t>Tx</a:t>
            </a:r>
            <a:r>
              <a:rPr lang="pt-BR" dirty="0"/>
              <a:t> devido às operações de I/O para disco.  Várias implementação (ex. log operação, transação ou valor).</a:t>
            </a:r>
          </a:p>
          <a:p>
            <a:r>
              <a:rPr lang="pt-BR" b="1" i="1" dirty="0"/>
              <a:t>Checkpoint</a:t>
            </a:r>
          </a:p>
          <a:p>
            <a:pPr lvl="1"/>
            <a:r>
              <a:rPr lang="pt-BR" dirty="0"/>
              <a:t>Impõe pouca sobrecarga. Criam </a:t>
            </a:r>
            <a:r>
              <a:rPr lang="pt-BR" i="1" dirty="0"/>
              <a:t>snapshots</a:t>
            </a:r>
            <a:r>
              <a:rPr lang="pt-BR" dirty="0"/>
              <a:t>, é um tipo de backup do BD em um determinado instante. Várias implementações (ex. </a:t>
            </a:r>
            <a:r>
              <a:rPr lang="pt-BR" dirty="0" err="1"/>
              <a:t>Naive</a:t>
            </a:r>
            <a:r>
              <a:rPr lang="pt-BR" dirty="0"/>
              <a:t>, </a:t>
            </a:r>
            <a:r>
              <a:rPr lang="pt-BR" dirty="0" err="1"/>
              <a:t>ZigZag</a:t>
            </a:r>
            <a:r>
              <a:rPr lang="pt-BR" dirty="0"/>
              <a:t>, </a:t>
            </a:r>
            <a:r>
              <a:rPr lang="pt-BR" dirty="0" err="1"/>
              <a:t>Piggyback</a:t>
            </a:r>
            <a:r>
              <a:rPr lang="pt-BR" dirty="0"/>
              <a:t>).</a:t>
            </a:r>
          </a:p>
          <a:p>
            <a:r>
              <a:rPr lang="pt-BR" b="1" i="1" dirty="0"/>
              <a:t>Recovery</a:t>
            </a:r>
          </a:p>
          <a:p>
            <a:pPr lvl="1"/>
            <a:r>
              <a:rPr lang="pt-BR" dirty="0"/>
              <a:t>Estratégia de recuperação que usa os arquivos de log e checkpoint para recuperar o BD para a RAM a partir de HD</a:t>
            </a:r>
          </a:p>
          <a:p>
            <a:endParaRPr lang="en-US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79F5957-54B7-7C22-3473-7D4F3DBCCEE1}"/>
              </a:ext>
            </a:extLst>
          </p:cNvPr>
          <p:cNvSpPr txBox="1"/>
          <p:nvPr/>
        </p:nvSpPr>
        <p:spPr>
          <a:xfrm>
            <a:off x="6398248" y="6656178"/>
            <a:ext cx="35942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ADAPTADO de: </a:t>
            </a:r>
            <a:r>
              <a:rPr lang="en-US" sz="800" dirty="0" err="1"/>
              <a:t>Pavlo</a:t>
            </a:r>
            <a:r>
              <a:rPr lang="en-US" sz="800" dirty="0"/>
              <a:t>, A. (2020) Advanced Databases Systems- In memory </a:t>
            </a:r>
            <a:r>
              <a:rPr lang="en-US" sz="800" dirty="0" err="1"/>
              <a:t>Datases</a:t>
            </a:r>
            <a:endParaRPr lang="en-US" sz="800" dirty="0"/>
          </a:p>
        </p:txBody>
      </p:sp>
      <p:sp>
        <p:nvSpPr>
          <p:cNvPr id="11" name="Cilindro 10">
            <a:extLst>
              <a:ext uri="{FF2B5EF4-FFF2-40B4-BE49-F238E27FC236}">
                <a16:creationId xmlns:a16="http://schemas.microsoft.com/office/drawing/2014/main" id="{188EDC98-8D49-6906-F819-886194C1A959}"/>
              </a:ext>
            </a:extLst>
          </p:cNvPr>
          <p:cNvSpPr/>
          <p:nvPr/>
        </p:nvSpPr>
        <p:spPr>
          <a:xfrm>
            <a:off x="9665463" y="1002257"/>
            <a:ext cx="1452283" cy="1516825"/>
          </a:xfrm>
          <a:prstGeom prst="can">
            <a:avLst/>
          </a:prstGeom>
          <a:solidFill>
            <a:srgbClr val="E4FFB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5AD3782-1FBC-9294-1473-3C0D2450EB3D}"/>
              </a:ext>
            </a:extLst>
          </p:cNvPr>
          <p:cNvSpPr txBox="1"/>
          <p:nvPr/>
        </p:nvSpPr>
        <p:spPr>
          <a:xfrm>
            <a:off x="9590382" y="234161"/>
            <a:ext cx="1786038" cy="603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Armazenamento</a:t>
            </a:r>
            <a:r>
              <a:rPr lang="en-US" dirty="0"/>
              <a:t> </a:t>
            </a:r>
          </a:p>
          <a:p>
            <a:pPr algn="ctr"/>
            <a:r>
              <a:rPr lang="en-US" dirty="0" err="1"/>
              <a:t>Secundário</a:t>
            </a:r>
            <a:r>
              <a:rPr lang="en-US" dirty="0"/>
              <a:t> do BD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3611A34F-B148-9167-D34C-E4A8FFCE51A3}"/>
              </a:ext>
            </a:extLst>
          </p:cNvPr>
          <p:cNvGrpSpPr/>
          <p:nvPr/>
        </p:nvGrpSpPr>
        <p:grpSpPr>
          <a:xfrm>
            <a:off x="9578919" y="3083676"/>
            <a:ext cx="1786038" cy="3580534"/>
            <a:chOff x="2855652" y="1851623"/>
            <a:chExt cx="1970682" cy="4318524"/>
          </a:xfrm>
        </p:grpSpPr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F804EC35-1640-8FE4-F100-0B393B3C00F1}"/>
                </a:ext>
              </a:extLst>
            </p:cNvPr>
            <p:cNvSpPr/>
            <p:nvPr/>
          </p:nvSpPr>
          <p:spPr>
            <a:xfrm>
              <a:off x="2855652" y="1851623"/>
              <a:ext cx="1970682" cy="4318524"/>
            </a:xfrm>
            <a:prstGeom prst="roundRect">
              <a:avLst>
                <a:gd name="adj" fmla="val 10165"/>
              </a:avLst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33E7D60E-8DD9-A6F2-878D-926753043484}"/>
                </a:ext>
              </a:extLst>
            </p:cNvPr>
            <p:cNvSpPr/>
            <p:nvPr/>
          </p:nvSpPr>
          <p:spPr>
            <a:xfrm>
              <a:off x="3127675" y="4862674"/>
              <a:ext cx="1425890" cy="60589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IMDB</a:t>
              </a: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F99CBCA8-B12C-5DAB-24C1-41C04E728A61}"/>
                </a:ext>
              </a:extLst>
            </p:cNvPr>
            <p:cNvSpPr txBox="1"/>
            <p:nvPr/>
          </p:nvSpPr>
          <p:spPr>
            <a:xfrm>
              <a:off x="3311992" y="5508299"/>
              <a:ext cx="112883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RAM</a:t>
              </a:r>
            </a:p>
          </p:txBody>
        </p:sp>
      </p:grpSp>
      <p:sp>
        <p:nvSpPr>
          <p:cNvPr id="28" name="Retângulo 27">
            <a:extLst>
              <a:ext uri="{FF2B5EF4-FFF2-40B4-BE49-F238E27FC236}">
                <a16:creationId xmlns:a16="http://schemas.microsoft.com/office/drawing/2014/main" id="{B2369729-7A51-8B17-B0BD-EF0EC687C82C}"/>
              </a:ext>
            </a:extLst>
          </p:cNvPr>
          <p:cNvSpPr/>
          <p:nvPr/>
        </p:nvSpPr>
        <p:spPr>
          <a:xfrm>
            <a:off x="9825455" y="1483066"/>
            <a:ext cx="1132301" cy="34704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Log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9E09024E-3E37-0E63-52B1-736569E12638}"/>
              </a:ext>
            </a:extLst>
          </p:cNvPr>
          <p:cNvSpPr/>
          <p:nvPr/>
        </p:nvSpPr>
        <p:spPr>
          <a:xfrm>
            <a:off x="9825455" y="1918863"/>
            <a:ext cx="1132301" cy="34704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Snapshot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7401B4CE-609E-079E-1BFF-9B0BEBF760F4}"/>
              </a:ext>
            </a:extLst>
          </p:cNvPr>
          <p:cNvSpPr/>
          <p:nvPr/>
        </p:nvSpPr>
        <p:spPr>
          <a:xfrm>
            <a:off x="9951230" y="3317195"/>
            <a:ext cx="1064342" cy="502350"/>
          </a:xfrm>
          <a:prstGeom prst="rect">
            <a:avLst/>
          </a:prstGeom>
          <a:solidFill>
            <a:srgbClr val="FFE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Logger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8A8CD34D-0591-22A3-6B1A-D7188606A05B}"/>
              </a:ext>
            </a:extLst>
          </p:cNvPr>
          <p:cNvSpPr/>
          <p:nvPr/>
        </p:nvSpPr>
        <p:spPr>
          <a:xfrm>
            <a:off x="9791127" y="4641864"/>
            <a:ext cx="1460111" cy="502350"/>
          </a:xfrm>
          <a:prstGeom prst="rect">
            <a:avLst/>
          </a:prstGeom>
          <a:solidFill>
            <a:srgbClr val="FFE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CheckPointer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DCD2DFB9-AF3A-497D-FE3E-DC5F4401F79E}"/>
              </a:ext>
            </a:extLst>
          </p:cNvPr>
          <p:cNvSpPr/>
          <p:nvPr/>
        </p:nvSpPr>
        <p:spPr>
          <a:xfrm>
            <a:off x="9965126" y="3983194"/>
            <a:ext cx="1064342" cy="502350"/>
          </a:xfrm>
          <a:prstGeom prst="rect">
            <a:avLst/>
          </a:prstGeom>
          <a:solidFill>
            <a:srgbClr val="FFE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Recovery</a:t>
            </a:r>
          </a:p>
        </p:txBody>
      </p:sp>
      <p:cxnSp>
        <p:nvCxnSpPr>
          <p:cNvPr id="34" name="Conector: Angulado 33">
            <a:extLst>
              <a:ext uri="{FF2B5EF4-FFF2-40B4-BE49-F238E27FC236}">
                <a16:creationId xmlns:a16="http://schemas.microsoft.com/office/drawing/2014/main" id="{6F78560F-EB8B-BA91-7504-B4182C734D0A}"/>
              </a:ext>
            </a:extLst>
          </p:cNvPr>
          <p:cNvCxnSpPr>
            <a:cxnSpLocks/>
            <a:stCxn id="30" idx="3"/>
            <a:endCxn id="28" idx="3"/>
          </p:cNvCxnSpPr>
          <p:nvPr/>
        </p:nvCxnSpPr>
        <p:spPr>
          <a:xfrm flipH="1" flipV="1">
            <a:off x="10957756" y="1656588"/>
            <a:ext cx="57816" cy="1911782"/>
          </a:xfrm>
          <a:prstGeom prst="bentConnector3">
            <a:avLst>
              <a:gd name="adj1" fmla="val -74079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: Angulado 34">
            <a:extLst>
              <a:ext uri="{FF2B5EF4-FFF2-40B4-BE49-F238E27FC236}">
                <a16:creationId xmlns:a16="http://schemas.microsoft.com/office/drawing/2014/main" id="{9C49048D-BFFA-8524-2927-C2F9FF930EFE}"/>
              </a:ext>
            </a:extLst>
          </p:cNvPr>
          <p:cNvCxnSpPr>
            <a:cxnSpLocks/>
            <a:stCxn id="16" idx="3"/>
            <a:endCxn id="29" idx="3"/>
          </p:cNvCxnSpPr>
          <p:nvPr/>
        </p:nvCxnSpPr>
        <p:spPr>
          <a:xfrm flipH="1" flipV="1">
            <a:off x="10957756" y="2092385"/>
            <a:ext cx="407201" cy="2781558"/>
          </a:xfrm>
          <a:prstGeom prst="bentConnector3">
            <a:avLst>
              <a:gd name="adj1" fmla="val -5613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: Angulado 46">
            <a:extLst>
              <a:ext uri="{FF2B5EF4-FFF2-40B4-BE49-F238E27FC236}">
                <a16:creationId xmlns:a16="http://schemas.microsoft.com/office/drawing/2014/main" id="{2030F624-65DC-0837-CBA9-1404A5D7688F}"/>
              </a:ext>
            </a:extLst>
          </p:cNvPr>
          <p:cNvCxnSpPr>
            <a:cxnSpLocks/>
            <a:stCxn id="32" idx="1"/>
            <a:endCxn id="29" idx="1"/>
          </p:cNvCxnSpPr>
          <p:nvPr/>
        </p:nvCxnSpPr>
        <p:spPr>
          <a:xfrm rot="10800000">
            <a:off x="9825456" y="2092385"/>
            <a:ext cx="139671" cy="2141984"/>
          </a:xfrm>
          <a:prstGeom prst="bentConnector3">
            <a:avLst>
              <a:gd name="adj1" fmla="val 496948"/>
            </a:avLst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: Angulado 50">
            <a:extLst>
              <a:ext uri="{FF2B5EF4-FFF2-40B4-BE49-F238E27FC236}">
                <a16:creationId xmlns:a16="http://schemas.microsoft.com/office/drawing/2014/main" id="{14276841-5AFF-66EE-FF9D-94049A83452D}"/>
              </a:ext>
            </a:extLst>
          </p:cNvPr>
          <p:cNvCxnSpPr>
            <a:cxnSpLocks/>
            <a:stCxn id="32" idx="1"/>
            <a:endCxn id="28" idx="1"/>
          </p:cNvCxnSpPr>
          <p:nvPr/>
        </p:nvCxnSpPr>
        <p:spPr>
          <a:xfrm rot="10800000">
            <a:off x="9825456" y="1656589"/>
            <a:ext cx="139671" cy="2577781"/>
          </a:xfrm>
          <a:prstGeom prst="bentConnector3">
            <a:avLst>
              <a:gd name="adj1" fmla="val 609824"/>
            </a:avLst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: Angulado 54">
            <a:extLst>
              <a:ext uri="{FF2B5EF4-FFF2-40B4-BE49-F238E27FC236}">
                <a16:creationId xmlns:a16="http://schemas.microsoft.com/office/drawing/2014/main" id="{BF50EE20-4AA8-47DD-D200-B5E79376335E}"/>
              </a:ext>
            </a:extLst>
          </p:cNvPr>
          <p:cNvCxnSpPr>
            <a:cxnSpLocks/>
            <a:stCxn id="32" idx="3"/>
            <a:endCxn id="17" idx="3"/>
          </p:cNvCxnSpPr>
          <p:nvPr/>
        </p:nvCxnSpPr>
        <p:spPr>
          <a:xfrm>
            <a:off x="11029468" y="4234369"/>
            <a:ext cx="88278" cy="1596976"/>
          </a:xfrm>
          <a:prstGeom prst="bentConnector3">
            <a:avLst>
              <a:gd name="adj1" fmla="val 811382"/>
            </a:avLst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: Angulado 65">
            <a:extLst>
              <a:ext uri="{FF2B5EF4-FFF2-40B4-BE49-F238E27FC236}">
                <a16:creationId xmlns:a16="http://schemas.microsoft.com/office/drawing/2014/main" id="{C326A2AB-97AD-6A06-5E82-441BFDDD74CB}"/>
              </a:ext>
            </a:extLst>
          </p:cNvPr>
          <p:cNvCxnSpPr>
            <a:cxnSpLocks/>
            <a:stCxn id="17" idx="1"/>
            <a:endCxn id="31" idx="1"/>
          </p:cNvCxnSpPr>
          <p:nvPr/>
        </p:nvCxnSpPr>
        <p:spPr>
          <a:xfrm rot="10800000">
            <a:off x="9791127" y="4893039"/>
            <a:ext cx="34328" cy="938306"/>
          </a:xfrm>
          <a:prstGeom prst="bentConnector3">
            <a:avLst>
              <a:gd name="adj1" fmla="val 1868154"/>
            </a:avLst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: Angulado 69">
            <a:extLst>
              <a:ext uri="{FF2B5EF4-FFF2-40B4-BE49-F238E27FC236}">
                <a16:creationId xmlns:a16="http://schemas.microsoft.com/office/drawing/2014/main" id="{8826A8F9-E222-BFC7-0E95-C5A628D10DE1}"/>
              </a:ext>
            </a:extLst>
          </p:cNvPr>
          <p:cNvCxnSpPr>
            <a:cxnSpLocks/>
            <a:stCxn id="17" idx="1"/>
            <a:endCxn id="30" idx="1"/>
          </p:cNvCxnSpPr>
          <p:nvPr/>
        </p:nvCxnSpPr>
        <p:spPr>
          <a:xfrm rot="10800000" flipH="1">
            <a:off x="9825454" y="3568371"/>
            <a:ext cx="125775" cy="2262975"/>
          </a:xfrm>
          <a:prstGeom prst="bentConnector3">
            <a:avLst>
              <a:gd name="adj1" fmla="val -683141"/>
            </a:avLst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18947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B94360-5B9D-BDD4-4E8A-E6FEF5385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Recuperação</a:t>
            </a:r>
            <a:r>
              <a:rPr lang="en-US" b="1" dirty="0"/>
              <a:t> de </a:t>
            </a:r>
            <a:r>
              <a:rPr lang="en-US" b="1" dirty="0" err="1"/>
              <a:t>falhas</a:t>
            </a:r>
            <a:r>
              <a:rPr lang="en-US" b="1" dirty="0"/>
              <a:t> no IMDB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79F5957-54B7-7C22-3473-7D4F3DBCCEE1}"/>
              </a:ext>
            </a:extLst>
          </p:cNvPr>
          <p:cNvSpPr txBox="1"/>
          <p:nvPr/>
        </p:nvSpPr>
        <p:spPr>
          <a:xfrm>
            <a:off x="6398248" y="6656178"/>
            <a:ext cx="35942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ADAPTADO de: </a:t>
            </a:r>
            <a:r>
              <a:rPr lang="en-US" sz="800" dirty="0" err="1"/>
              <a:t>Pavlo</a:t>
            </a:r>
            <a:r>
              <a:rPr lang="en-US" sz="800" dirty="0"/>
              <a:t>, A. (2020) Advanced Databases Systems- In memory </a:t>
            </a:r>
            <a:r>
              <a:rPr lang="en-US" sz="800" dirty="0" err="1"/>
              <a:t>Datases</a:t>
            </a:r>
            <a:endParaRPr lang="en-US" sz="800" dirty="0"/>
          </a:p>
        </p:txBody>
      </p:sp>
      <p:sp>
        <p:nvSpPr>
          <p:cNvPr id="11" name="Cilindro 10">
            <a:extLst>
              <a:ext uri="{FF2B5EF4-FFF2-40B4-BE49-F238E27FC236}">
                <a16:creationId xmlns:a16="http://schemas.microsoft.com/office/drawing/2014/main" id="{188EDC98-8D49-6906-F819-886194C1A959}"/>
              </a:ext>
            </a:extLst>
          </p:cNvPr>
          <p:cNvSpPr/>
          <p:nvPr/>
        </p:nvSpPr>
        <p:spPr>
          <a:xfrm>
            <a:off x="9665463" y="1002257"/>
            <a:ext cx="1452283" cy="1516825"/>
          </a:xfrm>
          <a:prstGeom prst="can">
            <a:avLst/>
          </a:prstGeom>
          <a:solidFill>
            <a:srgbClr val="E4FFB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5AD3782-1FBC-9294-1473-3C0D2450EB3D}"/>
              </a:ext>
            </a:extLst>
          </p:cNvPr>
          <p:cNvSpPr txBox="1"/>
          <p:nvPr/>
        </p:nvSpPr>
        <p:spPr>
          <a:xfrm>
            <a:off x="9590382" y="234161"/>
            <a:ext cx="1786038" cy="603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Armazenamento</a:t>
            </a:r>
            <a:r>
              <a:rPr lang="en-US" dirty="0"/>
              <a:t> </a:t>
            </a:r>
          </a:p>
          <a:p>
            <a:pPr algn="ctr"/>
            <a:r>
              <a:rPr lang="en-US" dirty="0" err="1"/>
              <a:t>Secundário</a:t>
            </a:r>
            <a:r>
              <a:rPr lang="en-US" dirty="0"/>
              <a:t> do BD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3611A34F-B148-9167-D34C-E4A8FFCE51A3}"/>
              </a:ext>
            </a:extLst>
          </p:cNvPr>
          <p:cNvGrpSpPr/>
          <p:nvPr/>
        </p:nvGrpSpPr>
        <p:grpSpPr>
          <a:xfrm>
            <a:off x="9578919" y="3083676"/>
            <a:ext cx="1786038" cy="3580534"/>
            <a:chOff x="2855652" y="1851623"/>
            <a:chExt cx="1970682" cy="4318524"/>
          </a:xfrm>
        </p:grpSpPr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F804EC35-1640-8FE4-F100-0B393B3C00F1}"/>
                </a:ext>
              </a:extLst>
            </p:cNvPr>
            <p:cNvSpPr/>
            <p:nvPr/>
          </p:nvSpPr>
          <p:spPr>
            <a:xfrm>
              <a:off x="2855652" y="1851623"/>
              <a:ext cx="1970682" cy="4318524"/>
            </a:xfrm>
            <a:prstGeom prst="roundRect">
              <a:avLst>
                <a:gd name="adj" fmla="val 10165"/>
              </a:avLst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33E7D60E-8DD9-A6F2-878D-926753043484}"/>
                </a:ext>
              </a:extLst>
            </p:cNvPr>
            <p:cNvSpPr/>
            <p:nvPr/>
          </p:nvSpPr>
          <p:spPr>
            <a:xfrm>
              <a:off x="3127675" y="4862674"/>
              <a:ext cx="1425890" cy="60589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IMDB</a:t>
              </a: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F99CBCA8-B12C-5DAB-24C1-41C04E728A61}"/>
                </a:ext>
              </a:extLst>
            </p:cNvPr>
            <p:cNvSpPr txBox="1"/>
            <p:nvPr/>
          </p:nvSpPr>
          <p:spPr>
            <a:xfrm>
              <a:off x="3311992" y="5508299"/>
              <a:ext cx="112883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RAM</a:t>
              </a:r>
            </a:p>
          </p:txBody>
        </p:sp>
      </p:grpSp>
      <p:sp>
        <p:nvSpPr>
          <p:cNvPr id="28" name="Retângulo 27">
            <a:extLst>
              <a:ext uri="{FF2B5EF4-FFF2-40B4-BE49-F238E27FC236}">
                <a16:creationId xmlns:a16="http://schemas.microsoft.com/office/drawing/2014/main" id="{B2369729-7A51-8B17-B0BD-EF0EC687C82C}"/>
              </a:ext>
            </a:extLst>
          </p:cNvPr>
          <p:cNvSpPr/>
          <p:nvPr/>
        </p:nvSpPr>
        <p:spPr>
          <a:xfrm>
            <a:off x="9825455" y="1483066"/>
            <a:ext cx="1132301" cy="34704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Log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9E09024E-3E37-0E63-52B1-736569E12638}"/>
              </a:ext>
            </a:extLst>
          </p:cNvPr>
          <p:cNvSpPr/>
          <p:nvPr/>
        </p:nvSpPr>
        <p:spPr>
          <a:xfrm>
            <a:off x="9825455" y="1918863"/>
            <a:ext cx="1132301" cy="34704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Snapshot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7401B4CE-609E-079E-1BFF-9B0BEBF760F4}"/>
              </a:ext>
            </a:extLst>
          </p:cNvPr>
          <p:cNvSpPr/>
          <p:nvPr/>
        </p:nvSpPr>
        <p:spPr>
          <a:xfrm>
            <a:off x="9951230" y="3317195"/>
            <a:ext cx="1064342" cy="502350"/>
          </a:xfrm>
          <a:prstGeom prst="rect">
            <a:avLst/>
          </a:prstGeom>
          <a:solidFill>
            <a:srgbClr val="FFE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Logger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8A8CD34D-0591-22A3-6B1A-D7188606A05B}"/>
              </a:ext>
            </a:extLst>
          </p:cNvPr>
          <p:cNvSpPr/>
          <p:nvPr/>
        </p:nvSpPr>
        <p:spPr>
          <a:xfrm>
            <a:off x="9791127" y="4641864"/>
            <a:ext cx="1460111" cy="502350"/>
          </a:xfrm>
          <a:prstGeom prst="rect">
            <a:avLst/>
          </a:prstGeom>
          <a:solidFill>
            <a:srgbClr val="FFE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CheckPointer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DCD2DFB9-AF3A-497D-FE3E-DC5F4401F79E}"/>
              </a:ext>
            </a:extLst>
          </p:cNvPr>
          <p:cNvSpPr/>
          <p:nvPr/>
        </p:nvSpPr>
        <p:spPr>
          <a:xfrm>
            <a:off x="9965126" y="3983194"/>
            <a:ext cx="1064342" cy="502350"/>
          </a:xfrm>
          <a:prstGeom prst="rect">
            <a:avLst/>
          </a:prstGeom>
          <a:solidFill>
            <a:srgbClr val="FFE0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Recovery</a:t>
            </a:r>
          </a:p>
        </p:txBody>
      </p:sp>
      <p:cxnSp>
        <p:nvCxnSpPr>
          <p:cNvPr id="34" name="Conector: Angulado 33">
            <a:extLst>
              <a:ext uri="{FF2B5EF4-FFF2-40B4-BE49-F238E27FC236}">
                <a16:creationId xmlns:a16="http://schemas.microsoft.com/office/drawing/2014/main" id="{6F78560F-EB8B-BA91-7504-B4182C734D0A}"/>
              </a:ext>
            </a:extLst>
          </p:cNvPr>
          <p:cNvCxnSpPr>
            <a:cxnSpLocks/>
            <a:stCxn id="30" idx="3"/>
            <a:endCxn id="28" idx="3"/>
          </p:cNvCxnSpPr>
          <p:nvPr/>
        </p:nvCxnSpPr>
        <p:spPr>
          <a:xfrm flipH="1" flipV="1">
            <a:off x="10957756" y="1656588"/>
            <a:ext cx="57816" cy="1911782"/>
          </a:xfrm>
          <a:prstGeom prst="bentConnector3">
            <a:avLst>
              <a:gd name="adj1" fmla="val -74079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: Angulado 34">
            <a:extLst>
              <a:ext uri="{FF2B5EF4-FFF2-40B4-BE49-F238E27FC236}">
                <a16:creationId xmlns:a16="http://schemas.microsoft.com/office/drawing/2014/main" id="{9C49048D-BFFA-8524-2927-C2F9FF930EFE}"/>
              </a:ext>
            </a:extLst>
          </p:cNvPr>
          <p:cNvCxnSpPr>
            <a:cxnSpLocks/>
            <a:stCxn id="16" idx="3"/>
            <a:endCxn id="29" idx="3"/>
          </p:cNvCxnSpPr>
          <p:nvPr/>
        </p:nvCxnSpPr>
        <p:spPr>
          <a:xfrm flipH="1" flipV="1">
            <a:off x="10957756" y="2092385"/>
            <a:ext cx="407201" cy="2781558"/>
          </a:xfrm>
          <a:prstGeom prst="bentConnector3">
            <a:avLst>
              <a:gd name="adj1" fmla="val -5613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: Angulado 46">
            <a:extLst>
              <a:ext uri="{FF2B5EF4-FFF2-40B4-BE49-F238E27FC236}">
                <a16:creationId xmlns:a16="http://schemas.microsoft.com/office/drawing/2014/main" id="{2030F624-65DC-0837-CBA9-1404A5D7688F}"/>
              </a:ext>
            </a:extLst>
          </p:cNvPr>
          <p:cNvCxnSpPr>
            <a:cxnSpLocks/>
            <a:stCxn id="32" idx="1"/>
            <a:endCxn id="29" idx="1"/>
          </p:cNvCxnSpPr>
          <p:nvPr/>
        </p:nvCxnSpPr>
        <p:spPr>
          <a:xfrm rot="10800000">
            <a:off x="9825456" y="2092385"/>
            <a:ext cx="139671" cy="2141984"/>
          </a:xfrm>
          <a:prstGeom prst="bentConnector3">
            <a:avLst>
              <a:gd name="adj1" fmla="val 496948"/>
            </a:avLst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: Angulado 50">
            <a:extLst>
              <a:ext uri="{FF2B5EF4-FFF2-40B4-BE49-F238E27FC236}">
                <a16:creationId xmlns:a16="http://schemas.microsoft.com/office/drawing/2014/main" id="{14276841-5AFF-66EE-FF9D-94049A83452D}"/>
              </a:ext>
            </a:extLst>
          </p:cNvPr>
          <p:cNvCxnSpPr>
            <a:cxnSpLocks/>
            <a:stCxn id="32" idx="1"/>
            <a:endCxn id="28" idx="1"/>
          </p:cNvCxnSpPr>
          <p:nvPr/>
        </p:nvCxnSpPr>
        <p:spPr>
          <a:xfrm rot="10800000">
            <a:off x="9825456" y="1656589"/>
            <a:ext cx="139671" cy="2577781"/>
          </a:xfrm>
          <a:prstGeom prst="bentConnector3">
            <a:avLst>
              <a:gd name="adj1" fmla="val 609824"/>
            </a:avLst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: Angulado 54">
            <a:extLst>
              <a:ext uri="{FF2B5EF4-FFF2-40B4-BE49-F238E27FC236}">
                <a16:creationId xmlns:a16="http://schemas.microsoft.com/office/drawing/2014/main" id="{BF50EE20-4AA8-47DD-D200-B5E79376335E}"/>
              </a:ext>
            </a:extLst>
          </p:cNvPr>
          <p:cNvCxnSpPr>
            <a:cxnSpLocks/>
            <a:stCxn id="32" idx="3"/>
            <a:endCxn id="17" idx="3"/>
          </p:cNvCxnSpPr>
          <p:nvPr/>
        </p:nvCxnSpPr>
        <p:spPr>
          <a:xfrm>
            <a:off x="11029468" y="4234369"/>
            <a:ext cx="88278" cy="1596976"/>
          </a:xfrm>
          <a:prstGeom prst="bentConnector3">
            <a:avLst>
              <a:gd name="adj1" fmla="val 811382"/>
            </a:avLst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: Angulado 65">
            <a:extLst>
              <a:ext uri="{FF2B5EF4-FFF2-40B4-BE49-F238E27FC236}">
                <a16:creationId xmlns:a16="http://schemas.microsoft.com/office/drawing/2014/main" id="{C326A2AB-97AD-6A06-5E82-441BFDDD74CB}"/>
              </a:ext>
            </a:extLst>
          </p:cNvPr>
          <p:cNvCxnSpPr>
            <a:cxnSpLocks/>
            <a:stCxn id="17" idx="1"/>
            <a:endCxn id="31" idx="1"/>
          </p:cNvCxnSpPr>
          <p:nvPr/>
        </p:nvCxnSpPr>
        <p:spPr>
          <a:xfrm rot="10800000">
            <a:off x="9791127" y="4893039"/>
            <a:ext cx="34328" cy="938306"/>
          </a:xfrm>
          <a:prstGeom prst="bentConnector3">
            <a:avLst>
              <a:gd name="adj1" fmla="val 1868154"/>
            </a:avLst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: Angulado 69">
            <a:extLst>
              <a:ext uri="{FF2B5EF4-FFF2-40B4-BE49-F238E27FC236}">
                <a16:creationId xmlns:a16="http://schemas.microsoft.com/office/drawing/2014/main" id="{8826A8F9-E222-BFC7-0E95-C5A628D10DE1}"/>
              </a:ext>
            </a:extLst>
          </p:cNvPr>
          <p:cNvCxnSpPr>
            <a:cxnSpLocks/>
            <a:stCxn id="17" idx="1"/>
            <a:endCxn id="30" idx="1"/>
          </p:cNvCxnSpPr>
          <p:nvPr/>
        </p:nvCxnSpPr>
        <p:spPr>
          <a:xfrm rot="10800000" flipH="1">
            <a:off x="9825454" y="3568371"/>
            <a:ext cx="125775" cy="2262975"/>
          </a:xfrm>
          <a:prstGeom prst="bentConnector3">
            <a:avLst>
              <a:gd name="adj1" fmla="val -683141"/>
            </a:avLst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F2BCD22A-E99F-EB29-04CC-C7CB898FF0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103193"/>
              </p:ext>
            </p:extLst>
          </p:nvPr>
        </p:nvGraphicFramePr>
        <p:xfrm>
          <a:off x="911800" y="2349942"/>
          <a:ext cx="766059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5148">
                  <a:extLst>
                    <a:ext uri="{9D8B030D-6E8A-4147-A177-3AD203B41FA5}">
                      <a16:colId xmlns:a16="http://schemas.microsoft.com/office/drawing/2014/main" val="3169348165"/>
                    </a:ext>
                  </a:extLst>
                </a:gridCol>
                <a:gridCol w="1915148">
                  <a:extLst>
                    <a:ext uri="{9D8B030D-6E8A-4147-A177-3AD203B41FA5}">
                      <a16:colId xmlns:a16="http://schemas.microsoft.com/office/drawing/2014/main" val="1239116794"/>
                    </a:ext>
                  </a:extLst>
                </a:gridCol>
                <a:gridCol w="2080045">
                  <a:extLst>
                    <a:ext uri="{9D8B030D-6E8A-4147-A177-3AD203B41FA5}">
                      <a16:colId xmlns:a16="http://schemas.microsoft.com/office/drawing/2014/main" val="3692023877"/>
                    </a:ext>
                  </a:extLst>
                </a:gridCol>
                <a:gridCol w="1750251">
                  <a:extLst>
                    <a:ext uri="{9D8B030D-6E8A-4147-A177-3AD203B41FA5}">
                      <a16:colId xmlns:a16="http://schemas.microsoft.com/office/drawing/2014/main" val="19122446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IMDB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Checkpoint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Recovery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947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Hekaton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operação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versões de dados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padrão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451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VoltDB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transação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snapshot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padrão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619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HyPer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transação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snapshot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padrão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759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SAP HANA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operação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snapshot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padrão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654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SiloR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valor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Snapshot "</a:t>
                      </a:r>
                      <a:r>
                        <a:rPr lang="pt-BR" dirty="0" err="1"/>
                        <a:t>fuzzy</a:t>
                      </a:r>
                      <a:r>
                        <a:rPr lang="pt-BR" dirty="0"/>
                        <a:t>"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padrão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727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58766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>
            <a:extLst>
              <a:ext uri="{FF2B5EF4-FFF2-40B4-BE49-F238E27FC236}">
                <a16:creationId xmlns:a16="http://schemas.microsoft.com/office/drawing/2014/main" id="{9C63B903-5480-1F3B-4575-2253D8239986}"/>
              </a:ext>
            </a:extLst>
          </p:cNvPr>
          <p:cNvGrpSpPr/>
          <p:nvPr/>
        </p:nvGrpSpPr>
        <p:grpSpPr>
          <a:xfrm>
            <a:off x="3406464" y="214430"/>
            <a:ext cx="8045948" cy="6429139"/>
            <a:chOff x="3204760" y="251639"/>
            <a:chExt cx="8861734" cy="6606361"/>
          </a:xfrm>
        </p:grpSpPr>
        <p:pic>
          <p:nvPicPr>
            <p:cNvPr id="2050" name="Picture 2" descr="In-Memory Database Market">
              <a:extLst>
                <a:ext uri="{FF2B5EF4-FFF2-40B4-BE49-F238E27FC236}">
                  <a16:creationId xmlns:a16="http://schemas.microsoft.com/office/drawing/2014/main" id="{36D557FB-02D9-A9B9-10E1-1492466241D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19" t="1532" r="2316" b="7958"/>
            <a:stretch/>
          </p:blipFill>
          <p:spPr bwMode="auto">
            <a:xfrm>
              <a:off x="3204760" y="251639"/>
              <a:ext cx="8861734" cy="6606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A40DAEAD-0D35-C8CE-D221-237E2638B215}"/>
                </a:ext>
              </a:extLst>
            </p:cNvPr>
            <p:cNvSpPr txBox="1"/>
            <p:nvPr/>
          </p:nvSpPr>
          <p:spPr>
            <a:xfrm>
              <a:off x="7485529" y="2106705"/>
              <a:ext cx="938334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SAP HANA</a:t>
              </a:r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BEC6AD14-69D3-FA95-A8BE-EFF7066C8427}"/>
                </a:ext>
              </a:extLst>
            </p:cNvPr>
            <p:cNvSpPr txBox="1"/>
            <p:nvPr/>
          </p:nvSpPr>
          <p:spPr>
            <a:xfrm>
              <a:off x="7485529" y="3554819"/>
              <a:ext cx="685252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solidFill>
                    <a:srgbClr val="FF0000"/>
                  </a:solidFill>
                </a:rPr>
                <a:t>VoltDB</a:t>
              </a:r>
              <a:endParaRPr 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C850F29B-3736-5605-EF39-6774F81647CB}"/>
                </a:ext>
              </a:extLst>
            </p:cNvPr>
            <p:cNvSpPr txBox="1"/>
            <p:nvPr/>
          </p:nvSpPr>
          <p:spPr>
            <a:xfrm>
              <a:off x="7485528" y="1874528"/>
              <a:ext cx="1837147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Microsoft  Hekaton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4F6EB117-A498-8711-8819-C5DD8470DB3D}"/>
                </a:ext>
              </a:extLst>
            </p:cNvPr>
            <p:cNvSpPr txBox="1"/>
            <p:nvPr/>
          </p:nvSpPr>
          <p:spPr>
            <a:xfrm>
              <a:off x="9834591" y="2887412"/>
              <a:ext cx="1924629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solidFill>
                    <a:srgbClr val="FF0000"/>
                  </a:solidFill>
                </a:rPr>
                <a:t>MemSQL</a:t>
              </a:r>
              <a:r>
                <a:rPr lang="en-US" sz="1400" dirty="0">
                  <a:solidFill>
                    <a:srgbClr val="FF0000"/>
                  </a:solidFill>
                </a:rPr>
                <a:t> </a:t>
              </a:r>
              <a:r>
                <a:rPr lang="en-US" sz="1400" dirty="0">
                  <a:solidFill>
                    <a:srgbClr val="FF0000"/>
                  </a:solidFill>
                  <a:sym typeface="Wingdings" panose="05000000000000000000" pitchFamily="2" charset="2"/>
                </a:rPr>
                <a:t> </a:t>
              </a:r>
              <a:r>
                <a:rPr lang="en-US" sz="1400" dirty="0" err="1">
                  <a:solidFill>
                    <a:srgbClr val="FF0000"/>
                  </a:solidFill>
                </a:rPr>
                <a:t>SingleStore</a:t>
              </a:r>
              <a:endParaRPr 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38DA7087-8447-DD5B-27BA-223DD73FC2E8}"/>
                </a:ext>
              </a:extLst>
            </p:cNvPr>
            <p:cNvSpPr txBox="1"/>
            <p:nvPr/>
          </p:nvSpPr>
          <p:spPr>
            <a:xfrm>
              <a:off x="9834591" y="3121223"/>
              <a:ext cx="618759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solidFill>
                    <a:srgbClr val="FF0000"/>
                  </a:solidFill>
                </a:rPr>
                <a:t>SQlite</a:t>
              </a:r>
              <a:endParaRPr lang="en-US" sz="1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63FDF80-B87F-ADFB-0E50-FF029FE66CB0}"/>
              </a:ext>
            </a:extLst>
          </p:cNvPr>
          <p:cNvSpPr txBox="1"/>
          <p:nvPr/>
        </p:nvSpPr>
        <p:spPr>
          <a:xfrm>
            <a:off x="7329809" y="3738765"/>
            <a:ext cx="27443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0D1C5B-665C-272B-B0A9-5ABEFF54A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218" y="3892653"/>
            <a:ext cx="2925028" cy="1815882"/>
          </a:xfr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1800" b="1" dirty="0" err="1"/>
              <a:t>Produtos</a:t>
            </a:r>
            <a:r>
              <a:rPr lang="en-US" sz="1800" b="1" dirty="0"/>
              <a:t> de “academia”/open source</a:t>
            </a:r>
          </a:p>
          <a:p>
            <a:pPr lvl="1"/>
            <a:r>
              <a:rPr lang="en-US" sz="1600" dirty="0"/>
              <a:t>H-Store</a:t>
            </a:r>
          </a:p>
          <a:p>
            <a:pPr lvl="1"/>
            <a:r>
              <a:rPr lang="pt-BR" sz="1600" dirty="0" err="1"/>
              <a:t>HyPer</a:t>
            </a:r>
            <a:endParaRPr lang="en-US" sz="1600" dirty="0"/>
          </a:p>
          <a:p>
            <a:pPr lvl="1"/>
            <a:r>
              <a:rPr lang="en-US" sz="1600" dirty="0"/>
              <a:t>Silo</a:t>
            </a:r>
          </a:p>
          <a:p>
            <a:pPr lvl="1"/>
            <a:r>
              <a:rPr lang="en-US" sz="1600" dirty="0"/>
              <a:t>Peloton</a:t>
            </a:r>
            <a:endParaRPr lang="en-US" dirty="0"/>
          </a:p>
          <a:p>
            <a:endParaRPr lang="en-US" dirty="0"/>
          </a:p>
        </p:txBody>
      </p:sp>
      <p:cxnSp>
        <p:nvCxnSpPr>
          <p:cNvPr id="14" name="Conector: Angulado 13">
            <a:extLst>
              <a:ext uri="{FF2B5EF4-FFF2-40B4-BE49-F238E27FC236}">
                <a16:creationId xmlns:a16="http://schemas.microsoft.com/office/drawing/2014/main" id="{0CF2A438-C9DD-8870-55A8-457A37AD8AF0}"/>
              </a:ext>
            </a:extLst>
          </p:cNvPr>
          <p:cNvCxnSpPr>
            <a:cxnSpLocks/>
            <a:stCxn id="10" idx="1"/>
            <a:endCxn id="3" idx="0"/>
          </p:cNvCxnSpPr>
          <p:nvPr/>
        </p:nvCxnSpPr>
        <p:spPr>
          <a:xfrm rot="10800000">
            <a:off x="1662733" y="3892654"/>
            <a:ext cx="5667077" cy="1"/>
          </a:xfrm>
          <a:prstGeom prst="bentConnector4">
            <a:avLst>
              <a:gd name="adj1" fmla="val 65412"/>
              <a:gd name="adj2" fmla="val 228601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4454E8A-6B4C-8DF4-F81B-089912F66A1D}"/>
              </a:ext>
            </a:extLst>
          </p:cNvPr>
          <p:cNvSpPr txBox="1"/>
          <p:nvPr/>
        </p:nvSpPr>
        <p:spPr>
          <a:xfrm>
            <a:off x="6096000" y="6623458"/>
            <a:ext cx="6096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ADAPTADO DE https://maximizemarketresearch.com/market-report/in-memory-database-market/13339/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1218F12A-B7F8-F95B-F964-FDB921C7CF2A}"/>
              </a:ext>
            </a:extLst>
          </p:cNvPr>
          <p:cNvSpPr txBox="1">
            <a:spLocks/>
          </p:cNvSpPr>
          <p:nvPr/>
        </p:nvSpPr>
        <p:spPr>
          <a:xfrm>
            <a:off x="381000" y="12395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/>
              <a:t>Conclusões</a:t>
            </a:r>
            <a:r>
              <a:rPr lang="en-US" b="1" dirty="0"/>
              <a:t> - IMDB</a:t>
            </a:r>
          </a:p>
        </p:txBody>
      </p:sp>
    </p:spTree>
    <p:extLst>
      <p:ext uri="{BB962C8B-B14F-4D97-AF65-F5344CB8AC3E}">
        <p14:creationId xmlns:p14="http://schemas.microsoft.com/office/powerpoint/2010/main" val="14596908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92BB9D-627C-A118-56B0-969E0739A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Conclusões</a:t>
            </a:r>
            <a:r>
              <a:rPr lang="en-US" b="1" dirty="0"/>
              <a:t> - IMDB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7C5FD5-AC9B-4B04-93B0-6E6E61BE7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Bancos de dados em memória IMDB são um tipo </a:t>
            </a:r>
            <a:r>
              <a:rPr lang="pt-BR" b="1" dirty="0" err="1"/>
              <a:t>NewSQL</a:t>
            </a:r>
            <a:r>
              <a:rPr lang="pt-BR" b="1" dirty="0"/>
              <a:t> ;-)</a:t>
            </a:r>
          </a:p>
          <a:p>
            <a:r>
              <a:rPr lang="pt-BR" b="1" dirty="0"/>
              <a:t>Muitas oportunidades na área de pesquisa e mercado crescente</a:t>
            </a:r>
          </a:p>
          <a:p>
            <a:pPr lvl="1"/>
            <a:r>
              <a:rPr lang="pt-BR" dirty="0"/>
              <a:t>Problema em paralelismo</a:t>
            </a:r>
          </a:p>
          <a:p>
            <a:pPr lvl="1"/>
            <a:r>
              <a:rPr lang="pt-BR" dirty="0"/>
              <a:t>Controle de concorrência</a:t>
            </a:r>
          </a:p>
          <a:p>
            <a:pPr lvl="1"/>
            <a:r>
              <a:rPr lang="pt-BR" dirty="0"/>
              <a:t>Armazenamento de dados e durabilidade</a:t>
            </a:r>
          </a:p>
          <a:p>
            <a:pPr lvl="1"/>
            <a:endParaRPr lang="pt-BR" b="1" dirty="0"/>
          </a:p>
          <a:p>
            <a:pPr lvl="1"/>
            <a:endParaRPr lang="en-US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1C38C13-6C56-C93E-72AF-805814839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741" y="4532322"/>
            <a:ext cx="7095808" cy="21463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074" name="Picture 2" descr="ACM SIGMOD City, Country, Year">
            <a:extLst>
              <a:ext uri="{FF2B5EF4-FFF2-40B4-BE49-F238E27FC236}">
                <a16:creationId xmlns:a16="http://schemas.microsoft.com/office/drawing/2014/main" id="{D7D5287F-C7C9-06CA-DD23-5DF16B514B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49916" b="-3660"/>
          <a:stretch/>
        </p:blipFill>
        <p:spPr bwMode="auto">
          <a:xfrm>
            <a:off x="9528365" y="5212157"/>
            <a:ext cx="1626532" cy="8104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04132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44E6CC-FFF4-A4D8-601E-480142021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Atividade</a:t>
            </a:r>
            <a:r>
              <a:rPr lang="en-US" b="1" dirty="0"/>
              <a:t> Extra-</a:t>
            </a:r>
            <a:r>
              <a:rPr lang="en-US" b="1" dirty="0" err="1"/>
              <a:t>Classe</a:t>
            </a:r>
            <a:endParaRPr lang="en-US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0C9C58-D854-FB64-C9CF-B855DFB70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87635" cy="5032375"/>
          </a:xfrm>
        </p:spPr>
        <p:txBody>
          <a:bodyPr>
            <a:normAutofit/>
          </a:bodyPr>
          <a:lstStyle/>
          <a:p>
            <a:pPr marL="685800" lvl="2">
              <a:spcBef>
                <a:spcPts val="1000"/>
              </a:spcBef>
            </a:pPr>
            <a:r>
              <a:rPr lang="en-US" sz="2400" b="1" dirty="0" err="1"/>
              <a:t>Vídeo</a:t>
            </a:r>
            <a:r>
              <a:rPr lang="en-US" sz="2400" b="1" dirty="0"/>
              <a:t> Aula </a:t>
            </a:r>
            <a:r>
              <a:rPr lang="en-US" sz="2400" dirty="0"/>
              <a:t>“In-Memory Databases” </a:t>
            </a:r>
            <a:r>
              <a:rPr lang="en-US" sz="2400" dirty="0" err="1"/>
              <a:t>Pavlo</a:t>
            </a:r>
            <a:r>
              <a:rPr lang="en-US" sz="2400" dirty="0"/>
              <a:t>. A. da CMU https://www.youtube.com/watch?v=a70jRWLjQFk&amp;t=1711s (+-1:10 hora)</a:t>
            </a:r>
          </a:p>
          <a:p>
            <a:pPr marL="457200" lvl="2" indent="0">
              <a:spcBef>
                <a:spcPts val="1000"/>
              </a:spcBef>
              <a:buNone/>
            </a:pPr>
            <a:endParaRPr lang="en-US" sz="2400" dirty="0"/>
          </a:p>
          <a:p>
            <a:pPr marL="685800" lvl="2">
              <a:spcBef>
                <a:spcPts val="1000"/>
              </a:spcBef>
            </a:pPr>
            <a:endParaRPr lang="en-US" sz="2800" dirty="0"/>
          </a:p>
          <a:p>
            <a:pPr marL="228600" lvl="1">
              <a:spcBef>
                <a:spcPts val="1000"/>
              </a:spcBef>
            </a:pPr>
            <a:endParaRPr lang="en-US" sz="2800" dirty="0"/>
          </a:p>
          <a:p>
            <a:pPr marL="685800" lvl="2">
              <a:spcBef>
                <a:spcPts val="1000"/>
              </a:spcBef>
            </a:pPr>
            <a:endParaRPr lang="en-US" sz="2400" b="1" dirty="0"/>
          </a:p>
          <a:p>
            <a:pPr marL="685800" lvl="2">
              <a:spcBef>
                <a:spcPts val="1000"/>
              </a:spcBef>
            </a:pPr>
            <a:endParaRPr lang="en-US" sz="2400" b="1" dirty="0"/>
          </a:p>
          <a:p>
            <a:pPr marL="685800" lvl="2">
              <a:spcBef>
                <a:spcPts val="1000"/>
              </a:spcBef>
            </a:pPr>
            <a:endParaRPr lang="en-US" sz="2400" b="1" dirty="0"/>
          </a:p>
          <a:p>
            <a:pPr marL="685800" lvl="2">
              <a:spcBef>
                <a:spcPts val="1000"/>
              </a:spcBef>
            </a:pPr>
            <a:endParaRPr lang="en-US" sz="2400" b="1" dirty="0"/>
          </a:p>
          <a:p>
            <a:pPr marL="685800" lvl="2">
              <a:spcBef>
                <a:spcPts val="1000"/>
              </a:spcBef>
            </a:pPr>
            <a:endParaRPr lang="en-US" sz="24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4E50E11-13FF-D66F-D3FD-1607729EE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270" y="3084353"/>
            <a:ext cx="5432611" cy="30693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90653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E8D19B-F911-5A2E-A640-6C4D7FF43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Leituras</a:t>
            </a:r>
            <a:r>
              <a:rPr lang="en-US" b="1" dirty="0"/>
              <a:t> </a:t>
            </a:r>
            <a:r>
              <a:rPr lang="en-US" b="1" dirty="0" err="1"/>
              <a:t>Complementares</a:t>
            </a:r>
            <a:endParaRPr lang="en-US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2F6CCD-F522-B3B3-8AB2-CB3424863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dirty="0">
              <a:solidFill>
                <a:srgbClr val="FF0000"/>
              </a:solidFill>
            </a:endParaRPr>
          </a:p>
          <a:p>
            <a:r>
              <a:rPr lang="en-US" dirty="0" err="1"/>
              <a:t>Magalhães</a:t>
            </a:r>
            <a:r>
              <a:rPr lang="en-US" dirty="0"/>
              <a:t>, A.,  </a:t>
            </a:r>
            <a:r>
              <a:rPr lang="en-US" dirty="0" err="1"/>
              <a:t>Brayner</a:t>
            </a:r>
            <a:r>
              <a:rPr lang="en-US" dirty="0"/>
              <a:t>, A. e Monteiro, J. M. (2023) “</a:t>
            </a:r>
            <a:r>
              <a:rPr lang="pt-BR" dirty="0"/>
              <a:t>Bancos de dados em memória e suas estratégias de recuperação após Falhas</a:t>
            </a:r>
            <a:r>
              <a:rPr lang="en-US" dirty="0"/>
              <a:t>”. CSBC/JAI 2023.  https://csbc.sbc.org.br/2023/wp-content/uploads/2023/08/JAI-4-Bancos-de-Dados-em-Memoria-e-suas-Estrategias-de-Recuperacao-Apos-Falhas.pdf</a:t>
            </a:r>
          </a:p>
          <a:p>
            <a:endParaRPr lang="en-US" dirty="0"/>
          </a:p>
          <a:p>
            <a:endParaRPr lang="pt-BR" dirty="0"/>
          </a:p>
          <a:p>
            <a:endParaRPr lang="pt-BR" dirty="0">
              <a:solidFill>
                <a:srgbClr val="FF0000"/>
              </a:solidFill>
            </a:endParaRPr>
          </a:p>
          <a:p>
            <a:endParaRPr lang="pt-BR" dirty="0">
              <a:solidFill>
                <a:srgbClr val="FF0000"/>
              </a:solidFill>
            </a:endParaRPr>
          </a:p>
          <a:p>
            <a:endParaRPr lang="pt-BR" dirty="0">
              <a:solidFill>
                <a:srgbClr val="FF0000"/>
              </a:solidFill>
            </a:endParaRPr>
          </a:p>
          <a:p>
            <a:endParaRPr lang="pt-BR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1468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48E3CA-1E8D-8C3A-67D9-F8EAE2395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Extra NewSQL : </a:t>
            </a:r>
            <a:r>
              <a:rPr lang="en-US" b="1" dirty="0" err="1"/>
              <a:t>Sistemas</a:t>
            </a:r>
            <a:r>
              <a:rPr lang="en-US" b="1" dirty="0"/>
              <a:t> de </a:t>
            </a:r>
            <a:r>
              <a:rPr lang="en-US" b="1" dirty="0" err="1"/>
              <a:t>compensação</a:t>
            </a:r>
            <a:r>
              <a:rPr lang="en-US" b="1" dirty="0"/>
              <a:t> </a:t>
            </a:r>
            <a:r>
              <a:rPr lang="en-US" b="1" dirty="0" err="1"/>
              <a:t>em</a:t>
            </a:r>
            <a:r>
              <a:rPr lang="en-US" b="1" dirty="0"/>
              <a:t> banco de dados HTAP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A254EF-9427-2F5E-6877-AF6A1C5E4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7915667" cy="50323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b="1" dirty="0"/>
              <a:t>Isolamento de carga de trabalho</a:t>
            </a:r>
            <a:r>
              <a:rPr lang="pt-BR" dirty="0"/>
              <a:t>: Nível de isolamento necessário para lidar com cargas de trabalho distintas </a:t>
            </a:r>
          </a:p>
          <a:p>
            <a:pPr marL="514350" indent="-514350">
              <a:buFont typeface="+mj-lt"/>
              <a:buAutoNum type="arabicPeriod"/>
            </a:pPr>
            <a:r>
              <a:rPr lang="pt-BR" b="1" dirty="0"/>
              <a:t>Atualização de dados</a:t>
            </a:r>
            <a:r>
              <a:rPr lang="pt-BR" dirty="0"/>
              <a:t>: Parte dos dados das </a:t>
            </a:r>
            <a:r>
              <a:rPr lang="pt-BR" dirty="0" err="1"/>
              <a:t>Tx</a:t>
            </a:r>
            <a:r>
              <a:rPr lang="pt-BR" dirty="0"/>
              <a:t> mais recentes precisa ser lida pelo OLAP</a:t>
            </a:r>
          </a:p>
          <a:p>
            <a:r>
              <a:rPr lang="pt-BR" b="1" dirty="0"/>
              <a:t> É necessário ter uma compensação alcançar um equilíbrio entre  isolamento de carga de trabalho e atualização de dados</a:t>
            </a:r>
          </a:p>
          <a:p>
            <a:pPr lvl="1"/>
            <a:r>
              <a:rPr lang="pt-BR" dirty="0"/>
              <a:t>Alto isolamento de carga de trabalho leva a baixa atualização de dados</a:t>
            </a:r>
          </a:p>
          <a:p>
            <a:pPr lvl="1"/>
            <a:r>
              <a:rPr lang="pt-BR" dirty="0"/>
              <a:t>Baixo isolamento de carga de trabalho resulta em alta atualização de dados</a:t>
            </a:r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C032C0C-6D11-CB62-E06C-18DB6FEBC5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734"/>
          <a:stretch/>
        </p:blipFill>
        <p:spPr>
          <a:xfrm>
            <a:off x="8680294" y="1064675"/>
            <a:ext cx="3328604" cy="27636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9DC179D-EB65-8C49-7E73-B421D59600A2}"/>
              </a:ext>
            </a:extLst>
          </p:cNvPr>
          <p:cNvSpPr txBox="1"/>
          <p:nvPr/>
        </p:nvSpPr>
        <p:spPr>
          <a:xfrm>
            <a:off x="7378263" y="6611779"/>
            <a:ext cx="49713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b="0" i="0" dirty="0">
                <a:effectLst/>
                <a:latin typeface="Arial" panose="020B0604020202020204" pitchFamily="34" charset="0"/>
              </a:rPr>
              <a:t>Extraído de: Li, G e </a:t>
            </a:r>
            <a:r>
              <a:rPr lang="pt-BR" sz="1000" b="0" i="0" dirty="0" err="1">
                <a:effectLst/>
                <a:latin typeface="Arial" panose="020B0604020202020204" pitchFamily="34" charset="0"/>
              </a:rPr>
              <a:t>Zhan,g</a:t>
            </a:r>
            <a:r>
              <a:rPr lang="pt-BR" sz="1000" b="0" i="0" dirty="0">
                <a:effectLst/>
                <a:latin typeface="Arial" panose="020B0604020202020204" pitchFamily="34" charset="0"/>
              </a:rPr>
              <a:t>, C. (2022) HTAP </a:t>
            </a:r>
            <a:r>
              <a:rPr lang="pt-BR" sz="1000" b="0" i="0" dirty="0" err="1">
                <a:effectLst/>
                <a:latin typeface="Arial" panose="020B0604020202020204" pitchFamily="34" charset="0"/>
              </a:rPr>
              <a:t>Databases</a:t>
            </a:r>
            <a:r>
              <a:rPr lang="pt-BR" sz="1000" b="0" i="0" dirty="0">
                <a:effectLst/>
                <a:latin typeface="Arial" panose="020B0604020202020204" pitchFamily="34" charset="0"/>
              </a:rPr>
              <a:t>: A Tutorial. SIGMOD 2022</a:t>
            </a:r>
            <a:endParaRPr lang="en-US" sz="1000" b="1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86DC78E-29F4-D7C5-7EF2-0BF0A00603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708"/>
          <a:stretch/>
        </p:blipFill>
        <p:spPr>
          <a:xfrm>
            <a:off x="8753867" y="3895785"/>
            <a:ext cx="3255031" cy="26485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209463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D6FC7A-2609-F3D5-C148-916C8F7F5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Extra NewSQL : </a:t>
            </a:r>
            <a:r>
              <a:rPr lang="en-US" b="1" dirty="0" err="1"/>
              <a:t>Arquitetura</a:t>
            </a:r>
            <a:r>
              <a:rPr lang="en-US" b="1" dirty="0"/>
              <a:t> de banco de dados HTAP (delta)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D4DEB7-33C2-358A-CBA7-5E9295572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816" y="1825624"/>
            <a:ext cx="6267067" cy="5032375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err="1"/>
              <a:t>Polystores</a:t>
            </a:r>
            <a:r>
              <a:rPr lang="en-US" b="1" dirty="0"/>
              <a:t> (</a:t>
            </a:r>
            <a:r>
              <a:rPr lang="en-US" b="1" dirty="0" err="1"/>
              <a:t>Tuplas</a:t>
            </a:r>
            <a:r>
              <a:rPr lang="en-US" b="1" dirty="0"/>
              <a:t>  e </a:t>
            </a:r>
            <a:r>
              <a:rPr lang="en-US" b="1" dirty="0" err="1"/>
              <a:t>Colunas</a:t>
            </a:r>
            <a:r>
              <a:rPr lang="en-US" b="1" dirty="0"/>
              <a:t>)</a:t>
            </a:r>
          </a:p>
          <a:p>
            <a:r>
              <a:rPr lang="en-US" b="1" dirty="0">
                <a:solidFill>
                  <a:srgbClr val="00B050"/>
                </a:solidFill>
              </a:rPr>
              <a:t>Pros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Alta </a:t>
            </a:r>
            <a:r>
              <a:rPr lang="en-US" dirty="0" err="1"/>
              <a:t>vazão</a:t>
            </a:r>
            <a:r>
              <a:rPr lang="en-US" dirty="0"/>
              <a:t> de Tx (OLTP), </a:t>
            </a:r>
          </a:p>
          <a:p>
            <a:pPr lvl="1"/>
            <a:r>
              <a:rPr lang="en-US" dirty="0"/>
              <a:t>Alta </a:t>
            </a:r>
            <a:r>
              <a:rPr lang="en-US" dirty="0" err="1"/>
              <a:t>vazão</a:t>
            </a:r>
            <a:r>
              <a:rPr lang="en-US" dirty="0"/>
              <a:t> de </a:t>
            </a:r>
            <a:r>
              <a:rPr lang="en-US" dirty="0" err="1"/>
              <a:t>operações</a:t>
            </a:r>
            <a:r>
              <a:rPr lang="en-US" dirty="0"/>
              <a:t> OLAP, </a:t>
            </a:r>
          </a:p>
          <a:p>
            <a:pPr lvl="1"/>
            <a:r>
              <a:rPr lang="en-US" dirty="0" err="1"/>
              <a:t>Alevadas</a:t>
            </a:r>
            <a:r>
              <a:rPr lang="en-US" dirty="0"/>
              <a:t> </a:t>
            </a:r>
            <a:r>
              <a:rPr lang="en-US" dirty="0" err="1"/>
              <a:t>taxas</a:t>
            </a:r>
            <a:r>
              <a:rPr lang="en-US" dirty="0"/>
              <a:t> de </a:t>
            </a:r>
            <a:r>
              <a:rPr lang="en-US" dirty="0" err="1"/>
              <a:t>atualização</a:t>
            </a:r>
            <a:r>
              <a:rPr lang="en-US" dirty="0"/>
              <a:t> de dados</a:t>
            </a:r>
          </a:p>
          <a:p>
            <a:r>
              <a:rPr lang="en-US" b="1" dirty="0">
                <a:solidFill>
                  <a:srgbClr val="FF0000"/>
                </a:solidFill>
              </a:rPr>
              <a:t>Contras: </a:t>
            </a:r>
          </a:p>
          <a:p>
            <a:pPr lvl="1"/>
            <a:r>
              <a:rPr lang="en-US" dirty="0" err="1"/>
              <a:t>Baixa</a:t>
            </a:r>
            <a:r>
              <a:rPr lang="en-US" dirty="0"/>
              <a:t> </a:t>
            </a:r>
            <a:r>
              <a:rPr lang="en-US" dirty="0" err="1"/>
              <a:t>esacalabilidade</a:t>
            </a:r>
            <a:r>
              <a:rPr lang="en-US" dirty="0"/>
              <a:t> das </a:t>
            </a:r>
            <a:r>
              <a:rPr lang="en-US" dirty="0" err="1"/>
              <a:t>operações</a:t>
            </a:r>
            <a:r>
              <a:rPr lang="en-US" dirty="0"/>
              <a:t> OLAP, </a:t>
            </a:r>
          </a:p>
          <a:p>
            <a:pPr lvl="1"/>
            <a:r>
              <a:rPr lang="en-US" dirty="0" err="1"/>
              <a:t>Baixa</a:t>
            </a:r>
            <a:r>
              <a:rPr lang="en-US" dirty="0"/>
              <a:t> </a:t>
            </a:r>
            <a:r>
              <a:rPr lang="en-US" dirty="0" err="1"/>
              <a:t>isolamento</a:t>
            </a:r>
            <a:r>
              <a:rPr lang="en-US" dirty="0"/>
              <a:t> das cargas de </a:t>
            </a:r>
            <a:r>
              <a:rPr lang="en-US" dirty="0" err="1"/>
              <a:t>trabalho</a:t>
            </a:r>
            <a:endParaRPr lang="en-US" dirty="0"/>
          </a:p>
          <a:p>
            <a:endParaRPr lang="en-US" b="1" dirty="0"/>
          </a:p>
          <a:p>
            <a:r>
              <a:rPr lang="en-US" b="1" dirty="0" err="1"/>
              <a:t>Exemplos</a:t>
            </a:r>
            <a:r>
              <a:rPr lang="en-US" b="1" dirty="0"/>
              <a:t> de </a:t>
            </a:r>
            <a:r>
              <a:rPr lang="en-US" b="1" dirty="0" err="1"/>
              <a:t>aplicações</a:t>
            </a:r>
            <a:r>
              <a:rPr lang="en-US" b="1" dirty="0"/>
              <a:t> </a:t>
            </a:r>
          </a:p>
          <a:p>
            <a:r>
              <a:rPr lang="en-US" dirty="0"/>
              <a:t> Bom para </a:t>
            </a:r>
            <a:r>
              <a:rPr lang="en-US" dirty="0" err="1"/>
              <a:t>aplicações</a:t>
            </a:r>
            <a:r>
              <a:rPr lang="en-US" dirty="0"/>
              <a:t> de </a:t>
            </a:r>
            <a:r>
              <a:rPr lang="en-US" dirty="0" err="1"/>
              <a:t>alta</a:t>
            </a:r>
            <a:r>
              <a:rPr lang="en-US" dirty="0"/>
              <a:t> </a:t>
            </a:r>
            <a:r>
              <a:rPr lang="en-US" dirty="0" err="1"/>
              <a:t>vazão</a:t>
            </a:r>
            <a:r>
              <a:rPr lang="en-US" dirty="0"/>
              <a:t> e </a:t>
            </a:r>
            <a:r>
              <a:rPr lang="en-US" dirty="0" err="1"/>
              <a:t>baixa</a:t>
            </a:r>
            <a:r>
              <a:rPr lang="en-US" dirty="0"/>
              <a:t> </a:t>
            </a:r>
            <a:r>
              <a:rPr lang="en-US" dirty="0" err="1"/>
              <a:t>escalabilidade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Setor</a:t>
            </a:r>
            <a:r>
              <a:rPr lang="en-US" dirty="0"/>
              <a:t> </a:t>
            </a:r>
            <a:r>
              <a:rPr lang="en-US" dirty="0" err="1"/>
              <a:t>bancário</a:t>
            </a:r>
            <a:r>
              <a:rPr lang="en-US" dirty="0"/>
              <a:t> com </a:t>
            </a:r>
            <a:r>
              <a:rPr lang="en-US" dirty="0" err="1"/>
              <a:t>análises</a:t>
            </a:r>
            <a:r>
              <a:rPr lang="en-US" dirty="0"/>
              <a:t> de tempo real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519A362-BEB2-1A3F-165C-F2F46354D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8920" y="1414271"/>
            <a:ext cx="5773080" cy="44615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87BD962-C3C3-15F5-081B-15EC51CD8EE4}"/>
              </a:ext>
            </a:extLst>
          </p:cNvPr>
          <p:cNvSpPr txBox="1"/>
          <p:nvPr/>
        </p:nvSpPr>
        <p:spPr>
          <a:xfrm>
            <a:off x="7378263" y="6611779"/>
            <a:ext cx="49713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b="0" i="0" dirty="0">
                <a:effectLst/>
                <a:latin typeface="Arial" panose="020B0604020202020204" pitchFamily="34" charset="0"/>
              </a:rPr>
              <a:t>Extraído de: Li, G e </a:t>
            </a:r>
            <a:r>
              <a:rPr lang="pt-BR" sz="1000" b="0" i="0" dirty="0" err="1">
                <a:effectLst/>
                <a:latin typeface="Arial" panose="020B0604020202020204" pitchFamily="34" charset="0"/>
              </a:rPr>
              <a:t>Zhan,g</a:t>
            </a:r>
            <a:r>
              <a:rPr lang="pt-BR" sz="1000" b="0" i="0" dirty="0">
                <a:effectLst/>
                <a:latin typeface="Arial" panose="020B0604020202020204" pitchFamily="34" charset="0"/>
              </a:rPr>
              <a:t>, C. (2022) HTAP </a:t>
            </a:r>
            <a:r>
              <a:rPr lang="pt-BR" sz="1000" b="0" i="0" dirty="0" err="1">
                <a:effectLst/>
                <a:latin typeface="Arial" panose="020B0604020202020204" pitchFamily="34" charset="0"/>
              </a:rPr>
              <a:t>Databases</a:t>
            </a:r>
            <a:r>
              <a:rPr lang="pt-BR" sz="1000" b="0" i="0" dirty="0">
                <a:effectLst/>
                <a:latin typeface="Arial" panose="020B0604020202020204" pitchFamily="34" charset="0"/>
              </a:rPr>
              <a:t>: A Tutorial. SIGMOD 2022</a:t>
            </a:r>
            <a:endParaRPr 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39374891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19217F8F-0B89-DD89-4693-3CB0B919DA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69" t="3027" r="1838"/>
          <a:stretch/>
        </p:blipFill>
        <p:spPr>
          <a:xfrm>
            <a:off x="6346524" y="1690688"/>
            <a:ext cx="5677310" cy="37658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7D6FC7A-2609-F3D5-C148-916C8F7F5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Extra NewSQL : </a:t>
            </a:r>
            <a:r>
              <a:rPr lang="en-US" b="1" dirty="0" err="1"/>
              <a:t>Arquitetura</a:t>
            </a:r>
            <a:r>
              <a:rPr lang="en-US" b="1" dirty="0"/>
              <a:t> de banco de dados HTAP (</a:t>
            </a:r>
            <a:r>
              <a:rPr lang="en-US" b="1" dirty="0" err="1"/>
              <a:t>fragmentação</a:t>
            </a:r>
            <a:r>
              <a:rPr lang="en-US" b="1" dirty="0"/>
              <a:t> </a:t>
            </a:r>
            <a:r>
              <a:rPr lang="en-US" b="1" dirty="0" err="1"/>
              <a:t>em</a:t>
            </a:r>
            <a:r>
              <a:rPr lang="en-US" b="1" dirty="0"/>
              <a:t> </a:t>
            </a:r>
            <a:r>
              <a:rPr lang="en-US" b="1" dirty="0" err="1"/>
              <a:t>vários</a:t>
            </a:r>
            <a:r>
              <a:rPr lang="en-US" b="1" dirty="0"/>
              <a:t> </a:t>
            </a:r>
            <a:r>
              <a:rPr lang="en-US" b="1" dirty="0" err="1"/>
              <a:t>nós</a:t>
            </a:r>
            <a:r>
              <a:rPr lang="en-US" b="1" dirty="0"/>
              <a:t>)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D4DEB7-33C2-358A-CBA7-5E9295572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166" y="1825624"/>
            <a:ext cx="7210097" cy="5032375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err="1"/>
              <a:t>Polystores</a:t>
            </a:r>
            <a:r>
              <a:rPr lang="en-US" b="1" dirty="0"/>
              <a:t> (</a:t>
            </a:r>
            <a:r>
              <a:rPr lang="en-US" b="1" dirty="0" err="1"/>
              <a:t>Fragmentação</a:t>
            </a:r>
            <a:r>
              <a:rPr lang="en-US" b="1" dirty="0"/>
              <a:t> de dados, </a:t>
            </a:r>
            <a:br>
              <a:rPr lang="en-US" b="1" dirty="0"/>
            </a:br>
            <a:r>
              <a:rPr lang="en-US" b="1" dirty="0" err="1"/>
              <a:t>transformações</a:t>
            </a:r>
            <a:r>
              <a:rPr lang="en-US" b="1" dirty="0"/>
              <a:t> para </a:t>
            </a:r>
            <a:r>
              <a:rPr lang="en-US" b="1" dirty="0" err="1"/>
              <a:t>colunas</a:t>
            </a:r>
            <a:r>
              <a:rPr lang="en-US" b="1" dirty="0"/>
              <a:t>)</a:t>
            </a:r>
          </a:p>
          <a:p>
            <a:r>
              <a:rPr lang="en-US" b="1" dirty="0">
                <a:solidFill>
                  <a:srgbClr val="00B050"/>
                </a:solidFill>
              </a:rPr>
              <a:t>Pros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Alto </a:t>
            </a:r>
            <a:r>
              <a:rPr lang="en-US" dirty="0" err="1"/>
              <a:t>isolamento</a:t>
            </a:r>
            <a:r>
              <a:rPr lang="en-US" dirty="0"/>
              <a:t> das cargas de </a:t>
            </a:r>
            <a:r>
              <a:rPr lang="en-US" dirty="0" err="1"/>
              <a:t>trabalho</a:t>
            </a:r>
            <a:endParaRPr lang="en-US" dirty="0"/>
          </a:p>
          <a:p>
            <a:pPr lvl="1"/>
            <a:r>
              <a:rPr lang="en-US" dirty="0"/>
              <a:t>Alta </a:t>
            </a:r>
            <a:r>
              <a:rPr lang="en-US" dirty="0" err="1"/>
              <a:t>escalabilidade</a:t>
            </a:r>
            <a:r>
              <a:rPr lang="en-US" dirty="0"/>
              <a:t> das </a:t>
            </a:r>
            <a:r>
              <a:rPr lang="en-US" dirty="0" err="1"/>
              <a:t>operações</a:t>
            </a:r>
            <a:r>
              <a:rPr lang="en-US" dirty="0"/>
              <a:t> (OLAP/OLTP)</a:t>
            </a:r>
          </a:p>
          <a:p>
            <a:r>
              <a:rPr lang="en-US" b="1" dirty="0">
                <a:solidFill>
                  <a:srgbClr val="FF0000"/>
                </a:solidFill>
              </a:rPr>
              <a:t>Contras: </a:t>
            </a:r>
          </a:p>
          <a:p>
            <a:pPr lvl="1"/>
            <a:r>
              <a:rPr lang="en-US" dirty="0" err="1"/>
              <a:t>Baixas</a:t>
            </a:r>
            <a:r>
              <a:rPr lang="en-US" dirty="0"/>
              <a:t> </a:t>
            </a:r>
            <a:r>
              <a:rPr lang="en-US" dirty="0" err="1"/>
              <a:t>taxas</a:t>
            </a:r>
            <a:r>
              <a:rPr lang="en-US" dirty="0"/>
              <a:t> de </a:t>
            </a:r>
            <a:r>
              <a:rPr lang="en-US" dirty="0" err="1"/>
              <a:t>atualização</a:t>
            </a:r>
            <a:r>
              <a:rPr lang="en-US" dirty="0"/>
              <a:t> de dados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 err="1"/>
              <a:t>Exemplos</a:t>
            </a:r>
            <a:r>
              <a:rPr lang="en-US" b="1" dirty="0"/>
              <a:t> de </a:t>
            </a:r>
            <a:r>
              <a:rPr lang="en-US" b="1" dirty="0" err="1"/>
              <a:t>aplicações</a:t>
            </a:r>
            <a:r>
              <a:rPr lang="en-US" b="1" dirty="0"/>
              <a:t> </a:t>
            </a:r>
          </a:p>
          <a:p>
            <a:r>
              <a:rPr lang="en-US" dirty="0"/>
              <a:t> Bom para </a:t>
            </a:r>
            <a:r>
              <a:rPr lang="en-US" dirty="0" err="1"/>
              <a:t>aplicações</a:t>
            </a:r>
            <a:r>
              <a:rPr lang="en-US" dirty="0"/>
              <a:t> de </a:t>
            </a:r>
            <a:r>
              <a:rPr lang="en-US" dirty="0" err="1"/>
              <a:t>alta</a:t>
            </a:r>
            <a:r>
              <a:rPr lang="en-US" dirty="0"/>
              <a:t> </a:t>
            </a:r>
            <a:r>
              <a:rPr lang="en-US" dirty="0" err="1"/>
              <a:t>escalabilidade</a:t>
            </a:r>
            <a:r>
              <a:rPr lang="en-US" dirty="0"/>
              <a:t> (OLTP/OLAP) mas que </a:t>
            </a:r>
            <a:r>
              <a:rPr lang="en-US" dirty="0" err="1"/>
              <a:t>toleram</a:t>
            </a:r>
            <a:r>
              <a:rPr lang="en-US" dirty="0"/>
              <a:t> </a:t>
            </a:r>
            <a:r>
              <a:rPr lang="en-US" dirty="0" err="1"/>
              <a:t>baixa</a:t>
            </a:r>
            <a:r>
              <a:rPr lang="en-US" dirty="0"/>
              <a:t> </a:t>
            </a:r>
            <a:r>
              <a:rPr lang="en-US" dirty="0" err="1"/>
              <a:t>taxas</a:t>
            </a:r>
            <a:r>
              <a:rPr lang="en-US" dirty="0"/>
              <a:t> de </a:t>
            </a:r>
            <a:r>
              <a:rPr lang="en-US" dirty="0" err="1"/>
              <a:t>atualização</a:t>
            </a:r>
            <a:r>
              <a:rPr lang="en-US" dirty="0"/>
              <a:t> de dados</a:t>
            </a:r>
          </a:p>
          <a:p>
            <a:pPr lvl="1"/>
            <a:r>
              <a:rPr lang="en-US" dirty="0" err="1"/>
              <a:t>Setor</a:t>
            </a:r>
            <a:r>
              <a:rPr lang="en-US" dirty="0"/>
              <a:t> de E-Commerce com </a:t>
            </a:r>
            <a:r>
              <a:rPr lang="en-US" dirty="0" err="1"/>
              <a:t>análises</a:t>
            </a:r>
            <a:r>
              <a:rPr lang="en-US" dirty="0"/>
              <a:t> de tempo real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A847C98-B5B1-E6D7-4DDB-E1216C615CF9}"/>
              </a:ext>
            </a:extLst>
          </p:cNvPr>
          <p:cNvSpPr txBox="1"/>
          <p:nvPr/>
        </p:nvSpPr>
        <p:spPr>
          <a:xfrm>
            <a:off x="7378263" y="6611779"/>
            <a:ext cx="49713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b="0" i="0" dirty="0">
                <a:effectLst/>
                <a:latin typeface="Arial" panose="020B0604020202020204" pitchFamily="34" charset="0"/>
              </a:rPr>
              <a:t>Extraído de: Li, G e </a:t>
            </a:r>
            <a:r>
              <a:rPr lang="pt-BR" sz="1000" b="0" i="0" dirty="0" err="1">
                <a:effectLst/>
                <a:latin typeface="Arial" panose="020B0604020202020204" pitchFamily="34" charset="0"/>
              </a:rPr>
              <a:t>Zhan,g</a:t>
            </a:r>
            <a:r>
              <a:rPr lang="pt-BR" sz="1000" b="0" i="0" dirty="0">
                <a:effectLst/>
                <a:latin typeface="Arial" panose="020B0604020202020204" pitchFamily="34" charset="0"/>
              </a:rPr>
              <a:t>, C. (2022) HTAP </a:t>
            </a:r>
            <a:r>
              <a:rPr lang="pt-BR" sz="1000" b="0" i="0" dirty="0" err="1">
                <a:effectLst/>
                <a:latin typeface="Arial" panose="020B0604020202020204" pitchFamily="34" charset="0"/>
              </a:rPr>
              <a:t>Databases</a:t>
            </a:r>
            <a:r>
              <a:rPr lang="pt-BR" sz="1000" b="0" i="0" dirty="0">
                <a:effectLst/>
                <a:latin typeface="Arial" panose="020B0604020202020204" pitchFamily="34" charset="0"/>
              </a:rPr>
              <a:t>: A Tutorial. SIGMOD 2022</a:t>
            </a:r>
            <a:endParaRPr 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1588190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2E996E-1CFF-F373-A70F-72B7F7F08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Extra IMDB:  </a:t>
            </a:r>
            <a:r>
              <a:rPr lang="en-US" b="1" dirty="0" err="1"/>
              <a:t>VoltDB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2C655C-28D6-615F-4E02-78C783E1E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É </a:t>
            </a:r>
            <a:r>
              <a:rPr lang="en-US" b="1" dirty="0" err="1"/>
              <a:t>uma</a:t>
            </a:r>
            <a:r>
              <a:rPr lang="en-US" b="1" dirty="0"/>
              <a:t> </a:t>
            </a:r>
            <a:r>
              <a:rPr lang="en-US" b="1" dirty="0" err="1"/>
              <a:t>evolução</a:t>
            </a:r>
            <a:r>
              <a:rPr lang="en-US" b="1" dirty="0"/>
              <a:t> do C-Store e H-Store (</a:t>
            </a:r>
            <a:r>
              <a:rPr lang="en-US" b="1" dirty="0" err="1"/>
              <a:t>Stonebraker</a:t>
            </a:r>
            <a:r>
              <a:rPr lang="en-US" b="1" dirty="0"/>
              <a:t>)</a:t>
            </a:r>
          </a:p>
          <a:p>
            <a:r>
              <a:rPr lang="en-US" dirty="0"/>
              <a:t>NewSQL com </a:t>
            </a:r>
            <a:r>
              <a:rPr lang="en-US" dirty="0" err="1"/>
              <a:t>armazenamento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memória</a:t>
            </a:r>
            <a:r>
              <a:rPr lang="en-US" dirty="0"/>
              <a:t> principal</a:t>
            </a:r>
          </a:p>
          <a:p>
            <a:r>
              <a:rPr lang="en-US" dirty="0" err="1"/>
              <a:t>Construído</a:t>
            </a:r>
            <a:r>
              <a:rPr lang="en-US" dirty="0"/>
              <a:t> para </a:t>
            </a:r>
            <a:r>
              <a:rPr lang="en-US" dirty="0" err="1"/>
              <a:t>ter</a:t>
            </a:r>
            <a:r>
              <a:rPr lang="en-US" dirty="0"/>
              <a:t> </a:t>
            </a:r>
            <a:r>
              <a:rPr lang="en-US" dirty="0" err="1"/>
              <a:t>escalabilidade</a:t>
            </a:r>
            <a:r>
              <a:rPr lang="en-US" dirty="0"/>
              <a:t> horizontal</a:t>
            </a:r>
          </a:p>
          <a:p>
            <a:r>
              <a:rPr lang="en-US" dirty="0"/>
              <a:t>Toda Tx  é Single thread, </a:t>
            </a:r>
            <a:r>
              <a:rPr lang="en-US" dirty="0" err="1"/>
              <a:t>executa</a:t>
            </a:r>
            <a:r>
              <a:rPr lang="en-US" dirty="0"/>
              <a:t> Tx </a:t>
            </a:r>
            <a:r>
              <a:rPr lang="en-US" dirty="0" err="1"/>
              <a:t>até</a:t>
            </a:r>
            <a:r>
              <a:rPr lang="en-US" dirty="0"/>
              <a:t> </a:t>
            </a:r>
            <a:r>
              <a:rPr lang="en-US" dirty="0" err="1"/>
              <a:t>finalizar</a:t>
            </a:r>
            <a:endParaRPr lang="en-US" dirty="0"/>
          </a:p>
          <a:p>
            <a:pPr lvl="1"/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faz</a:t>
            </a:r>
            <a:r>
              <a:rPr lang="en-US" dirty="0"/>
              <a:t> locking</a:t>
            </a:r>
          </a:p>
          <a:p>
            <a:pPr lvl="1"/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faz</a:t>
            </a:r>
            <a:r>
              <a:rPr lang="en-US" dirty="0"/>
              <a:t> latching</a:t>
            </a:r>
          </a:p>
          <a:p>
            <a:r>
              <a:rPr lang="en-US" dirty="0"/>
              <a:t>Evita o overhead SGBD </a:t>
            </a:r>
            <a:r>
              <a:rPr lang="en-US" dirty="0" err="1"/>
              <a:t>tradicionais</a:t>
            </a:r>
            <a:endParaRPr lang="en-US" dirty="0"/>
          </a:p>
          <a:p>
            <a:pPr lvl="1"/>
            <a:r>
              <a:rPr lang="en-US" dirty="0" err="1"/>
              <a:t>Implementa</a:t>
            </a:r>
            <a:r>
              <a:rPr lang="en-US" dirty="0"/>
              <a:t> o </a:t>
            </a:r>
            <a:r>
              <a:rPr lang="en-US" dirty="0" err="1"/>
              <a:t>mecanismo</a:t>
            </a:r>
            <a:r>
              <a:rPr lang="en-US" dirty="0"/>
              <a:t> de K-safety para </a:t>
            </a:r>
            <a:r>
              <a:rPr lang="en-US" dirty="0" err="1"/>
              <a:t>tolerância</a:t>
            </a:r>
            <a:r>
              <a:rPr lang="en-US" dirty="0"/>
              <a:t> a </a:t>
            </a:r>
            <a:r>
              <a:rPr lang="en-US" dirty="0" err="1"/>
              <a:t>falhas</a:t>
            </a:r>
            <a:r>
              <a:rPr lang="en-US" dirty="0"/>
              <a:t> (</a:t>
            </a:r>
            <a:r>
              <a:rPr lang="en-US" dirty="0" err="1"/>
              <a:t>replicação</a:t>
            </a:r>
            <a:r>
              <a:rPr lang="en-US" dirty="0"/>
              <a:t> </a:t>
            </a:r>
            <a:r>
              <a:rPr lang="en-US" dirty="0" err="1"/>
              <a:t>síncrona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faz</a:t>
            </a:r>
            <a:r>
              <a:rPr lang="en-US" dirty="0"/>
              <a:t>  logging </a:t>
            </a:r>
          </a:p>
          <a:p>
            <a:pPr lvl="1"/>
            <a:r>
              <a:rPr lang="en-US" dirty="0" err="1"/>
              <a:t>Todas</a:t>
            </a:r>
            <a:r>
              <a:rPr lang="en-US" dirty="0"/>
              <a:t> as </a:t>
            </a:r>
            <a:r>
              <a:rPr lang="en-US" dirty="0" err="1"/>
              <a:t>operações</a:t>
            </a:r>
            <a:r>
              <a:rPr lang="en-US" dirty="0"/>
              <a:t> e </a:t>
            </a:r>
            <a:r>
              <a:rPr lang="en-US" dirty="0" err="1"/>
              <a:t>transações</a:t>
            </a:r>
            <a:r>
              <a:rPr lang="en-US" dirty="0"/>
              <a:t> </a:t>
            </a:r>
            <a:r>
              <a:rPr lang="en-US" dirty="0" err="1"/>
              <a:t>ocorrem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RAM para throughput </a:t>
            </a:r>
            <a:r>
              <a:rPr lang="en-US" dirty="0" err="1"/>
              <a:t>máximo</a:t>
            </a:r>
            <a:endParaRPr lang="en-US" dirty="0"/>
          </a:p>
          <a:p>
            <a:pPr lvl="1"/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faz</a:t>
            </a:r>
            <a:r>
              <a:rPr lang="en-US" dirty="0"/>
              <a:t> </a:t>
            </a:r>
            <a:r>
              <a:rPr lang="en-US" dirty="0" err="1"/>
              <a:t>gestão</a:t>
            </a:r>
            <a:r>
              <a:rPr lang="en-US" dirty="0"/>
              <a:t> de buffers</a:t>
            </a:r>
          </a:p>
        </p:txBody>
      </p:sp>
    </p:spTree>
    <p:extLst>
      <p:ext uri="{BB962C8B-B14F-4D97-AF65-F5344CB8AC3E}">
        <p14:creationId xmlns:p14="http://schemas.microsoft.com/office/powerpoint/2010/main" val="2696332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C95BF1-BE4A-A693-55C6-58F2C2BC7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Extra IMDB:  </a:t>
            </a:r>
            <a:r>
              <a:rPr lang="en-US" b="1" dirty="0" err="1"/>
              <a:t>VoltDB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C263F5-E8F5-F2B8-5442-59DD3DEE3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Uma </a:t>
            </a:r>
            <a:r>
              <a:rPr lang="en-US" dirty="0" err="1"/>
              <a:t>partitição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CPU core </a:t>
            </a:r>
          </a:p>
          <a:p>
            <a:pPr lvl="1"/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servidor</a:t>
            </a:r>
            <a:r>
              <a:rPr lang="en-US" dirty="0"/>
              <a:t>  </a:t>
            </a:r>
            <a:r>
              <a:rPr lang="en-US" dirty="0" err="1"/>
              <a:t>pode</a:t>
            </a:r>
            <a:r>
              <a:rPr lang="en-US" dirty="0"/>
              <a:t> </a:t>
            </a:r>
            <a:r>
              <a:rPr lang="en-US" dirty="0" err="1"/>
              <a:t>ter</a:t>
            </a:r>
            <a:r>
              <a:rPr lang="en-US" dirty="0"/>
              <a:t> </a:t>
            </a:r>
            <a:r>
              <a:rPr lang="en-US" dirty="0" err="1"/>
              <a:t>múltiplas</a:t>
            </a:r>
            <a:r>
              <a:rPr lang="en-US" dirty="0"/>
              <a:t> </a:t>
            </a:r>
            <a:r>
              <a:rPr lang="en-US" dirty="0" err="1"/>
              <a:t>partições</a:t>
            </a:r>
            <a:r>
              <a:rPr lang="en-US" dirty="0"/>
              <a:t> de  </a:t>
            </a:r>
            <a:r>
              <a:rPr lang="en-US" dirty="0" err="1"/>
              <a:t>VoltDB</a:t>
            </a:r>
            <a:endParaRPr lang="en-US" dirty="0"/>
          </a:p>
          <a:p>
            <a:r>
              <a:rPr lang="en-US" dirty="0" err="1"/>
              <a:t>Existem</a:t>
            </a:r>
            <a:r>
              <a:rPr lang="en-US" dirty="0"/>
              <a:t> </a:t>
            </a:r>
            <a:r>
              <a:rPr lang="en-US" dirty="0" err="1"/>
              <a:t>dois</a:t>
            </a:r>
            <a:r>
              <a:rPr lang="en-US" dirty="0"/>
              <a:t> </a:t>
            </a:r>
            <a:r>
              <a:rPr lang="en-US" dirty="0" err="1"/>
              <a:t>tipos</a:t>
            </a:r>
            <a:r>
              <a:rPr lang="en-US" dirty="0"/>
              <a:t> de Dados </a:t>
            </a:r>
          </a:p>
          <a:p>
            <a:pPr lvl="1"/>
            <a:r>
              <a:rPr lang="en-US" b="1" dirty="0" err="1"/>
              <a:t>Particionados</a:t>
            </a:r>
            <a:r>
              <a:rPr lang="en-US" dirty="0"/>
              <a:t> </a:t>
            </a:r>
          </a:p>
          <a:p>
            <a:pPr lvl="2"/>
            <a:r>
              <a:rPr lang="en-US" dirty="0" err="1"/>
              <a:t>Colunas</a:t>
            </a:r>
            <a:r>
              <a:rPr lang="en-US" dirty="0"/>
              <a:t> simples </a:t>
            </a:r>
            <a:r>
              <a:rPr lang="en-US" dirty="0" err="1"/>
              <a:t>atuam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chaves</a:t>
            </a:r>
            <a:r>
              <a:rPr lang="en-US" dirty="0"/>
              <a:t> no </a:t>
            </a:r>
            <a:r>
              <a:rPr lang="en-US" dirty="0" err="1"/>
              <a:t>particionamento</a:t>
            </a:r>
            <a:r>
              <a:rPr lang="en-US" dirty="0"/>
              <a:t> </a:t>
            </a:r>
          </a:p>
          <a:p>
            <a:pPr lvl="2"/>
            <a:r>
              <a:rPr lang="en-US" dirty="0" err="1"/>
              <a:t>Linhas</a:t>
            </a:r>
            <a:r>
              <a:rPr lang="en-US" dirty="0"/>
              <a:t> </a:t>
            </a:r>
            <a:r>
              <a:rPr lang="en-US" dirty="0" err="1"/>
              <a:t>estão</a:t>
            </a:r>
            <a:r>
              <a:rPr lang="en-US" dirty="0"/>
              <a:t> </a:t>
            </a:r>
            <a:r>
              <a:rPr lang="en-US" dirty="0" err="1"/>
              <a:t>dispersas</a:t>
            </a:r>
            <a:r>
              <a:rPr lang="en-US" dirty="0"/>
              <a:t> </a:t>
            </a:r>
            <a:r>
              <a:rPr lang="en-US" dirty="0" err="1"/>
              <a:t>nas</a:t>
            </a:r>
            <a:r>
              <a:rPr lang="en-US" dirty="0"/>
              <a:t> </a:t>
            </a:r>
            <a:r>
              <a:rPr lang="en-US" dirty="0" err="1"/>
              <a:t>instâncias</a:t>
            </a:r>
            <a:r>
              <a:rPr lang="en-US" dirty="0"/>
              <a:t> do </a:t>
            </a:r>
            <a:r>
              <a:rPr lang="en-US" dirty="0" err="1"/>
              <a:t>VoLtDB</a:t>
            </a:r>
            <a:r>
              <a:rPr lang="en-US" dirty="0"/>
              <a:t> </a:t>
            </a:r>
            <a:r>
              <a:rPr lang="en-US" dirty="0" err="1"/>
              <a:t>através</a:t>
            </a:r>
            <a:r>
              <a:rPr lang="en-US" dirty="0"/>
              <a:t> de </a:t>
            </a:r>
            <a:r>
              <a:rPr lang="en-US" dirty="0" err="1"/>
              <a:t>colunas</a:t>
            </a:r>
            <a:r>
              <a:rPr lang="en-US" dirty="0"/>
              <a:t> </a:t>
            </a:r>
            <a:r>
              <a:rPr lang="en-US" dirty="0" err="1"/>
              <a:t>particionadas</a:t>
            </a:r>
            <a:endParaRPr lang="en-US" dirty="0"/>
          </a:p>
          <a:p>
            <a:pPr lvl="2"/>
            <a:r>
              <a:rPr lang="en-US" dirty="0"/>
              <a:t>São dados </a:t>
            </a:r>
            <a:r>
              <a:rPr lang="en-US" dirty="0" err="1"/>
              <a:t>transacionais</a:t>
            </a:r>
            <a:r>
              <a:rPr lang="en-US" dirty="0"/>
              <a:t>  (hot data </a:t>
            </a:r>
            <a:r>
              <a:rPr lang="en-US" dirty="0" err="1"/>
              <a:t>ou</a:t>
            </a:r>
            <a:r>
              <a:rPr lang="en-US" dirty="0"/>
              <a:t> dados para OLPT) </a:t>
            </a:r>
          </a:p>
          <a:p>
            <a:pPr lvl="1"/>
            <a:r>
              <a:rPr lang="en-US" b="1" dirty="0" err="1"/>
              <a:t>Replicados</a:t>
            </a:r>
            <a:r>
              <a:rPr lang="en-US" dirty="0"/>
              <a:t> </a:t>
            </a:r>
          </a:p>
          <a:p>
            <a:pPr lvl="2"/>
            <a:r>
              <a:rPr lang="en-US" dirty="0" err="1"/>
              <a:t>Todas</a:t>
            </a:r>
            <a:r>
              <a:rPr lang="en-US" dirty="0"/>
              <a:t> as </a:t>
            </a:r>
            <a:r>
              <a:rPr lang="en-US" dirty="0" err="1"/>
              <a:t>linhas</a:t>
            </a:r>
            <a:r>
              <a:rPr lang="en-US" dirty="0"/>
              <a:t> </a:t>
            </a:r>
            <a:r>
              <a:rPr lang="en-US" dirty="0" err="1"/>
              <a:t>existem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todas</a:t>
            </a:r>
            <a:r>
              <a:rPr lang="en-US" dirty="0"/>
              <a:t> as </a:t>
            </a:r>
            <a:r>
              <a:rPr lang="en-US" dirty="0" err="1"/>
              <a:t>pártiçoes</a:t>
            </a:r>
            <a:r>
              <a:rPr lang="en-US" dirty="0"/>
              <a:t> do </a:t>
            </a:r>
            <a:r>
              <a:rPr lang="en-US" dirty="0" err="1"/>
              <a:t>VoltDB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São dados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estáticos</a:t>
            </a:r>
            <a:r>
              <a:rPr lang="en-US" dirty="0"/>
              <a:t> (</a:t>
            </a:r>
            <a:r>
              <a:rPr lang="en-US" dirty="0" err="1"/>
              <a:t>colda</a:t>
            </a:r>
            <a:r>
              <a:rPr lang="en-US" dirty="0"/>
              <a:t> data </a:t>
            </a:r>
            <a:r>
              <a:rPr lang="en-US" dirty="0" err="1"/>
              <a:t>ou</a:t>
            </a:r>
            <a:r>
              <a:rPr lang="en-US" dirty="0"/>
              <a:t> dados para  OLAP)</a:t>
            </a:r>
          </a:p>
        </p:txBody>
      </p:sp>
    </p:spTree>
    <p:extLst>
      <p:ext uri="{BB962C8B-B14F-4D97-AF65-F5344CB8AC3E}">
        <p14:creationId xmlns:p14="http://schemas.microsoft.com/office/powerpoint/2010/main" val="24351929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6432FF-FCAA-9D9E-88C6-4613E5E11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Extra IMDB:  </a:t>
            </a:r>
            <a:r>
              <a:rPr lang="en-US" b="1" dirty="0" err="1"/>
              <a:t>VoltDB</a:t>
            </a:r>
            <a:r>
              <a:rPr lang="en-US" dirty="0"/>
              <a:t> </a:t>
            </a:r>
          </a:p>
        </p:txBody>
      </p:sp>
      <p:pic>
        <p:nvPicPr>
          <p:cNvPr id="1026" name="Picture 2" descr="Partitioning Tables">
            <a:extLst>
              <a:ext uri="{FF2B5EF4-FFF2-40B4-BE49-F238E27FC236}">
                <a16:creationId xmlns:a16="http://schemas.microsoft.com/office/drawing/2014/main" id="{7E99FA7E-1F0A-99D5-2941-4B0E31BCB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41" y="1366344"/>
            <a:ext cx="6107729" cy="34237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erialized Processing">
            <a:extLst>
              <a:ext uri="{FF2B5EF4-FFF2-40B4-BE49-F238E27FC236}">
                <a16:creationId xmlns:a16="http://schemas.microsoft.com/office/drawing/2014/main" id="{CE0A7B90-F4F7-9F9D-2655-39AA5F6C6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411" y="3276432"/>
            <a:ext cx="5792130" cy="30273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9A243D7-1E70-6581-0D81-AD30448D77A9}"/>
              </a:ext>
            </a:extLst>
          </p:cNvPr>
          <p:cNvSpPr txBox="1"/>
          <p:nvPr/>
        </p:nvSpPr>
        <p:spPr>
          <a:xfrm>
            <a:off x="6731411" y="6408793"/>
            <a:ext cx="420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333333"/>
                </a:solidFill>
                <a:effectLst/>
                <a:latin typeface="Helvetica Neue"/>
              </a:rPr>
              <a:t>Processamento de TX é serializado</a:t>
            </a:r>
            <a:endParaRPr lang="en-US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08D50BB-97F8-4B11-149E-5FB5D238102F}"/>
              </a:ext>
            </a:extLst>
          </p:cNvPr>
          <p:cNvSpPr txBox="1"/>
          <p:nvPr/>
        </p:nvSpPr>
        <p:spPr>
          <a:xfrm>
            <a:off x="976996" y="4932040"/>
            <a:ext cx="3290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333333"/>
                </a:solidFill>
                <a:effectLst/>
                <a:latin typeface="Helvetica Neue"/>
              </a:rPr>
              <a:t>Particionamento de dados</a:t>
            </a:r>
            <a:endParaRPr lang="en-US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3B968AC-096F-D436-AC39-DA2D62619460}"/>
              </a:ext>
            </a:extLst>
          </p:cNvPr>
          <p:cNvSpPr txBox="1"/>
          <p:nvPr/>
        </p:nvSpPr>
        <p:spPr>
          <a:xfrm>
            <a:off x="187647" y="6492875"/>
            <a:ext cx="392189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FONTE: https://docs.voltdb.com/UsingVoltDB/IntroHowVoltDBWorks.php</a:t>
            </a:r>
          </a:p>
        </p:txBody>
      </p:sp>
    </p:spTree>
    <p:extLst>
      <p:ext uri="{BB962C8B-B14F-4D97-AF65-F5344CB8AC3E}">
        <p14:creationId xmlns:p14="http://schemas.microsoft.com/office/powerpoint/2010/main" val="22877662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E642E0-2115-1035-682A-1FB5321CA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Extra IMDB:  </a:t>
            </a:r>
            <a:r>
              <a:rPr lang="en-US" b="1" dirty="0" err="1"/>
              <a:t>VoltDB</a:t>
            </a:r>
            <a:r>
              <a:rPr lang="en-US" b="1" dirty="0"/>
              <a:t> (logging)</a:t>
            </a:r>
            <a:r>
              <a:rPr lang="en-US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86A176-D7B8-AC85-D39E-C25FD8DE9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41DD78F-C4C6-A08F-3654-EDD53DC6D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288" y="1690688"/>
            <a:ext cx="10387503" cy="410730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4076EA4-C5AD-7C77-CBD9-35D965D84B6C}"/>
              </a:ext>
            </a:extLst>
          </p:cNvPr>
          <p:cNvSpPr txBox="1"/>
          <p:nvPr/>
        </p:nvSpPr>
        <p:spPr>
          <a:xfrm>
            <a:off x="187647" y="6492875"/>
            <a:ext cx="392189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FONTE: https://docs.voltdb.com/UsingVoltDB/IntroHowVoltDBWorks.php</a:t>
            </a:r>
          </a:p>
        </p:txBody>
      </p:sp>
    </p:spTree>
    <p:extLst>
      <p:ext uri="{BB962C8B-B14F-4D97-AF65-F5344CB8AC3E}">
        <p14:creationId xmlns:p14="http://schemas.microsoft.com/office/powerpoint/2010/main" val="2682058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987DA-6B16-44A2-C754-57C258051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Extra IMDB:  </a:t>
            </a:r>
            <a:r>
              <a:rPr lang="en-US" b="1" dirty="0" err="1"/>
              <a:t>VoltDB</a:t>
            </a:r>
            <a:r>
              <a:rPr lang="en-US" b="1" dirty="0"/>
              <a:t> (</a:t>
            </a:r>
            <a:r>
              <a:rPr lang="en-US" b="1" dirty="0" err="1"/>
              <a:t>Recuperação</a:t>
            </a:r>
            <a:r>
              <a:rPr lang="en-US" b="1" dirty="0"/>
              <a:t> de </a:t>
            </a:r>
            <a:r>
              <a:rPr lang="en-US" b="1" dirty="0" err="1"/>
              <a:t>desastres</a:t>
            </a:r>
            <a:r>
              <a:rPr lang="en-US" b="1" dirty="0"/>
              <a:t>)</a:t>
            </a:r>
            <a:r>
              <a:rPr lang="en-US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BC811C-AAF9-FA71-80D4-77894CBB3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5305B95-9883-801F-9F54-F85BF9112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827" y="1934082"/>
            <a:ext cx="10144988" cy="4242881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EB525B5-AC22-8DB8-DA8E-8AA02DAABE37}"/>
              </a:ext>
            </a:extLst>
          </p:cNvPr>
          <p:cNvSpPr txBox="1"/>
          <p:nvPr/>
        </p:nvSpPr>
        <p:spPr>
          <a:xfrm>
            <a:off x="187647" y="6492875"/>
            <a:ext cx="392189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FONTE: https://docs.voltdb.com/UsingVoltDB/IntroHowVoltDBWorks.php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4B047A6-E2EE-8F88-4F81-E914C455DF60}"/>
              </a:ext>
            </a:extLst>
          </p:cNvPr>
          <p:cNvSpPr txBox="1"/>
          <p:nvPr/>
        </p:nvSpPr>
        <p:spPr>
          <a:xfrm>
            <a:off x="4939645" y="6077376"/>
            <a:ext cx="91416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Leitura</a:t>
            </a:r>
            <a:r>
              <a:rPr lang="en-US" b="1" dirty="0"/>
              <a:t> </a:t>
            </a:r>
            <a:r>
              <a:rPr lang="en-US" b="1" dirty="0" err="1"/>
              <a:t>complementar</a:t>
            </a:r>
            <a:r>
              <a:rPr lang="en-US" b="1" dirty="0"/>
              <a:t> https://downloads.voltdb.com/datasheets_collateral/technical_overview.pdf</a:t>
            </a:r>
          </a:p>
        </p:txBody>
      </p:sp>
    </p:spTree>
    <p:extLst>
      <p:ext uri="{BB962C8B-B14F-4D97-AF65-F5344CB8AC3E}">
        <p14:creationId xmlns:p14="http://schemas.microsoft.com/office/powerpoint/2010/main" val="11574019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BB9EC0-3B1A-D305-C998-C72CB5FEE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Technology Landscape">
            <a:extLst>
              <a:ext uri="{FF2B5EF4-FFF2-40B4-BE49-F238E27FC236}">
                <a16:creationId xmlns:a16="http://schemas.microsoft.com/office/drawing/2014/main" id="{321FA6AC-A933-A00A-7811-D41C7C1D4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9214" y="0"/>
            <a:ext cx="9661963" cy="68336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6039823E-DF0C-565A-32F3-718A0FD06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Extra: </a:t>
            </a:r>
          </a:p>
        </p:txBody>
      </p:sp>
    </p:spTree>
    <p:extLst>
      <p:ext uri="{BB962C8B-B14F-4D97-AF65-F5344CB8AC3E}">
        <p14:creationId xmlns:p14="http://schemas.microsoft.com/office/powerpoint/2010/main" val="35615872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29416</TotalTime>
  <Words>4707</Words>
  <Application>Microsoft Office PowerPoint</Application>
  <PresentationFormat>Widescreen</PresentationFormat>
  <Paragraphs>659</Paragraphs>
  <Slides>53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53</vt:i4>
      </vt:variant>
    </vt:vector>
  </HeadingPairs>
  <TitlesOfParts>
    <vt:vector size="62" baseType="lpstr">
      <vt:lpstr>-apple-system</vt:lpstr>
      <vt:lpstr>Arial</vt:lpstr>
      <vt:lpstr>ArialMT</vt:lpstr>
      <vt:lpstr>Calibri</vt:lpstr>
      <vt:lpstr>Calibri Light</vt:lpstr>
      <vt:lpstr>Helvetica Neue</vt:lpstr>
      <vt:lpstr>Roboto</vt:lpstr>
      <vt:lpstr>Wingdings</vt:lpstr>
      <vt:lpstr>Tema do Office</vt:lpstr>
      <vt:lpstr>Bancos de dados NewSQL e em Memória</vt:lpstr>
      <vt:lpstr>Objetivos da aula</vt:lpstr>
      <vt:lpstr>Referências Bibliográficas da Aula</vt:lpstr>
      <vt:lpstr>Conteúdos da aula</vt:lpstr>
      <vt:lpstr>Motivação</vt:lpstr>
      <vt:lpstr>Motivação</vt:lpstr>
      <vt:lpstr>Revisão…</vt:lpstr>
      <vt:lpstr>NewSQL = SQL + NoSQL ! </vt:lpstr>
      <vt:lpstr>Principais técnicas de BD presentes nos sistemas NewSQL</vt:lpstr>
      <vt:lpstr>OLTP x OLAP – Arquiteturas Tradicionais</vt:lpstr>
      <vt:lpstr>HTAP (hybrid transactional and analytical processing) = OLTP + OLAP</vt:lpstr>
      <vt:lpstr>HTAP = OLTP + OLAP</vt:lpstr>
      <vt:lpstr>Arquitetura conceitual do NewSQL</vt:lpstr>
      <vt:lpstr>Polystores (Stonebraker*)</vt:lpstr>
      <vt:lpstr>Exemplo de subconsultas em Polystores</vt:lpstr>
      <vt:lpstr>Taxonomia de Sistemas NewSQL</vt:lpstr>
      <vt:lpstr>Dimensão: Modelo de Suporte à Transação </vt:lpstr>
      <vt:lpstr>Dimensão: Escalabilidade</vt:lpstr>
      <vt:lpstr>Dimensão: Armazenamento</vt:lpstr>
      <vt:lpstr>Dimensão: Paralelismo de consultas</vt:lpstr>
      <vt:lpstr>Quais são os novos “sabores” dos sistemas NewSQL?</vt:lpstr>
      <vt:lpstr>Resumo: Novos “sabores” de NewSQL</vt:lpstr>
      <vt:lpstr>Comparado os “sabores” de NewSQL</vt:lpstr>
      <vt:lpstr>Principais desafios e direções futuras - NewSQL</vt:lpstr>
      <vt:lpstr>Atividade Extra-Classe</vt:lpstr>
      <vt:lpstr>Leituras Complementares</vt:lpstr>
      <vt:lpstr>Motivação para Bancos de Dados em Memória (IMDB ou MMDB)</vt:lpstr>
      <vt:lpstr>In Memory DB</vt:lpstr>
      <vt:lpstr>Compração: BDRD x IMDB </vt:lpstr>
      <vt:lpstr>Prós e Contras dos IMDB</vt:lpstr>
      <vt:lpstr>Principais conceitos relativos aos IMDB</vt:lpstr>
      <vt:lpstr>Hot &amp; Cold Data</vt:lpstr>
      <vt:lpstr>Organização de Dados nos IMDB</vt:lpstr>
      <vt:lpstr>Particionamento de dados nos IMDB</vt:lpstr>
      <vt:lpstr>Indexação de dados nos IMDB</vt:lpstr>
      <vt:lpstr>Versionamento de dados nos IMDB</vt:lpstr>
      <vt:lpstr>Processamento de Consultas nos IMDB</vt:lpstr>
      <vt:lpstr>Controle de Concorrência nos IMDB</vt:lpstr>
      <vt:lpstr>Recuperação de falhas no IMDB</vt:lpstr>
      <vt:lpstr>Recuperação de falhas no IMDB</vt:lpstr>
      <vt:lpstr>Apresentação do PowerPoint</vt:lpstr>
      <vt:lpstr>Conclusões - IMDB</vt:lpstr>
      <vt:lpstr>Atividade Extra-Classe</vt:lpstr>
      <vt:lpstr>Leituras Complementares</vt:lpstr>
      <vt:lpstr>Extra NewSQL : Sistemas de compensação em banco de dados HTAP</vt:lpstr>
      <vt:lpstr>Extra NewSQL : Arquitetura de banco de dados HTAP (delta)</vt:lpstr>
      <vt:lpstr>Extra NewSQL : Arquitetura de banco de dados HTAP (fragmentação em vários nós)</vt:lpstr>
      <vt:lpstr>Extra IMDB:  VoltDB</vt:lpstr>
      <vt:lpstr>Extra IMDB:  VoltDB</vt:lpstr>
      <vt:lpstr>Extra IMDB:  VoltDB </vt:lpstr>
      <vt:lpstr>Extra IMDB:  VoltDB (logging) </vt:lpstr>
      <vt:lpstr>Extra IMDB:  VoltDB (Recuperação de desastres) </vt:lpstr>
      <vt:lpstr>Extra: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Assunto</dc:title>
  <dc:creator>Sergio Manuel Serra da Cruz PET</dc:creator>
  <cp:lastModifiedBy>Sergio Manuel Serra da Cruz PET</cp:lastModifiedBy>
  <cp:revision>302</cp:revision>
  <dcterms:created xsi:type="dcterms:W3CDTF">2023-12-22T09:43:07Z</dcterms:created>
  <dcterms:modified xsi:type="dcterms:W3CDTF">2026-04-07T12:01:17Z</dcterms:modified>
</cp:coreProperties>
</file>